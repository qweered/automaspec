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2204700" cy="6870700"/>
  <p:notesSz cx="12204700" cy="68707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57250" y="2129917"/>
            <a:ext cx="9715500" cy="14428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202020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14500" y="3847592"/>
            <a:ext cx="8001000" cy="1717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202020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0258425" cy="5770245"/>
          </a:xfrm>
          <a:custGeom>
            <a:avLst/>
            <a:gdLst/>
            <a:ahLst/>
            <a:cxnLst/>
            <a:rect l="l" t="t" r="r" b="b"/>
            <a:pathLst>
              <a:path w="10258425" h="5770245">
                <a:moveTo>
                  <a:pt x="10257844" y="5770037"/>
                </a:moveTo>
                <a:lnTo>
                  <a:pt x="0" y="5770037"/>
                </a:lnTo>
                <a:lnTo>
                  <a:pt x="0" y="0"/>
                </a:lnTo>
                <a:lnTo>
                  <a:pt x="10257844" y="0"/>
                </a:lnTo>
                <a:lnTo>
                  <a:pt x="10257844" y="577003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641115" y="480836"/>
            <a:ext cx="48260" cy="521334"/>
          </a:xfrm>
          <a:custGeom>
            <a:avLst/>
            <a:gdLst/>
            <a:ahLst/>
            <a:cxnLst/>
            <a:rect l="l" t="t" r="r" b="b"/>
            <a:pathLst>
              <a:path w="48259" h="521334">
                <a:moveTo>
                  <a:pt x="27229" y="520906"/>
                </a:moveTo>
                <a:lnTo>
                  <a:pt x="20853" y="520906"/>
                </a:lnTo>
                <a:lnTo>
                  <a:pt x="17786" y="520295"/>
                </a:lnTo>
                <a:lnTo>
                  <a:pt x="0" y="500052"/>
                </a:lnTo>
                <a:lnTo>
                  <a:pt x="0" y="496864"/>
                </a:lnTo>
                <a:lnTo>
                  <a:pt x="0" y="20853"/>
                </a:lnTo>
                <a:lnTo>
                  <a:pt x="20853" y="0"/>
                </a:lnTo>
                <a:lnTo>
                  <a:pt x="27229" y="0"/>
                </a:lnTo>
                <a:lnTo>
                  <a:pt x="48083" y="20853"/>
                </a:lnTo>
                <a:lnTo>
                  <a:pt x="48083" y="500052"/>
                </a:lnTo>
                <a:lnTo>
                  <a:pt x="30296" y="520295"/>
                </a:lnTo>
                <a:lnTo>
                  <a:pt x="27229" y="520906"/>
                </a:lnTo>
                <a:close/>
              </a:path>
            </a:pathLst>
          </a:custGeom>
          <a:solidFill>
            <a:srgbClr val="41A5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202020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71500" y="1580261"/>
            <a:ext cx="4972050" cy="45346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886450" y="1580261"/>
            <a:ext cx="4972050" cy="45346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202020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876799" cy="6857999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4876799" y="0"/>
            <a:ext cx="7315200" cy="6858000"/>
          </a:xfrm>
          <a:custGeom>
            <a:avLst/>
            <a:gdLst/>
            <a:ahLst/>
            <a:cxnLst/>
            <a:rect l="l" t="t" r="r" b="b"/>
            <a:pathLst>
              <a:path w="7315200" h="6858000">
                <a:moveTo>
                  <a:pt x="73151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7315199" y="0"/>
                </a:lnTo>
                <a:lnTo>
                  <a:pt x="7315199" y="68579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15827" y="1282700"/>
            <a:ext cx="5036185" cy="10407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202020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71500" y="1580261"/>
            <a:ext cx="10287000" cy="45346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886200" y="6389751"/>
            <a:ext cx="3657600" cy="3435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71500" y="6389751"/>
            <a:ext cx="2628900" cy="3435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229600" y="6389751"/>
            <a:ext cx="2628900" cy="3435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0.pn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10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10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10.pn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10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7.png"/><Relationship Id="rId3" Type="http://schemas.openxmlformats.org/officeDocument/2006/relationships/image" Target="../media/image10.pn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41.png"/><Relationship Id="rId6" Type="http://schemas.openxmlformats.org/officeDocument/2006/relationships/image" Target="../media/image42.pn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3.png"/><Relationship Id="rId3" Type="http://schemas.openxmlformats.org/officeDocument/2006/relationships/image" Target="../media/image44.png"/><Relationship Id="rId4" Type="http://schemas.openxmlformats.org/officeDocument/2006/relationships/image" Target="../media/image45.png"/><Relationship Id="rId5" Type="http://schemas.openxmlformats.org/officeDocument/2006/relationships/image" Target="../media/image46.png"/><Relationship Id="rId6" Type="http://schemas.openxmlformats.org/officeDocument/2006/relationships/image" Target="../media/image47.png"/><Relationship Id="rId7" Type="http://schemas.openxmlformats.org/officeDocument/2006/relationships/hyperlink" Target="mailto:roman@automaspec.dev" TargetMode="External"/><Relationship Id="rId8" Type="http://schemas.openxmlformats.org/officeDocument/2006/relationships/hyperlink" Target="mailto:aliaksandr@automaspec.dev" TargetMode="External"/><Relationship Id="rId9" Type="http://schemas.openxmlformats.org/officeDocument/2006/relationships/image" Target="../media/image10.pn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1412855" cy="6419850"/>
            <a:chOff x="0" y="0"/>
            <a:chExt cx="11412855" cy="64198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1412278" cy="641940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22789" y="575071"/>
              <a:ext cx="187232" cy="187232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1235517" y="540082"/>
            <a:ext cx="135699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150" b="1">
                <a:solidFill>
                  <a:srgbClr val="414141"/>
                </a:solidFill>
                <a:latin typeface="Trebuchet MS"/>
                <a:cs typeface="Trebuchet MS"/>
              </a:rPr>
              <a:t>AUTOMASPEC</a:t>
            </a:r>
            <a:endParaRPr sz="1400">
              <a:latin typeface="Trebuchet MS"/>
              <a:cs typeface="Trebuchet M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0"/>
            <a:ext cx="11421745" cy="6428740"/>
            <a:chOff x="0" y="0"/>
            <a:chExt cx="11421745" cy="6428740"/>
          </a:xfrm>
        </p:grpSpPr>
        <p:sp>
          <p:nvSpPr>
            <p:cNvPr id="7" name="object 7"/>
            <p:cNvSpPr/>
            <p:nvPr/>
          </p:nvSpPr>
          <p:spPr>
            <a:xfrm>
              <a:off x="891584" y="1961485"/>
              <a:ext cx="71755" cy="2496820"/>
            </a:xfrm>
            <a:custGeom>
              <a:avLst/>
              <a:gdLst/>
              <a:ahLst/>
              <a:cxnLst/>
              <a:rect l="l" t="t" r="r" b="b"/>
              <a:pathLst>
                <a:path w="71755" h="2496820">
                  <a:moveTo>
                    <a:pt x="40392" y="2496435"/>
                  </a:moveTo>
                  <a:lnTo>
                    <a:pt x="30934" y="2496435"/>
                  </a:lnTo>
                  <a:lnTo>
                    <a:pt x="26384" y="2495530"/>
                  </a:lnTo>
                  <a:lnTo>
                    <a:pt x="0" y="2465501"/>
                  </a:lnTo>
                  <a:lnTo>
                    <a:pt x="0" y="2460772"/>
                  </a:lnTo>
                  <a:lnTo>
                    <a:pt x="0" y="30934"/>
                  </a:lnTo>
                  <a:lnTo>
                    <a:pt x="26384" y="904"/>
                  </a:lnTo>
                  <a:lnTo>
                    <a:pt x="30934" y="0"/>
                  </a:lnTo>
                  <a:lnTo>
                    <a:pt x="40392" y="0"/>
                  </a:lnTo>
                  <a:lnTo>
                    <a:pt x="70421" y="26384"/>
                  </a:lnTo>
                  <a:lnTo>
                    <a:pt x="71326" y="30934"/>
                  </a:lnTo>
                  <a:lnTo>
                    <a:pt x="71326" y="2465501"/>
                  </a:lnTo>
                  <a:lnTo>
                    <a:pt x="44941" y="2495530"/>
                  </a:lnTo>
                  <a:lnTo>
                    <a:pt x="40392" y="2496435"/>
                  </a:lnTo>
                  <a:close/>
                </a:path>
              </a:pathLst>
            </a:custGeom>
            <a:solidFill>
              <a:srgbClr val="41A5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8291733" y="0"/>
              <a:ext cx="3121025" cy="2675255"/>
            </a:xfrm>
            <a:custGeom>
              <a:avLst/>
              <a:gdLst/>
              <a:ahLst/>
              <a:cxnLst/>
              <a:rect l="l" t="t" r="r" b="b"/>
              <a:pathLst>
                <a:path w="3121025" h="2675255">
                  <a:moveTo>
                    <a:pt x="1783168" y="2674752"/>
                  </a:moveTo>
                  <a:lnTo>
                    <a:pt x="1739406" y="2674215"/>
                  </a:lnTo>
                  <a:lnTo>
                    <a:pt x="1695670" y="2672604"/>
                  </a:lnTo>
                  <a:lnTo>
                    <a:pt x="1651989" y="2669921"/>
                  </a:lnTo>
                  <a:lnTo>
                    <a:pt x="1608387" y="2666166"/>
                  </a:lnTo>
                  <a:lnTo>
                    <a:pt x="1564888" y="2661342"/>
                  </a:lnTo>
                  <a:lnTo>
                    <a:pt x="1521522" y="2655452"/>
                  </a:lnTo>
                  <a:lnTo>
                    <a:pt x="1478313" y="2648499"/>
                  </a:lnTo>
                  <a:lnTo>
                    <a:pt x="1435289" y="2640489"/>
                  </a:lnTo>
                  <a:lnTo>
                    <a:pt x="1392473" y="2631425"/>
                  </a:lnTo>
                  <a:lnTo>
                    <a:pt x="1349892" y="2621312"/>
                  </a:lnTo>
                  <a:lnTo>
                    <a:pt x="1307574" y="2610158"/>
                  </a:lnTo>
                  <a:lnTo>
                    <a:pt x="1265541" y="2597969"/>
                  </a:lnTo>
                  <a:lnTo>
                    <a:pt x="1223819" y="2584752"/>
                  </a:lnTo>
                  <a:lnTo>
                    <a:pt x="1182435" y="2570515"/>
                  </a:lnTo>
                  <a:lnTo>
                    <a:pt x="1141413" y="2555267"/>
                  </a:lnTo>
                  <a:lnTo>
                    <a:pt x="1100777" y="2539016"/>
                  </a:lnTo>
                  <a:lnTo>
                    <a:pt x="1060552" y="2521773"/>
                  </a:lnTo>
                  <a:lnTo>
                    <a:pt x="1020762" y="2503549"/>
                  </a:lnTo>
                  <a:lnTo>
                    <a:pt x="981433" y="2484353"/>
                  </a:lnTo>
                  <a:lnTo>
                    <a:pt x="942586" y="2464198"/>
                  </a:lnTo>
                  <a:lnTo>
                    <a:pt x="904245" y="2443095"/>
                  </a:lnTo>
                  <a:lnTo>
                    <a:pt x="866434" y="2421058"/>
                  </a:lnTo>
                  <a:lnTo>
                    <a:pt x="829176" y="2398100"/>
                  </a:lnTo>
                  <a:lnTo>
                    <a:pt x="792491" y="2374234"/>
                  </a:lnTo>
                  <a:lnTo>
                    <a:pt x="756404" y="2349475"/>
                  </a:lnTo>
                  <a:lnTo>
                    <a:pt x="720934" y="2323838"/>
                  </a:lnTo>
                  <a:lnTo>
                    <a:pt x="686106" y="2297338"/>
                  </a:lnTo>
                  <a:lnTo>
                    <a:pt x="651938" y="2269991"/>
                  </a:lnTo>
                  <a:lnTo>
                    <a:pt x="618450" y="2241814"/>
                  </a:lnTo>
                  <a:lnTo>
                    <a:pt x="585665" y="2212824"/>
                  </a:lnTo>
                  <a:lnTo>
                    <a:pt x="553601" y="2183038"/>
                  </a:lnTo>
                  <a:lnTo>
                    <a:pt x="522277" y="2152474"/>
                  </a:lnTo>
                  <a:lnTo>
                    <a:pt x="491713" y="2121150"/>
                  </a:lnTo>
                  <a:lnTo>
                    <a:pt x="461927" y="2089086"/>
                  </a:lnTo>
                  <a:lnTo>
                    <a:pt x="432936" y="2056301"/>
                  </a:lnTo>
                  <a:lnTo>
                    <a:pt x="404760" y="2022814"/>
                  </a:lnTo>
                  <a:lnTo>
                    <a:pt x="377413" y="1988645"/>
                  </a:lnTo>
                  <a:lnTo>
                    <a:pt x="350913" y="1953816"/>
                  </a:lnTo>
                  <a:lnTo>
                    <a:pt x="325276" y="1918346"/>
                  </a:lnTo>
                  <a:lnTo>
                    <a:pt x="300517" y="1882259"/>
                  </a:lnTo>
                  <a:lnTo>
                    <a:pt x="276651" y="1845574"/>
                  </a:lnTo>
                  <a:lnTo>
                    <a:pt x="253693" y="1808315"/>
                  </a:lnTo>
                  <a:lnTo>
                    <a:pt x="231656" y="1770504"/>
                  </a:lnTo>
                  <a:lnTo>
                    <a:pt x="210554" y="1732163"/>
                  </a:lnTo>
                  <a:lnTo>
                    <a:pt x="190398" y="1693316"/>
                  </a:lnTo>
                  <a:lnTo>
                    <a:pt x="171202" y="1653986"/>
                  </a:lnTo>
                  <a:lnTo>
                    <a:pt x="152977" y="1614197"/>
                  </a:lnTo>
                  <a:lnTo>
                    <a:pt x="135734" y="1573973"/>
                  </a:lnTo>
                  <a:lnTo>
                    <a:pt x="119483" y="1533337"/>
                  </a:lnTo>
                  <a:lnTo>
                    <a:pt x="104236" y="1492315"/>
                  </a:lnTo>
                  <a:lnTo>
                    <a:pt x="89998" y="1450931"/>
                  </a:lnTo>
                  <a:lnTo>
                    <a:pt x="76782" y="1409210"/>
                  </a:lnTo>
                  <a:lnTo>
                    <a:pt x="64592" y="1367177"/>
                  </a:lnTo>
                  <a:lnTo>
                    <a:pt x="53438" y="1324858"/>
                  </a:lnTo>
                  <a:lnTo>
                    <a:pt x="43325" y="1282278"/>
                  </a:lnTo>
                  <a:lnTo>
                    <a:pt x="34262" y="1239462"/>
                  </a:lnTo>
                  <a:lnTo>
                    <a:pt x="26251" y="1196437"/>
                  </a:lnTo>
                  <a:lnTo>
                    <a:pt x="19298" y="1153229"/>
                  </a:lnTo>
                  <a:lnTo>
                    <a:pt x="13409" y="1109862"/>
                  </a:lnTo>
                  <a:lnTo>
                    <a:pt x="8586" y="1066365"/>
                  </a:lnTo>
                  <a:lnTo>
                    <a:pt x="4831" y="1022762"/>
                  </a:lnTo>
                  <a:lnTo>
                    <a:pt x="2147" y="979080"/>
                  </a:lnTo>
                  <a:lnTo>
                    <a:pt x="536" y="935345"/>
                  </a:lnTo>
                  <a:lnTo>
                    <a:pt x="0" y="891584"/>
                  </a:lnTo>
                  <a:lnTo>
                    <a:pt x="133" y="869700"/>
                  </a:lnTo>
                  <a:lnTo>
                    <a:pt x="1207" y="825952"/>
                  </a:lnTo>
                  <a:lnTo>
                    <a:pt x="3355" y="782237"/>
                  </a:lnTo>
                  <a:lnTo>
                    <a:pt x="6574" y="738594"/>
                  </a:lnTo>
                  <a:lnTo>
                    <a:pt x="10864" y="695037"/>
                  </a:lnTo>
                  <a:lnTo>
                    <a:pt x="16220" y="651605"/>
                  </a:lnTo>
                  <a:lnTo>
                    <a:pt x="22642" y="608311"/>
                  </a:lnTo>
                  <a:lnTo>
                    <a:pt x="30124" y="565194"/>
                  </a:lnTo>
                  <a:lnTo>
                    <a:pt x="38662" y="522268"/>
                  </a:lnTo>
                  <a:lnTo>
                    <a:pt x="48251" y="479570"/>
                  </a:lnTo>
                  <a:lnTo>
                    <a:pt x="58886" y="437114"/>
                  </a:lnTo>
                  <a:lnTo>
                    <a:pt x="70558" y="394938"/>
                  </a:lnTo>
                  <a:lnTo>
                    <a:pt x="83263" y="353055"/>
                  </a:lnTo>
                  <a:lnTo>
                    <a:pt x="96990" y="311502"/>
                  </a:lnTo>
                  <a:lnTo>
                    <a:pt x="111734" y="270293"/>
                  </a:lnTo>
                  <a:lnTo>
                    <a:pt x="127484" y="229464"/>
                  </a:lnTo>
                  <a:lnTo>
                    <a:pt x="144233" y="189028"/>
                  </a:lnTo>
                  <a:lnTo>
                    <a:pt x="161966" y="149021"/>
                  </a:lnTo>
                  <a:lnTo>
                    <a:pt x="180680" y="109456"/>
                  </a:lnTo>
                  <a:lnTo>
                    <a:pt x="200356" y="70367"/>
                  </a:lnTo>
                  <a:lnTo>
                    <a:pt x="220988" y="31767"/>
                  </a:lnTo>
                  <a:lnTo>
                    <a:pt x="238933" y="0"/>
                  </a:lnTo>
                  <a:lnTo>
                    <a:pt x="3120544" y="0"/>
                  </a:lnTo>
                  <a:lnTo>
                    <a:pt x="3120544" y="2071019"/>
                  </a:lnTo>
                  <a:lnTo>
                    <a:pt x="3119005" y="2072781"/>
                  </a:lnTo>
                  <a:lnTo>
                    <a:pt x="3089613" y="2105211"/>
                  </a:lnTo>
                  <a:lnTo>
                    <a:pt x="3059438" y="2136905"/>
                  </a:lnTo>
                  <a:lnTo>
                    <a:pt x="3028489" y="2167853"/>
                  </a:lnTo>
                  <a:lnTo>
                    <a:pt x="2996796" y="2198028"/>
                  </a:lnTo>
                  <a:lnTo>
                    <a:pt x="2964367" y="2227421"/>
                  </a:lnTo>
                  <a:lnTo>
                    <a:pt x="2931230" y="2256005"/>
                  </a:lnTo>
                  <a:lnTo>
                    <a:pt x="2897397" y="2283771"/>
                  </a:lnTo>
                  <a:lnTo>
                    <a:pt x="2862897" y="2310694"/>
                  </a:lnTo>
                  <a:lnTo>
                    <a:pt x="2827742" y="2336766"/>
                  </a:lnTo>
                  <a:lnTo>
                    <a:pt x="2791964" y="2361964"/>
                  </a:lnTo>
                  <a:lnTo>
                    <a:pt x="2755573" y="2386280"/>
                  </a:lnTo>
                  <a:lnTo>
                    <a:pt x="2718601" y="2409692"/>
                  </a:lnTo>
                  <a:lnTo>
                    <a:pt x="2681060" y="2432193"/>
                  </a:lnTo>
                  <a:lnTo>
                    <a:pt x="2642985" y="2453763"/>
                  </a:lnTo>
                  <a:lnTo>
                    <a:pt x="2604385" y="2474395"/>
                  </a:lnTo>
                  <a:lnTo>
                    <a:pt x="2565297" y="2494071"/>
                  </a:lnTo>
                  <a:lnTo>
                    <a:pt x="2525731" y="2512784"/>
                  </a:lnTo>
                  <a:lnTo>
                    <a:pt x="2485724" y="2530518"/>
                  </a:lnTo>
                  <a:lnTo>
                    <a:pt x="2445288" y="2547267"/>
                  </a:lnTo>
                  <a:lnTo>
                    <a:pt x="2404459" y="2563016"/>
                  </a:lnTo>
                  <a:lnTo>
                    <a:pt x="2363250" y="2577761"/>
                  </a:lnTo>
                  <a:lnTo>
                    <a:pt x="2321698" y="2591488"/>
                  </a:lnTo>
                  <a:lnTo>
                    <a:pt x="2279814" y="2604193"/>
                  </a:lnTo>
                  <a:lnTo>
                    <a:pt x="2237638" y="2615865"/>
                  </a:lnTo>
                  <a:lnTo>
                    <a:pt x="2195182" y="2626499"/>
                  </a:lnTo>
                  <a:lnTo>
                    <a:pt x="2152484" y="2636088"/>
                  </a:lnTo>
                  <a:lnTo>
                    <a:pt x="2109558" y="2644626"/>
                  </a:lnTo>
                  <a:lnTo>
                    <a:pt x="2066441" y="2652108"/>
                  </a:lnTo>
                  <a:lnTo>
                    <a:pt x="2023147" y="2658530"/>
                  </a:lnTo>
                  <a:lnTo>
                    <a:pt x="1979714" y="2663887"/>
                  </a:lnTo>
                  <a:lnTo>
                    <a:pt x="1936157" y="2668177"/>
                  </a:lnTo>
                  <a:lnTo>
                    <a:pt x="1892515" y="2671396"/>
                  </a:lnTo>
                  <a:lnTo>
                    <a:pt x="1848800" y="2673544"/>
                  </a:lnTo>
                  <a:lnTo>
                    <a:pt x="1805052" y="2674618"/>
                  </a:lnTo>
                  <a:lnTo>
                    <a:pt x="1783168" y="2674752"/>
                  </a:lnTo>
                  <a:close/>
                </a:path>
              </a:pathLst>
            </a:custGeom>
            <a:solidFill>
              <a:srgbClr val="E3F1FD">
                <a:alpha val="5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0" y="4636237"/>
              <a:ext cx="1783714" cy="1783714"/>
            </a:xfrm>
            <a:custGeom>
              <a:avLst/>
              <a:gdLst/>
              <a:ahLst/>
              <a:cxnLst/>
              <a:rect l="l" t="t" r="r" b="b"/>
              <a:pathLst>
                <a:path w="1783714" h="1783714">
                  <a:moveTo>
                    <a:pt x="1560245" y="1783168"/>
                  </a:moveTo>
                  <a:lnTo>
                    <a:pt x="0" y="1783168"/>
                  </a:lnTo>
                  <a:lnTo>
                    <a:pt x="0" y="222921"/>
                  </a:lnTo>
                  <a:lnTo>
                    <a:pt x="38190" y="195491"/>
                  </a:lnTo>
                  <a:lnTo>
                    <a:pt x="72443" y="172906"/>
                  </a:lnTo>
                  <a:lnTo>
                    <a:pt x="107505" y="151598"/>
                  </a:lnTo>
                  <a:lnTo>
                    <a:pt x="143325" y="131596"/>
                  </a:lnTo>
                  <a:lnTo>
                    <a:pt x="179858" y="112925"/>
                  </a:lnTo>
                  <a:lnTo>
                    <a:pt x="217054" y="95610"/>
                  </a:lnTo>
                  <a:lnTo>
                    <a:pt x="254863" y="79677"/>
                  </a:lnTo>
                  <a:lnTo>
                    <a:pt x="293231" y="65147"/>
                  </a:lnTo>
                  <a:lnTo>
                    <a:pt x="332107" y="52040"/>
                  </a:lnTo>
                  <a:lnTo>
                    <a:pt x="371442" y="40371"/>
                  </a:lnTo>
                  <a:lnTo>
                    <a:pt x="411179" y="30157"/>
                  </a:lnTo>
                  <a:lnTo>
                    <a:pt x="451263" y="21414"/>
                  </a:lnTo>
                  <a:lnTo>
                    <a:pt x="491642" y="14152"/>
                  </a:lnTo>
                  <a:lnTo>
                    <a:pt x="532263" y="8381"/>
                  </a:lnTo>
                  <a:lnTo>
                    <a:pt x="573069" y="4110"/>
                  </a:lnTo>
                  <a:lnTo>
                    <a:pt x="614003" y="1342"/>
                  </a:lnTo>
                  <a:lnTo>
                    <a:pt x="655010" y="0"/>
                  </a:lnTo>
                  <a:lnTo>
                    <a:pt x="682365" y="0"/>
                  </a:lnTo>
                  <a:lnTo>
                    <a:pt x="723373" y="1342"/>
                  </a:lnTo>
                  <a:lnTo>
                    <a:pt x="764306" y="4110"/>
                  </a:lnTo>
                  <a:lnTo>
                    <a:pt x="805112" y="8381"/>
                  </a:lnTo>
                  <a:lnTo>
                    <a:pt x="845733" y="14152"/>
                  </a:lnTo>
                  <a:lnTo>
                    <a:pt x="886112" y="21414"/>
                  </a:lnTo>
                  <a:lnTo>
                    <a:pt x="926196" y="30157"/>
                  </a:lnTo>
                  <a:lnTo>
                    <a:pt x="965934" y="40371"/>
                  </a:lnTo>
                  <a:lnTo>
                    <a:pt x="1005268" y="52040"/>
                  </a:lnTo>
                  <a:lnTo>
                    <a:pt x="1044145" y="65147"/>
                  </a:lnTo>
                  <a:lnTo>
                    <a:pt x="1082512" y="79677"/>
                  </a:lnTo>
                  <a:lnTo>
                    <a:pt x="1120321" y="95610"/>
                  </a:lnTo>
                  <a:lnTo>
                    <a:pt x="1157518" y="112925"/>
                  </a:lnTo>
                  <a:lnTo>
                    <a:pt x="1194050" y="131596"/>
                  </a:lnTo>
                  <a:lnTo>
                    <a:pt x="1229870" y="151598"/>
                  </a:lnTo>
                  <a:lnTo>
                    <a:pt x="1264932" y="172906"/>
                  </a:lnTo>
                  <a:lnTo>
                    <a:pt x="1299185" y="195491"/>
                  </a:lnTo>
                  <a:lnTo>
                    <a:pt x="1332582" y="219320"/>
                  </a:lnTo>
                  <a:lnTo>
                    <a:pt x="1365080" y="244363"/>
                  </a:lnTo>
                  <a:lnTo>
                    <a:pt x="1396636" y="270585"/>
                  </a:lnTo>
                  <a:lnTo>
                    <a:pt x="1427205" y="297951"/>
                  </a:lnTo>
                  <a:lnTo>
                    <a:pt x="1456744" y="326423"/>
                  </a:lnTo>
                  <a:lnTo>
                    <a:pt x="1485216" y="355962"/>
                  </a:lnTo>
                  <a:lnTo>
                    <a:pt x="1512582" y="386531"/>
                  </a:lnTo>
                  <a:lnTo>
                    <a:pt x="1538804" y="418087"/>
                  </a:lnTo>
                  <a:lnTo>
                    <a:pt x="1563846" y="450585"/>
                  </a:lnTo>
                  <a:lnTo>
                    <a:pt x="1587676" y="483981"/>
                  </a:lnTo>
                  <a:lnTo>
                    <a:pt x="1610260" y="518235"/>
                  </a:lnTo>
                  <a:lnTo>
                    <a:pt x="1631569" y="553297"/>
                  </a:lnTo>
                  <a:lnTo>
                    <a:pt x="1651571" y="589117"/>
                  </a:lnTo>
                  <a:lnTo>
                    <a:pt x="1670242" y="625650"/>
                  </a:lnTo>
                  <a:lnTo>
                    <a:pt x="1687556" y="662846"/>
                  </a:lnTo>
                  <a:lnTo>
                    <a:pt x="1703489" y="700654"/>
                  </a:lnTo>
                  <a:lnTo>
                    <a:pt x="1718020" y="739022"/>
                  </a:lnTo>
                  <a:lnTo>
                    <a:pt x="1731128" y="777899"/>
                  </a:lnTo>
                  <a:lnTo>
                    <a:pt x="1742797" y="817234"/>
                  </a:lnTo>
                  <a:lnTo>
                    <a:pt x="1753010" y="856971"/>
                  </a:lnTo>
                  <a:lnTo>
                    <a:pt x="1761753" y="897055"/>
                  </a:lnTo>
                  <a:lnTo>
                    <a:pt x="1769015" y="937434"/>
                  </a:lnTo>
                  <a:lnTo>
                    <a:pt x="1774786" y="978055"/>
                  </a:lnTo>
                  <a:lnTo>
                    <a:pt x="1779058" y="1018862"/>
                  </a:lnTo>
                  <a:lnTo>
                    <a:pt x="1781825" y="1059795"/>
                  </a:lnTo>
                  <a:lnTo>
                    <a:pt x="1783168" y="1100802"/>
                  </a:lnTo>
                  <a:lnTo>
                    <a:pt x="1783168" y="1128157"/>
                  </a:lnTo>
                  <a:lnTo>
                    <a:pt x="1781825" y="1169165"/>
                  </a:lnTo>
                  <a:lnTo>
                    <a:pt x="1779058" y="1210098"/>
                  </a:lnTo>
                  <a:lnTo>
                    <a:pt x="1774786" y="1250904"/>
                  </a:lnTo>
                  <a:lnTo>
                    <a:pt x="1769015" y="1291524"/>
                  </a:lnTo>
                  <a:lnTo>
                    <a:pt x="1761753" y="1331904"/>
                  </a:lnTo>
                  <a:lnTo>
                    <a:pt x="1753010" y="1371988"/>
                  </a:lnTo>
                  <a:lnTo>
                    <a:pt x="1742797" y="1411725"/>
                  </a:lnTo>
                  <a:lnTo>
                    <a:pt x="1731128" y="1451060"/>
                  </a:lnTo>
                  <a:lnTo>
                    <a:pt x="1718019" y="1489937"/>
                  </a:lnTo>
                  <a:lnTo>
                    <a:pt x="1703489" y="1528304"/>
                  </a:lnTo>
                  <a:lnTo>
                    <a:pt x="1687556" y="1566112"/>
                  </a:lnTo>
                  <a:lnTo>
                    <a:pt x="1670242" y="1603308"/>
                  </a:lnTo>
                  <a:lnTo>
                    <a:pt x="1651571" y="1639841"/>
                  </a:lnTo>
                  <a:lnTo>
                    <a:pt x="1631569" y="1675661"/>
                  </a:lnTo>
                  <a:lnTo>
                    <a:pt x="1610260" y="1710723"/>
                  </a:lnTo>
                  <a:lnTo>
                    <a:pt x="1587675" y="1744977"/>
                  </a:lnTo>
                  <a:lnTo>
                    <a:pt x="1563846" y="1778374"/>
                  </a:lnTo>
                  <a:lnTo>
                    <a:pt x="1560245" y="1783168"/>
                  </a:lnTo>
                  <a:close/>
                </a:path>
              </a:pathLst>
            </a:custGeom>
            <a:solidFill>
              <a:srgbClr val="DFF1F1">
                <a:alpha val="5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8645209" y="0"/>
              <a:ext cx="2767330" cy="6419850"/>
            </a:xfrm>
            <a:custGeom>
              <a:avLst/>
              <a:gdLst/>
              <a:ahLst/>
              <a:cxnLst/>
              <a:rect l="l" t="t" r="r" b="b"/>
              <a:pathLst>
                <a:path w="2767329" h="6419850">
                  <a:moveTo>
                    <a:pt x="2767068" y="6419406"/>
                  </a:moveTo>
                  <a:lnTo>
                    <a:pt x="983899" y="6419406"/>
                  </a:lnTo>
                  <a:lnTo>
                    <a:pt x="999602" y="6379861"/>
                  </a:lnTo>
                  <a:lnTo>
                    <a:pt x="1013713" y="6340472"/>
                  </a:lnTo>
                  <a:lnTo>
                    <a:pt x="1026275" y="6301235"/>
                  </a:lnTo>
                  <a:lnTo>
                    <a:pt x="1037327" y="6262142"/>
                  </a:lnTo>
                  <a:lnTo>
                    <a:pt x="1046909" y="6223189"/>
                  </a:lnTo>
                  <a:lnTo>
                    <a:pt x="1055061" y="6184368"/>
                  </a:lnTo>
                  <a:lnTo>
                    <a:pt x="1061825" y="6145674"/>
                  </a:lnTo>
                  <a:lnTo>
                    <a:pt x="1067239" y="6107101"/>
                  </a:lnTo>
                  <a:lnTo>
                    <a:pt x="1071346" y="6068643"/>
                  </a:lnTo>
                  <a:lnTo>
                    <a:pt x="1074183" y="6030293"/>
                  </a:lnTo>
                  <a:lnTo>
                    <a:pt x="1075793" y="5992046"/>
                  </a:lnTo>
                  <a:lnTo>
                    <a:pt x="1076215" y="5953896"/>
                  </a:lnTo>
                  <a:lnTo>
                    <a:pt x="1075489" y="5915836"/>
                  </a:lnTo>
                  <a:lnTo>
                    <a:pt x="1070757" y="5839965"/>
                  </a:lnTo>
                  <a:lnTo>
                    <a:pt x="1061917" y="5764383"/>
                  </a:lnTo>
                  <a:lnTo>
                    <a:pt x="1056058" y="5726685"/>
                  </a:lnTo>
                  <a:lnTo>
                    <a:pt x="1049293" y="5689042"/>
                  </a:lnTo>
                  <a:lnTo>
                    <a:pt x="1041662" y="5651448"/>
                  </a:lnTo>
                  <a:lnTo>
                    <a:pt x="1033205" y="5613895"/>
                  </a:lnTo>
                  <a:lnTo>
                    <a:pt x="1023964" y="5576379"/>
                  </a:lnTo>
                  <a:lnTo>
                    <a:pt x="1013978" y="5538893"/>
                  </a:lnTo>
                  <a:lnTo>
                    <a:pt x="1003287" y="5501432"/>
                  </a:lnTo>
                  <a:lnTo>
                    <a:pt x="991931" y="5463988"/>
                  </a:lnTo>
                  <a:lnTo>
                    <a:pt x="979952" y="5426556"/>
                  </a:lnTo>
                  <a:lnTo>
                    <a:pt x="967389" y="5389131"/>
                  </a:lnTo>
                  <a:lnTo>
                    <a:pt x="954282" y="5351705"/>
                  </a:lnTo>
                  <a:lnTo>
                    <a:pt x="940672" y="5314274"/>
                  </a:lnTo>
                  <a:lnTo>
                    <a:pt x="926598" y="5276830"/>
                  </a:lnTo>
                  <a:lnTo>
                    <a:pt x="912103" y="5239368"/>
                  </a:lnTo>
                  <a:lnTo>
                    <a:pt x="897224" y="5201882"/>
                  </a:lnTo>
                  <a:lnTo>
                    <a:pt x="882003" y="5164366"/>
                  </a:lnTo>
                  <a:lnTo>
                    <a:pt x="866481" y="5126814"/>
                  </a:lnTo>
                  <a:lnTo>
                    <a:pt x="850696" y="5089219"/>
                  </a:lnTo>
                  <a:lnTo>
                    <a:pt x="818503" y="5013879"/>
                  </a:lnTo>
                  <a:lnTo>
                    <a:pt x="736260" y="4824366"/>
                  </a:lnTo>
                  <a:lnTo>
                    <a:pt x="703503" y="4747969"/>
                  </a:lnTo>
                  <a:lnTo>
                    <a:pt x="687316" y="4709619"/>
                  </a:lnTo>
                  <a:lnTo>
                    <a:pt x="671310" y="4671161"/>
                  </a:lnTo>
                  <a:lnTo>
                    <a:pt x="655526" y="4632588"/>
                  </a:lnTo>
                  <a:lnTo>
                    <a:pt x="640003" y="4593894"/>
                  </a:lnTo>
                  <a:lnTo>
                    <a:pt x="624783" y="4555073"/>
                  </a:lnTo>
                  <a:lnTo>
                    <a:pt x="609904" y="4516119"/>
                  </a:lnTo>
                  <a:lnTo>
                    <a:pt x="595408" y="4477027"/>
                  </a:lnTo>
                  <a:lnTo>
                    <a:pt x="581335" y="4437790"/>
                  </a:lnTo>
                  <a:lnTo>
                    <a:pt x="567725" y="4398401"/>
                  </a:lnTo>
                  <a:lnTo>
                    <a:pt x="554618" y="4358856"/>
                  </a:lnTo>
                  <a:lnTo>
                    <a:pt x="542055" y="4319147"/>
                  </a:lnTo>
                  <a:lnTo>
                    <a:pt x="530075" y="4279270"/>
                  </a:lnTo>
                  <a:lnTo>
                    <a:pt x="518720" y="4239217"/>
                  </a:lnTo>
                  <a:lnTo>
                    <a:pt x="508029" y="4198983"/>
                  </a:lnTo>
                  <a:lnTo>
                    <a:pt x="498043" y="4158562"/>
                  </a:lnTo>
                  <a:lnTo>
                    <a:pt x="488801" y="4117947"/>
                  </a:lnTo>
                  <a:lnTo>
                    <a:pt x="480345" y="4077134"/>
                  </a:lnTo>
                  <a:lnTo>
                    <a:pt x="472714" y="4036114"/>
                  </a:lnTo>
                  <a:lnTo>
                    <a:pt x="465949" y="3994884"/>
                  </a:lnTo>
                  <a:lnTo>
                    <a:pt x="460090" y="3953436"/>
                  </a:lnTo>
                  <a:lnTo>
                    <a:pt x="455177" y="3911765"/>
                  </a:lnTo>
                  <a:lnTo>
                    <a:pt x="451250" y="3869864"/>
                  </a:lnTo>
                  <a:lnTo>
                    <a:pt x="448350" y="3827727"/>
                  </a:lnTo>
                  <a:lnTo>
                    <a:pt x="446517" y="3785349"/>
                  </a:lnTo>
                  <a:lnTo>
                    <a:pt x="445792" y="3742724"/>
                  </a:lnTo>
                  <a:lnTo>
                    <a:pt x="446214" y="3699844"/>
                  </a:lnTo>
                  <a:lnTo>
                    <a:pt x="447823" y="3656705"/>
                  </a:lnTo>
                  <a:lnTo>
                    <a:pt x="450661" y="3613301"/>
                  </a:lnTo>
                  <a:lnTo>
                    <a:pt x="454767" y="3569624"/>
                  </a:lnTo>
                  <a:lnTo>
                    <a:pt x="460182" y="3525670"/>
                  </a:lnTo>
                  <a:lnTo>
                    <a:pt x="466945" y="3481431"/>
                  </a:lnTo>
                  <a:lnTo>
                    <a:pt x="475098" y="3436903"/>
                  </a:lnTo>
                  <a:lnTo>
                    <a:pt x="484680" y="3392079"/>
                  </a:lnTo>
                  <a:lnTo>
                    <a:pt x="495732" y="3346953"/>
                  </a:lnTo>
                  <a:lnTo>
                    <a:pt x="508293" y="3301519"/>
                  </a:lnTo>
                  <a:lnTo>
                    <a:pt x="522405" y="3255771"/>
                  </a:lnTo>
                  <a:lnTo>
                    <a:pt x="553809" y="3163635"/>
                  </a:lnTo>
                  <a:lnTo>
                    <a:pt x="567921" y="3117886"/>
                  </a:lnTo>
                  <a:lnTo>
                    <a:pt x="580483" y="3072452"/>
                  </a:lnTo>
                  <a:lnTo>
                    <a:pt x="591534" y="3027326"/>
                  </a:lnTo>
                  <a:lnTo>
                    <a:pt x="601116" y="2982502"/>
                  </a:lnTo>
                  <a:lnTo>
                    <a:pt x="609269" y="2937974"/>
                  </a:lnTo>
                  <a:lnTo>
                    <a:pt x="616033" y="2893736"/>
                  </a:lnTo>
                  <a:lnTo>
                    <a:pt x="621447" y="2849781"/>
                  </a:lnTo>
                  <a:lnTo>
                    <a:pt x="625553" y="2806105"/>
                  </a:lnTo>
                  <a:lnTo>
                    <a:pt x="628391" y="2762700"/>
                  </a:lnTo>
                  <a:lnTo>
                    <a:pt x="630001" y="2719561"/>
                  </a:lnTo>
                  <a:lnTo>
                    <a:pt x="630423" y="2676682"/>
                  </a:lnTo>
                  <a:lnTo>
                    <a:pt x="629697" y="2634056"/>
                  </a:lnTo>
                  <a:lnTo>
                    <a:pt x="627864" y="2591678"/>
                  </a:lnTo>
                  <a:lnTo>
                    <a:pt x="624965" y="2549542"/>
                  </a:lnTo>
                  <a:lnTo>
                    <a:pt x="621038" y="2507641"/>
                  </a:lnTo>
                  <a:lnTo>
                    <a:pt x="616125" y="2465969"/>
                  </a:lnTo>
                  <a:lnTo>
                    <a:pt x="610266" y="2424522"/>
                  </a:lnTo>
                  <a:lnTo>
                    <a:pt x="603500" y="2383291"/>
                  </a:lnTo>
                  <a:lnTo>
                    <a:pt x="595870" y="2342272"/>
                  </a:lnTo>
                  <a:lnTo>
                    <a:pt x="587413" y="2301458"/>
                  </a:lnTo>
                  <a:lnTo>
                    <a:pt x="578172" y="2260844"/>
                  </a:lnTo>
                  <a:lnTo>
                    <a:pt x="568185" y="2220423"/>
                  </a:lnTo>
                  <a:lnTo>
                    <a:pt x="557494" y="2180189"/>
                  </a:lnTo>
                  <a:lnTo>
                    <a:pt x="546139" y="2140136"/>
                  </a:lnTo>
                  <a:lnTo>
                    <a:pt x="534160" y="2100258"/>
                  </a:lnTo>
                  <a:lnTo>
                    <a:pt x="521596" y="2060550"/>
                  </a:lnTo>
                  <a:lnTo>
                    <a:pt x="508490" y="2021004"/>
                  </a:lnTo>
                  <a:lnTo>
                    <a:pt x="494879" y="1981616"/>
                  </a:lnTo>
                  <a:lnTo>
                    <a:pt x="480806" y="1942378"/>
                  </a:lnTo>
                  <a:lnTo>
                    <a:pt x="466310" y="1903286"/>
                  </a:lnTo>
                  <a:lnTo>
                    <a:pt x="451432" y="1864332"/>
                  </a:lnTo>
                  <a:lnTo>
                    <a:pt x="436211" y="1825512"/>
                  </a:lnTo>
                  <a:lnTo>
                    <a:pt x="420689" y="1786818"/>
                  </a:lnTo>
                  <a:lnTo>
                    <a:pt x="404904" y="1748245"/>
                  </a:lnTo>
                  <a:lnTo>
                    <a:pt x="388898" y="1709787"/>
                  </a:lnTo>
                  <a:lnTo>
                    <a:pt x="356383" y="1633190"/>
                  </a:lnTo>
                  <a:lnTo>
                    <a:pt x="257711" y="1405526"/>
                  </a:lnTo>
                  <a:lnTo>
                    <a:pt x="225518" y="1330186"/>
                  </a:lnTo>
                  <a:lnTo>
                    <a:pt x="209734" y="1292592"/>
                  </a:lnTo>
                  <a:lnTo>
                    <a:pt x="194211" y="1255039"/>
                  </a:lnTo>
                  <a:lnTo>
                    <a:pt x="178990" y="1217523"/>
                  </a:lnTo>
                  <a:lnTo>
                    <a:pt x="164112" y="1180037"/>
                  </a:lnTo>
                  <a:lnTo>
                    <a:pt x="149616" y="1142575"/>
                  </a:lnTo>
                  <a:lnTo>
                    <a:pt x="135543" y="1105132"/>
                  </a:lnTo>
                  <a:lnTo>
                    <a:pt x="121933" y="1067700"/>
                  </a:lnTo>
                  <a:lnTo>
                    <a:pt x="108826" y="1030275"/>
                  </a:lnTo>
                  <a:lnTo>
                    <a:pt x="96263" y="992849"/>
                  </a:lnTo>
                  <a:lnTo>
                    <a:pt x="84283" y="955418"/>
                  </a:lnTo>
                  <a:lnTo>
                    <a:pt x="72928" y="917974"/>
                  </a:lnTo>
                  <a:lnTo>
                    <a:pt x="62237" y="880512"/>
                  </a:lnTo>
                  <a:lnTo>
                    <a:pt x="52251" y="843026"/>
                  </a:lnTo>
                  <a:lnTo>
                    <a:pt x="43009" y="805510"/>
                  </a:lnTo>
                  <a:lnTo>
                    <a:pt x="34553" y="767958"/>
                  </a:lnTo>
                  <a:lnTo>
                    <a:pt x="26922" y="730363"/>
                  </a:lnTo>
                  <a:lnTo>
                    <a:pt x="20157" y="692720"/>
                  </a:lnTo>
                  <a:lnTo>
                    <a:pt x="14297" y="655023"/>
                  </a:lnTo>
                  <a:lnTo>
                    <a:pt x="5458" y="579441"/>
                  </a:lnTo>
                  <a:lnTo>
                    <a:pt x="725" y="503569"/>
                  </a:lnTo>
                  <a:lnTo>
                    <a:pt x="0" y="465509"/>
                  </a:lnTo>
                  <a:lnTo>
                    <a:pt x="421" y="427359"/>
                  </a:lnTo>
                  <a:lnTo>
                    <a:pt x="2031" y="389112"/>
                  </a:lnTo>
                  <a:lnTo>
                    <a:pt x="4869" y="350763"/>
                  </a:lnTo>
                  <a:lnTo>
                    <a:pt x="8975" y="312304"/>
                  </a:lnTo>
                  <a:lnTo>
                    <a:pt x="14390" y="273731"/>
                  </a:lnTo>
                  <a:lnTo>
                    <a:pt x="21153" y="235037"/>
                  </a:lnTo>
                  <a:lnTo>
                    <a:pt x="29306" y="196217"/>
                  </a:lnTo>
                  <a:lnTo>
                    <a:pt x="38888" y="157263"/>
                  </a:lnTo>
                  <a:lnTo>
                    <a:pt x="49940" y="118171"/>
                  </a:lnTo>
                  <a:lnTo>
                    <a:pt x="62501" y="78933"/>
                  </a:lnTo>
                  <a:lnTo>
                    <a:pt x="76613" y="39545"/>
                  </a:lnTo>
                  <a:lnTo>
                    <a:pt x="92315" y="0"/>
                  </a:lnTo>
                  <a:lnTo>
                    <a:pt x="2767068" y="0"/>
                  </a:lnTo>
                  <a:lnTo>
                    <a:pt x="2767068" y="6419406"/>
                  </a:lnTo>
                  <a:close/>
                </a:path>
              </a:pathLst>
            </a:custGeom>
            <a:solidFill>
              <a:srgbClr val="41A5F5">
                <a:alpha val="4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9091001" y="0"/>
              <a:ext cx="2321560" cy="6419850"/>
            </a:xfrm>
            <a:custGeom>
              <a:avLst/>
              <a:gdLst/>
              <a:ahLst/>
              <a:cxnLst/>
              <a:rect l="l" t="t" r="r" b="b"/>
              <a:pathLst>
                <a:path w="2321559" h="6419850">
                  <a:moveTo>
                    <a:pt x="2321276" y="6419406"/>
                  </a:moveTo>
                  <a:lnTo>
                    <a:pt x="983899" y="6419406"/>
                  </a:lnTo>
                  <a:lnTo>
                    <a:pt x="999602" y="6379861"/>
                  </a:lnTo>
                  <a:lnTo>
                    <a:pt x="1013713" y="6340472"/>
                  </a:lnTo>
                  <a:lnTo>
                    <a:pt x="1026275" y="6301235"/>
                  </a:lnTo>
                  <a:lnTo>
                    <a:pt x="1037327" y="6262142"/>
                  </a:lnTo>
                  <a:lnTo>
                    <a:pt x="1046909" y="6223189"/>
                  </a:lnTo>
                  <a:lnTo>
                    <a:pt x="1055061" y="6184368"/>
                  </a:lnTo>
                  <a:lnTo>
                    <a:pt x="1061825" y="6145674"/>
                  </a:lnTo>
                  <a:lnTo>
                    <a:pt x="1067239" y="6107101"/>
                  </a:lnTo>
                  <a:lnTo>
                    <a:pt x="1071346" y="6068643"/>
                  </a:lnTo>
                  <a:lnTo>
                    <a:pt x="1074183" y="6030293"/>
                  </a:lnTo>
                  <a:lnTo>
                    <a:pt x="1075793" y="5992046"/>
                  </a:lnTo>
                  <a:lnTo>
                    <a:pt x="1076215" y="5953896"/>
                  </a:lnTo>
                  <a:lnTo>
                    <a:pt x="1075489" y="5915836"/>
                  </a:lnTo>
                  <a:lnTo>
                    <a:pt x="1070757" y="5839965"/>
                  </a:lnTo>
                  <a:lnTo>
                    <a:pt x="1061917" y="5764383"/>
                  </a:lnTo>
                  <a:lnTo>
                    <a:pt x="1056058" y="5726685"/>
                  </a:lnTo>
                  <a:lnTo>
                    <a:pt x="1049293" y="5689042"/>
                  </a:lnTo>
                  <a:lnTo>
                    <a:pt x="1041662" y="5651448"/>
                  </a:lnTo>
                  <a:lnTo>
                    <a:pt x="1033205" y="5613895"/>
                  </a:lnTo>
                  <a:lnTo>
                    <a:pt x="1023964" y="5576379"/>
                  </a:lnTo>
                  <a:lnTo>
                    <a:pt x="1013978" y="5538893"/>
                  </a:lnTo>
                  <a:lnTo>
                    <a:pt x="1003287" y="5501432"/>
                  </a:lnTo>
                  <a:lnTo>
                    <a:pt x="991931" y="5463988"/>
                  </a:lnTo>
                  <a:lnTo>
                    <a:pt x="979952" y="5426556"/>
                  </a:lnTo>
                  <a:lnTo>
                    <a:pt x="967389" y="5389131"/>
                  </a:lnTo>
                  <a:lnTo>
                    <a:pt x="954282" y="5351705"/>
                  </a:lnTo>
                  <a:lnTo>
                    <a:pt x="940672" y="5314274"/>
                  </a:lnTo>
                  <a:lnTo>
                    <a:pt x="926598" y="5276830"/>
                  </a:lnTo>
                  <a:lnTo>
                    <a:pt x="912103" y="5239368"/>
                  </a:lnTo>
                  <a:lnTo>
                    <a:pt x="897224" y="5201882"/>
                  </a:lnTo>
                  <a:lnTo>
                    <a:pt x="882003" y="5164366"/>
                  </a:lnTo>
                  <a:lnTo>
                    <a:pt x="866481" y="5126814"/>
                  </a:lnTo>
                  <a:lnTo>
                    <a:pt x="850696" y="5089219"/>
                  </a:lnTo>
                  <a:lnTo>
                    <a:pt x="818503" y="5013879"/>
                  </a:lnTo>
                  <a:lnTo>
                    <a:pt x="736260" y="4824366"/>
                  </a:lnTo>
                  <a:lnTo>
                    <a:pt x="703503" y="4747969"/>
                  </a:lnTo>
                  <a:lnTo>
                    <a:pt x="687316" y="4709619"/>
                  </a:lnTo>
                  <a:lnTo>
                    <a:pt x="671310" y="4671161"/>
                  </a:lnTo>
                  <a:lnTo>
                    <a:pt x="655526" y="4632588"/>
                  </a:lnTo>
                  <a:lnTo>
                    <a:pt x="640003" y="4593894"/>
                  </a:lnTo>
                  <a:lnTo>
                    <a:pt x="624783" y="4555073"/>
                  </a:lnTo>
                  <a:lnTo>
                    <a:pt x="609904" y="4516119"/>
                  </a:lnTo>
                  <a:lnTo>
                    <a:pt x="595408" y="4477027"/>
                  </a:lnTo>
                  <a:lnTo>
                    <a:pt x="581335" y="4437790"/>
                  </a:lnTo>
                  <a:lnTo>
                    <a:pt x="567725" y="4398401"/>
                  </a:lnTo>
                  <a:lnTo>
                    <a:pt x="554618" y="4358856"/>
                  </a:lnTo>
                  <a:lnTo>
                    <a:pt x="542055" y="4319147"/>
                  </a:lnTo>
                  <a:lnTo>
                    <a:pt x="530075" y="4279270"/>
                  </a:lnTo>
                  <a:lnTo>
                    <a:pt x="518720" y="4239217"/>
                  </a:lnTo>
                  <a:lnTo>
                    <a:pt x="508029" y="4198983"/>
                  </a:lnTo>
                  <a:lnTo>
                    <a:pt x="498043" y="4158562"/>
                  </a:lnTo>
                  <a:lnTo>
                    <a:pt x="488801" y="4117947"/>
                  </a:lnTo>
                  <a:lnTo>
                    <a:pt x="480345" y="4077134"/>
                  </a:lnTo>
                  <a:lnTo>
                    <a:pt x="472714" y="4036114"/>
                  </a:lnTo>
                  <a:lnTo>
                    <a:pt x="465949" y="3994884"/>
                  </a:lnTo>
                  <a:lnTo>
                    <a:pt x="460090" y="3953436"/>
                  </a:lnTo>
                  <a:lnTo>
                    <a:pt x="455177" y="3911765"/>
                  </a:lnTo>
                  <a:lnTo>
                    <a:pt x="451250" y="3869864"/>
                  </a:lnTo>
                  <a:lnTo>
                    <a:pt x="448350" y="3827727"/>
                  </a:lnTo>
                  <a:lnTo>
                    <a:pt x="446517" y="3785349"/>
                  </a:lnTo>
                  <a:lnTo>
                    <a:pt x="445792" y="3742724"/>
                  </a:lnTo>
                  <a:lnTo>
                    <a:pt x="446214" y="3699844"/>
                  </a:lnTo>
                  <a:lnTo>
                    <a:pt x="447823" y="3656705"/>
                  </a:lnTo>
                  <a:lnTo>
                    <a:pt x="450661" y="3613301"/>
                  </a:lnTo>
                  <a:lnTo>
                    <a:pt x="454767" y="3569624"/>
                  </a:lnTo>
                  <a:lnTo>
                    <a:pt x="460182" y="3525670"/>
                  </a:lnTo>
                  <a:lnTo>
                    <a:pt x="466945" y="3481431"/>
                  </a:lnTo>
                  <a:lnTo>
                    <a:pt x="475098" y="3436903"/>
                  </a:lnTo>
                  <a:lnTo>
                    <a:pt x="484680" y="3392079"/>
                  </a:lnTo>
                  <a:lnTo>
                    <a:pt x="495732" y="3346953"/>
                  </a:lnTo>
                  <a:lnTo>
                    <a:pt x="508293" y="3301519"/>
                  </a:lnTo>
                  <a:lnTo>
                    <a:pt x="522405" y="3255771"/>
                  </a:lnTo>
                  <a:lnTo>
                    <a:pt x="553809" y="3163635"/>
                  </a:lnTo>
                  <a:lnTo>
                    <a:pt x="567921" y="3117886"/>
                  </a:lnTo>
                  <a:lnTo>
                    <a:pt x="580483" y="3072452"/>
                  </a:lnTo>
                  <a:lnTo>
                    <a:pt x="591534" y="3027326"/>
                  </a:lnTo>
                  <a:lnTo>
                    <a:pt x="601116" y="2982502"/>
                  </a:lnTo>
                  <a:lnTo>
                    <a:pt x="609269" y="2937974"/>
                  </a:lnTo>
                  <a:lnTo>
                    <a:pt x="616033" y="2893736"/>
                  </a:lnTo>
                  <a:lnTo>
                    <a:pt x="621447" y="2849781"/>
                  </a:lnTo>
                  <a:lnTo>
                    <a:pt x="625553" y="2806105"/>
                  </a:lnTo>
                  <a:lnTo>
                    <a:pt x="628391" y="2762700"/>
                  </a:lnTo>
                  <a:lnTo>
                    <a:pt x="630001" y="2719561"/>
                  </a:lnTo>
                  <a:lnTo>
                    <a:pt x="630423" y="2676682"/>
                  </a:lnTo>
                  <a:lnTo>
                    <a:pt x="629697" y="2634056"/>
                  </a:lnTo>
                  <a:lnTo>
                    <a:pt x="627864" y="2591678"/>
                  </a:lnTo>
                  <a:lnTo>
                    <a:pt x="624965" y="2549542"/>
                  </a:lnTo>
                  <a:lnTo>
                    <a:pt x="621038" y="2507641"/>
                  </a:lnTo>
                  <a:lnTo>
                    <a:pt x="616125" y="2465969"/>
                  </a:lnTo>
                  <a:lnTo>
                    <a:pt x="610266" y="2424522"/>
                  </a:lnTo>
                  <a:lnTo>
                    <a:pt x="603500" y="2383291"/>
                  </a:lnTo>
                  <a:lnTo>
                    <a:pt x="595870" y="2342272"/>
                  </a:lnTo>
                  <a:lnTo>
                    <a:pt x="587413" y="2301458"/>
                  </a:lnTo>
                  <a:lnTo>
                    <a:pt x="578172" y="2260844"/>
                  </a:lnTo>
                  <a:lnTo>
                    <a:pt x="568185" y="2220423"/>
                  </a:lnTo>
                  <a:lnTo>
                    <a:pt x="557494" y="2180189"/>
                  </a:lnTo>
                  <a:lnTo>
                    <a:pt x="546139" y="2140136"/>
                  </a:lnTo>
                  <a:lnTo>
                    <a:pt x="534160" y="2100258"/>
                  </a:lnTo>
                  <a:lnTo>
                    <a:pt x="521596" y="2060550"/>
                  </a:lnTo>
                  <a:lnTo>
                    <a:pt x="508490" y="2021004"/>
                  </a:lnTo>
                  <a:lnTo>
                    <a:pt x="494879" y="1981616"/>
                  </a:lnTo>
                  <a:lnTo>
                    <a:pt x="480806" y="1942378"/>
                  </a:lnTo>
                  <a:lnTo>
                    <a:pt x="466310" y="1903286"/>
                  </a:lnTo>
                  <a:lnTo>
                    <a:pt x="451432" y="1864332"/>
                  </a:lnTo>
                  <a:lnTo>
                    <a:pt x="436211" y="1825512"/>
                  </a:lnTo>
                  <a:lnTo>
                    <a:pt x="420689" y="1786818"/>
                  </a:lnTo>
                  <a:lnTo>
                    <a:pt x="404904" y="1748245"/>
                  </a:lnTo>
                  <a:lnTo>
                    <a:pt x="388898" y="1709787"/>
                  </a:lnTo>
                  <a:lnTo>
                    <a:pt x="356383" y="1633190"/>
                  </a:lnTo>
                  <a:lnTo>
                    <a:pt x="257711" y="1405526"/>
                  </a:lnTo>
                  <a:lnTo>
                    <a:pt x="225518" y="1330186"/>
                  </a:lnTo>
                  <a:lnTo>
                    <a:pt x="209734" y="1292592"/>
                  </a:lnTo>
                  <a:lnTo>
                    <a:pt x="194211" y="1255039"/>
                  </a:lnTo>
                  <a:lnTo>
                    <a:pt x="178990" y="1217523"/>
                  </a:lnTo>
                  <a:lnTo>
                    <a:pt x="164112" y="1180037"/>
                  </a:lnTo>
                  <a:lnTo>
                    <a:pt x="149616" y="1142575"/>
                  </a:lnTo>
                  <a:lnTo>
                    <a:pt x="135543" y="1105132"/>
                  </a:lnTo>
                  <a:lnTo>
                    <a:pt x="121933" y="1067700"/>
                  </a:lnTo>
                  <a:lnTo>
                    <a:pt x="108826" y="1030275"/>
                  </a:lnTo>
                  <a:lnTo>
                    <a:pt x="96263" y="992849"/>
                  </a:lnTo>
                  <a:lnTo>
                    <a:pt x="84283" y="955418"/>
                  </a:lnTo>
                  <a:lnTo>
                    <a:pt x="72928" y="917974"/>
                  </a:lnTo>
                  <a:lnTo>
                    <a:pt x="62237" y="880512"/>
                  </a:lnTo>
                  <a:lnTo>
                    <a:pt x="52251" y="843026"/>
                  </a:lnTo>
                  <a:lnTo>
                    <a:pt x="43009" y="805510"/>
                  </a:lnTo>
                  <a:lnTo>
                    <a:pt x="34553" y="767958"/>
                  </a:lnTo>
                  <a:lnTo>
                    <a:pt x="26922" y="730363"/>
                  </a:lnTo>
                  <a:lnTo>
                    <a:pt x="20157" y="692720"/>
                  </a:lnTo>
                  <a:lnTo>
                    <a:pt x="14297" y="655023"/>
                  </a:lnTo>
                  <a:lnTo>
                    <a:pt x="5458" y="579441"/>
                  </a:lnTo>
                  <a:lnTo>
                    <a:pt x="725" y="503569"/>
                  </a:lnTo>
                  <a:lnTo>
                    <a:pt x="0" y="465509"/>
                  </a:lnTo>
                  <a:lnTo>
                    <a:pt x="421" y="427359"/>
                  </a:lnTo>
                  <a:lnTo>
                    <a:pt x="2031" y="389112"/>
                  </a:lnTo>
                  <a:lnTo>
                    <a:pt x="4869" y="350763"/>
                  </a:lnTo>
                  <a:lnTo>
                    <a:pt x="8975" y="312304"/>
                  </a:lnTo>
                  <a:lnTo>
                    <a:pt x="14390" y="273731"/>
                  </a:lnTo>
                  <a:lnTo>
                    <a:pt x="21153" y="235037"/>
                  </a:lnTo>
                  <a:lnTo>
                    <a:pt x="29306" y="196217"/>
                  </a:lnTo>
                  <a:lnTo>
                    <a:pt x="38888" y="157263"/>
                  </a:lnTo>
                  <a:lnTo>
                    <a:pt x="49940" y="118171"/>
                  </a:lnTo>
                  <a:lnTo>
                    <a:pt x="62501" y="78933"/>
                  </a:lnTo>
                  <a:lnTo>
                    <a:pt x="76613" y="39545"/>
                  </a:lnTo>
                  <a:lnTo>
                    <a:pt x="92315" y="0"/>
                  </a:lnTo>
                  <a:lnTo>
                    <a:pt x="2321276" y="0"/>
                  </a:lnTo>
                  <a:lnTo>
                    <a:pt x="2321276" y="6419406"/>
                  </a:lnTo>
                  <a:close/>
                </a:path>
              </a:pathLst>
            </a:custGeom>
            <a:solidFill>
              <a:srgbClr val="4DB5AB">
                <a:alpha val="4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0585105" y="891584"/>
              <a:ext cx="827405" cy="5528310"/>
            </a:xfrm>
            <a:custGeom>
              <a:avLst/>
              <a:gdLst/>
              <a:ahLst/>
              <a:cxnLst/>
              <a:rect l="l" t="t" r="r" b="b"/>
              <a:pathLst>
                <a:path w="827404" h="5528310">
                  <a:moveTo>
                    <a:pt x="827172" y="0"/>
                  </a:moveTo>
                  <a:lnTo>
                    <a:pt x="807515" y="38764"/>
                  </a:lnTo>
                  <a:lnTo>
                    <a:pt x="787338" y="77529"/>
                  </a:lnTo>
                  <a:lnTo>
                    <a:pt x="766680" y="116293"/>
                  </a:lnTo>
                  <a:lnTo>
                    <a:pt x="745582" y="155058"/>
                  </a:lnTo>
                  <a:lnTo>
                    <a:pt x="724086" y="193822"/>
                  </a:lnTo>
                  <a:lnTo>
                    <a:pt x="702231" y="232587"/>
                  </a:lnTo>
                  <a:lnTo>
                    <a:pt x="680059" y="271351"/>
                  </a:lnTo>
                  <a:lnTo>
                    <a:pt x="657610" y="310116"/>
                  </a:lnTo>
                  <a:lnTo>
                    <a:pt x="634924" y="348880"/>
                  </a:lnTo>
                  <a:lnTo>
                    <a:pt x="612044" y="387645"/>
                  </a:lnTo>
                  <a:lnTo>
                    <a:pt x="589008" y="426409"/>
                  </a:lnTo>
                  <a:lnTo>
                    <a:pt x="565859" y="465174"/>
                  </a:lnTo>
                  <a:lnTo>
                    <a:pt x="542636" y="503938"/>
                  </a:lnTo>
                  <a:lnTo>
                    <a:pt x="519381" y="542703"/>
                  </a:lnTo>
                  <a:lnTo>
                    <a:pt x="496134" y="581467"/>
                  </a:lnTo>
                  <a:lnTo>
                    <a:pt x="472936" y="620232"/>
                  </a:lnTo>
                  <a:lnTo>
                    <a:pt x="449827" y="658997"/>
                  </a:lnTo>
                  <a:lnTo>
                    <a:pt x="426849" y="697761"/>
                  </a:lnTo>
                  <a:lnTo>
                    <a:pt x="404042" y="736526"/>
                  </a:lnTo>
                  <a:lnTo>
                    <a:pt x="381446" y="775290"/>
                  </a:lnTo>
                  <a:lnTo>
                    <a:pt x="359103" y="814055"/>
                  </a:lnTo>
                  <a:lnTo>
                    <a:pt x="337053" y="852819"/>
                  </a:lnTo>
                  <a:lnTo>
                    <a:pt x="315336" y="891584"/>
                  </a:lnTo>
                  <a:lnTo>
                    <a:pt x="293994" y="930348"/>
                  </a:lnTo>
                  <a:lnTo>
                    <a:pt x="273068" y="969113"/>
                  </a:lnTo>
                  <a:lnTo>
                    <a:pt x="252597" y="1007877"/>
                  </a:lnTo>
                  <a:lnTo>
                    <a:pt x="232623" y="1046642"/>
                  </a:lnTo>
                  <a:lnTo>
                    <a:pt x="213187" y="1085406"/>
                  </a:lnTo>
                  <a:lnTo>
                    <a:pt x="194328" y="1124171"/>
                  </a:lnTo>
                  <a:lnTo>
                    <a:pt x="176089" y="1162935"/>
                  </a:lnTo>
                  <a:lnTo>
                    <a:pt x="158509" y="1201700"/>
                  </a:lnTo>
                  <a:lnTo>
                    <a:pt x="141629" y="1240465"/>
                  </a:lnTo>
                  <a:lnTo>
                    <a:pt x="125490" y="1279229"/>
                  </a:lnTo>
                  <a:lnTo>
                    <a:pt x="110132" y="1317994"/>
                  </a:lnTo>
                  <a:lnTo>
                    <a:pt x="95597" y="1356758"/>
                  </a:lnTo>
                  <a:lnTo>
                    <a:pt x="81925" y="1395523"/>
                  </a:lnTo>
                  <a:lnTo>
                    <a:pt x="69157" y="1434287"/>
                  </a:lnTo>
                  <a:lnTo>
                    <a:pt x="57333" y="1473052"/>
                  </a:lnTo>
                  <a:lnTo>
                    <a:pt x="46495" y="1511816"/>
                  </a:lnTo>
                  <a:lnTo>
                    <a:pt x="36682" y="1550581"/>
                  </a:lnTo>
                  <a:lnTo>
                    <a:pt x="27936" y="1589345"/>
                  </a:lnTo>
                  <a:lnTo>
                    <a:pt x="20298" y="1628110"/>
                  </a:lnTo>
                  <a:lnTo>
                    <a:pt x="13807" y="1666874"/>
                  </a:lnTo>
                  <a:lnTo>
                    <a:pt x="8505" y="1705639"/>
                  </a:lnTo>
                  <a:lnTo>
                    <a:pt x="4433" y="1744403"/>
                  </a:lnTo>
                  <a:lnTo>
                    <a:pt x="1631" y="1783168"/>
                  </a:lnTo>
                  <a:lnTo>
                    <a:pt x="139" y="1821933"/>
                  </a:lnTo>
                  <a:lnTo>
                    <a:pt x="0" y="1860697"/>
                  </a:lnTo>
                  <a:lnTo>
                    <a:pt x="1252" y="1899462"/>
                  </a:lnTo>
                  <a:lnTo>
                    <a:pt x="3938" y="1938226"/>
                  </a:lnTo>
                  <a:lnTo>
                    <a:pt x="8097" y="1976991"/>
                  </a:lnTo>
                  <a:lnTo>
                    <a:pt x="13771" y="2015755"/>
                  </a:lnTo>
                  <a:lnTo>
                    <a:pt x="20999" y="2054520"/>
                  </a:lnTo>
                  <a:lnTo>
                    <a:pt x="29824" y="2093284"/>
                  </a:lnTo>
                  <a:lnTo>
                    <a:pt x="40285" y="2132049"/>
                  </a:lnTo>
                  <a:lnTo>
                    <a:pt x="52424" y="2170813"/>
                  </a:lnTo>
                  <a:lnTo>
                    <a:pt x="66280" y="2209578"/>
                  </a:lnTo>
                  <a:lnTo>
                    <a:pt x="81895" y="2248342"/>
                  </a:lnTo>
                  <a:lnTo>
                    <a:pt x="99310" y="2287107"/>
                  </a:lnTo>
                  <a:lnTo>
                    <a:pt x="118565" y="2325871"/>
                  </a:lnTo>
                  <a:lnTo>
                    <a:pt x="139700" y="2364636"/>
                  </a:lnTo>
                  <a:lnTo>
                    <a:pt x="162757" y="2403400"/>
                  </a:lnTo>
                  <a:lnTo>
                    <a:pt x="187777" y="2442165"/>
                  </a:lnTo>
                  <a:lnTo>
                    <a:pt x="214799" y="2480930"/>
                  </a:lnTo>
                  <a:lnTo>
                    <a:pt x="243865" y="2519694"/>
                  </a:lnTo>
                  <a:lnTo>
                    <a:pt x="275015" y="2558459"/>
                  </a:lnTo>
                  <a:lnTo>
                    <a:pt x="308291" y="2597223"/>
                  </a:lnTo>
                  <a:lnTo>
                    <a:pt x="343732" y="2635988"/>
                  </a:lnTo>
                  <a:lnTo>
                    <a:pt x="381379" y="2674752"/>
                  </a:lnTo>
                  <a:lnTo>
                    <a:pt x="412282" y="2706595"/>
                  </a:lnTo>
                  <a:lnTo>
                    <a:pt x="441333" y="2738439"/>
                  </a:lnTo>
                  <a:lnTo>
                    <a:pt x="468580" y="2770287"/>
                  </a:lnTo>
                  <a:lnTo>
                    <a:pt x="494067" y="2802141"/>
                  </a:lnTo>
                  <a:lnTo>
                    <a:pt x="517839" y="2834001"/>
                  </a:lnTo>
                  <a:lnTo>
                    <a:pt x="539941" y="2865871"/>
                  </a:lnTo>
                  <a:lnTo>
                    <a:pt x="579317" y="2929645"/>
                  </a:lnTo>
                  <a:lnTo>
                    <a:pt x="612555" y="2993476"/>
                  </a:lnTo>
                  <a:lnTo>
                    <a:pt x="640017" y="3057380"/>
                  </a:lnTo>
                  <a:lnTo>
                    <a:pt x="662063" y="3121370"/>
                  </a:lnTo>
                  <a:lnTo>
                    <a:pt x="679056" y="3185461"/>
                  </a:lnTo>
                  <a:lnTo>
                    <a:pt x="691354" y="3249668"/>
                  </a:lnTo>
                  <a:lnTo>
                    <a:pt x="699321" y="3314005"/>
                  </a:lnTo>
                  <a:lnTo>
                    <a:pt x="703316" y="3378486"/>
                  </a:lnTo>
                  <a:lnTo>
                    <a:pt x="703938" y="3410785"/>
                  </a:lnTo>
                  <a:lnTo>
                    <a:pt x="703701" y="3443126"/>
                  </a:lnTo>
                  <a:lnTo>
                    <a:pt x="700837" y="3507940"/>
                  </a:lnTo>
                  <a:lnTo>
                    <a:pt x="695085" y="3572941"/>
                  </a:lnTo>
                  <a:lnTo>
                    <a:pt x="686806" y="3638144"/>
                  </a:lnTo>
                  <a:lnTo>
                    <a:pt x="676360" y="3703564"/>
                  </a:lnTo>
                  <a:lnTo>
                    <a:pt x="664109" y="3769215"/>
                  </a:lnTo>
                  <a:lnTo>
                    <a:pt x="650414" y="3835111"/>
                  </a:lnTo>
                  <a:lnTo>
                    <a:pt x="635636" y="3901268"/>
                  </a:lnTo>
                  <a:lnTo>
                    <a:pt x="620137" y="3967699"/>
                  </a:lnTo>
                  <a:lnTo>
                    <a:pt x="604276" y="4034418"/>
                  </a:lnTo>
                  <a:lnTo>
                    <a:pt x="596322" y="4067891"/>
                  </a:lnTo>
                  <a:lnTo>
                    <a:pt x="580597" y="4135071"/>
                  </a:lnTo>
                  <a:lnTo>
                    <a:pt x="565413" y="4202576"/>
                  </a:lnTo>
                  <a:lnTo>
                    <a:pt x="551131" y="4270420"/>
                  </a:lnTo>
                  <a:lnTo>
                    <a:pt x="538113" y="4338618"/>
                  </a:lnTo>
                  <a:lnTo>
                    <a:pt x="526720" y="4407184"/>
                  </a:lnTo>
                  <a:lnTo>
                    <a:pt x="517312" y="4476133"/>
                  </a:lnTo>
                  <a:lnTo>
                    <a:pt x="510251" y="4545479"/>
                  </a:lnTo>
                  <a:lnTo>
                    <a:pt x="505898" y="4615236"/>
                  </a:lnTo>
                  <a:lnTo>
                    <a:pt x="504613" y="4685420"/>
                  </a:lnTo>
                  <a:lnTo>
                    <a:pt x="505235" y="4720676"/>
                  </a:lnTo>
                  <a:lnTo>
                    <a:pt x="509230" y="4791526"/>
                  </a:lnTo>
                  <a:lnTo>
                    <a:pt x="517197" y="4862838"/>
                  </a:lnTo>
                  <a:lnTo>
                    <a:pt x="529495" y="4934626"/>
                  </a:lnTo>
                  <a:lnTo>
                    <a:pt x="546488" y="5006905"/>
                  </a:lnTo>
                  <a:lnTo>
                    <a:pt x="568534" y="5079690"/>
                  </a:lnTo>
                  <a:lnTo>
                    <a:pt x="581566" y="5116277"/>
                  </a:lnTo>
                  <a:lnTo>
                    <a:pt x="595996" y="5152995"/>
                  </a:lnTo>
                  <a:lnTo>
                    <a:pt x="611871" y="5189847"/>
                  </a:lnTo>
                  <a:lnTo>
                    <a:pt x="629234" y="5226834"/>
                  </a:lnTo>
                  <a:lnTo>
                    <a:pt x="648132" y="5263958"/>
                  </a:lnTo>
                  <a:lnTo>
                    <a:pt x="668610" y="5301222"/>
                  </a:lnTo>
                  <a:lnTo>
                    <a:pt x="690712" y="5338626"/>
                  </a:lnTo>
                  <a:lnTo>
                    <a:pt x="714484" y="5376173"/>
                  </a:lnTo>
                  <a:lnTo>
                    <a:pt x="739971" y="5413864"/>
                  </a:lnTo>
                  <a:lnTo>
                    <a:pt x="767218" y="5451701"/>
                  </a:lnTo>
                  <a:lnTo>
                    <a:pt x="796269" y="5489687"/>
                  </a:lnTo>
                  <a:lnTo>
                    <a:pt x="827172" y="5527822"/>
                  </a:lnTo>
                </a:path>
              </a:pathLst>
            </a:custGeom>
            <a:ln w="17831">
              <a:solidFill>
                <a:srgbClr val="41A5F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0763422" y="1394978"/>
              <a:ext cx="648970" cy="4940300"/>
            </a:xfrm>
            <a:custGeom>
              <a:avLst/>
              <a:gdLst/>
              <a:ahLst/>
              <a:cxnLst/>
              <a:rect l="l" t="t" r="r" b="b"/>
              <a:pathLst>
                <a:path w="648970" h="4940300">
                  <a:moveTo>
                    <a:pt x="648855" y="0"/>
                  </a:moveTo>
                  <a:lnTo>
                    <a:pt x="612044" y="62568"/>
                  </a:lnTo>
                  <a:lnTo>
                    <a:pt x="589008" y="101333"/>
                  </a:lnTo>
                  <a:lnTo>
                    <a:pt x="565859" y="140097"/>
                  </a:lnTo>
                  <a:lnTo>
                    <a:pt x="542636" y="178862"/>
                  </a:lnTo>
                  <a:lnTo>
                    <a:pt x="519381" y="217626"/>
                  </a:lnTo>
                  <a:lnTo>
                    <a:pt x="496134" y="256391"/>
                  </a:lnTo>
                  <a:lnTo>
                    <a:pt x="472936" y="295155"/>
                  </a:lnTo>
                  <a:lnTo>
                    <a:pt x="449827" y="333920"/>
                  </a:lnTo>
                  <a:lnTo>
                    <a:pt x="426849" y="372684"/>
                  </a:lnTo>
                  <a:lnTo>
                    <a:pt x="404042" y="411449"/>
                  </a:lnTo>
                  <a:lnTo>
                    <a:pt x="381446" y="450213"/>
                  </a:lnTo>
                  <a:lnTo>
                    <a:pt x="359103" y="488978"/>
                  </a:lnTo>
                  <a:lnTo>
                    <a:pt x="337053" y="527742"/>
                  </a:lnTo>
                  <a:lnTo>
                    <a:pt x="315336" y="566507"/>
                  </a:lnTo>
                  <a:lnTo>
                    <a:pt x="293994" y="605272"/>
                  </a:lnTo>
                  <a:lnTo>
                    <a:pt x="273068" y="644036"/>
                  </a:lnTo>
                  <a:lnTo>
                    <a:pt x="252597" y="682801"/>
                  </a:lnTo>
                  <a:lnTo>
                    <a:pt x="232623" y="721565"/>
                  </a:lnTo>
                  <a:lnTo>
                    <a:pt x="213187" y="760330"/>
                  </a:lnTo>
                  <a:lnTo>
                    <a:pt x="194328" y="799094"/>
                  </a:lnTo>
                  <a:lnTo>
                    <a:pt x="176089" y="837859"/>
                  </a:lnTo>
                  <a:lnTo>
                    <a:pt x="158509" y="876623"/>
                  </a:lnTo>
                  <a:lnTo>
                    <a:pt x="141629" y="915388"/>
                  </a:lnTo>
                  <a:lnTo>
                    <a:pt x="125490" y="954152"/>
                  </a:lnTo>
                  <a:lnTo>
                    <a:pt x="110132" y="992917"/>
                  </a:lnTo>
                  <a:lnTo>
                    <a:pt x="95597" y="1031681"/>
                  </a:lnTo>
                  <a:lnTo>
                    <a:pt x="81925" y="1070446"/>
                  </a:lnTo>
                  <a:lnTo>
                    <a:pt x="69157" y="1109210"/>
                  </a:lnTo>
                  <a:lnTo>
                    <a:pt x="57333" y="1147975"/>
                  </a:lnTo>
                  <a:lnTo>
                    <a:pt x="46495" y="1186739"/>
                  </a:lnTo>
                  <a:lnTo>
                    <a:pt x="36682" y="1225504"/>
                  </a:lnTo>
                  <a:lnTo>
                    <a:pt x="27936" y="1264269"/>
                  </a:lnTo>
                  <a:lnTo>
                    <a:pt x="20298" y="1303033"/>
                  </a:lnTo>
                  <a:lnTo>
                    <a:pt x="13807" y="1341798"/>
                  </a:lnTo>
                  <a:lnTo>
                    <a:pt x="8505" y="1380562"/>
                  </a:lnTo>
                  <a:lnTo>
                    <a:pt x="4433" y="1419327"/>
                  </a:lnTo>
                  <a:lnTo>
                    <a:pt x="1631" y="1458091"/>
                  </a:lnTo>
                  <a:lnTo>
                    <a:pt x="139" y="1496856"/>
                  </a:lnTo>
                  <a:lnTo>
                    <a:pt x="0" y="1535620"/>
                  </a:lnTo>
                  <a:lnTo>
                    <a:pt x="1252" y="1574385"/>
                  </a:lnTo>
                  <a:lnTo>
                    <a:pt x="3938" y="1613149"/>
                  </a:lnTo>
                  <a:lnTo>
                    <a:pt x="8097" y="1651914"/>
                  </a:lnTo>
                  <a:lnTo>
                    <a:pt x="13771" y="1690678"/>
                  </a:lnTo>
                  <a:lnTo>
                    <a:pt x="20999" y="1729443"/>
                  </a:lnTo>
                  <a:lnTo>
                    <a:pt x="29824" y="1768207"/>
                  </a:lnTo>
                  <a:lnTo>
                    <a:pt x="40285" y="1806972"/>
                  </a:lnTo>
                  <a:lnTo>
                    <a:pt x="52424" y="1845737"/>
                  </a:lnTo>
                  <a:lnTo>
                    <a:pt x="66280" y="1884501"/>
                  </a:lnTo>
                  <a:lnTo>
                    <a:pt x="81895" y="1923266"/>
                  </a:lnTo>
                  <a:lnTo>
                    <a:pt x="99310" y="1962030"/>
                  </a:lnTo>
                  <a:lnTo>
                    <a:pt x="118565" y="2000795"/>
                  </a:lnTo>
                  <a:lnTo>
                    <a:pt x="139700" y="2039559"/>
                  </a:lnTo>
                  <a:lnTo>
                    <a:pt x="162757" y="2078324"/>
                  </a:lnTo>
                  <a:lnTo>
                    <a:pt x="187777" y="2117088"/>
                  </a:lnTo>
                  <a:lnTo>
                    <a:pt x="214799" y="2155853"/>
                  </a:lnTo>
                  <a:lnTo>
                    <a:pt x="243865" y="2194617"/>
                  </a:lnTo>
                  <a:lnTo>
                    <a:pt x="275015" y="2233382"/>
                  </a:lnTo>
                  <a:lnTo>
                    <a:pt x="308291" y="2272146"/>
                  </a:lnTo>
                  <a:lnTo>
                    <a:pt x="343732" y="2310911"/>
                  </a:lnTo>
                  <a:lnTo>
                    <a:pt x="381379" y="2349675"/>
                  </a:lnTo>
                  <a:lnTo>
                    <a:pt x="412282" y="2381518"/>
                  </a:lnTo>
                  <a:lnTo>
                    <a:pt x="441333" y="2413362"/>
                  </a:lnTo>
                  <a:lnTo>
                    <a:pt x="468580" y="2445210"/>
                  </a:lnTo>
                  <a:lnTo>
                    <a:pt x="494067" y="2477064"/>
                  </a:lnTo>
                  <a:lnTo>
                    <a:pt x="517839" y="2508925"/>
                  </a:lnTo>
                  <a:lnTo>
                    <a:pt x="539941" y="2540794"/>
                  </a:lnTo>
                  <a:lnTo>
                    <a:pt x="579317" y="2604568"/>
                  </a:lnTo>
                  <a:lnTo>
                    <a:pt x="612555" y="2668399"/>
                  </a:lnTo>
                  <a:lnTo>
                    <a:pt x="640017" y="2732303"/>
                  </a:lnTo>
                  <a:lnTo>
                    <a:pt x="648855" y="2756508"/>
                  </a:lnTo>
                </a:path>
                <a:path w="648970" h="4940300">
                  <a:moveTo>
                    <a:pt x="648855" y="3517118"/>
                  </a:moveTo>
                  <a:lnTo>
                    <a:pt x="635636" y="3576191"/>
                  </a:lnTo>
                  <a:lnTo>
                    <a:pt x="620137" y="3642622"/>
                  </a:lnTo>
                  <a:lnTo>
                    <a:pt x="604276" y="3709341"/>
                  </a:lnTo>
                  <a:lnTo>
                    <a:pt x="596322" y="3742814"/>
                  </a:lnTo>
                  <a:lnTo>
                    <a:pt x="580597" y="3809994"/>
                  </a:lnTo>
                  <a:lnTo>
                    <a:pt x="565413" y="3877499"/>
                  </a:lnTo>
                  <a:lnTo>
                    <a:pt x="551131" y="3945343"/>
                  </a:lnTo>
                  <a:lnTo>
                    <a:pt x="538113" y="4013541"/>
                  </a:lnTo>
                  <a:lnTo>
                    <a:pt x="526720" y="4082107"/>
                  </a:lnTo>
                  <a:lnTo>
                    <a:pt x="517312" y="4151056"/>
                  </a:lnTo>
                  <a:lnTo>
                    <a:pt x="510251" y="4220402"/>
                  </a:lnTo>
                  <a:lnTo>
                    <a:pt x="505898" y="4290160"/>
                  </a:lnTo>
                  <a:lnTo>
                    <a:pt x="504613" y="4360343"/>
                  </a:lnTo>
                  <a:lnTo>
                    <a:pt x="505235" y="4395599"/>
                  </a:lnTo>
                  <a:lnTo>
                    <a:pt x="509230" y="4466449"/>
                  </a:lnTo>
                  <a:lnTo>
                    <a:pt x="517197" y="4537761"/>
                  </a:lnTo>
                  <a:lnTo>
                    <a:pt x="529495" y="4609549"/>
                  </a:lnTo>
                  <a:lnTo>
                    <a:pt x="546488" y="4681829"/>
                  </a:lnTo>
                  <a:lnTo>
                    <a:pt x="568534" y="4754613"/>
                  </a:lnTo>
                  <a:lnTo>
                    <a:pt x="581566" y="4791200"/>
                  </a:lnTo>
                  <a:lnTo>
                    <a:pt x="595996" y="4827918"/>
                  </a:lnTo>
                  <a:lnTo>
                    <a:pt x="611871" y="4864770"/>
                  </a:lnTo>
                  <a:lnTo>
                    <a:pt x="629234" y="4901757"/>
                  </a:lnTo>
                  <a:lnTo>
                    <a:pt x="648132" y="4938881"/>
                  </a:lnTo>
                  <a:lnTo>
                    <a:pt x="648855" y="4940196"/>
                  </a:lnTo>
                </a:path>
              </a:pathLst>
            </a:custGeom>
            <a:ln w="17831">
              <a:solidFill>
                <a:srgbClr val="4DB5A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$PPTXTitle"/>
          <p:cNvSpPr txBox="1">
            <a:spLocks noGrp="1"/>
          </p:cNvSpPr>
          <p:nvPr>
            <p:ph type="title"/>
          </p:nvPr>
        </p:nvSpPr>
        <p:spPr>
          <a:xfrm>
            <a:off x="1235517" y="2314334"/>
            <a:ext cx="4214495" cy="79629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5050" spc="400"/>
              <a:t>Automa</a:t>
            </a:r>
            <a:r>
              <a:rPr dirty="0" sz="5050" spc="400">
                <a:solidFill>
                  <a:srgbClr val="41A5F5"/>
                </a:solidFill>
              </a:rPr>
              <a:t>spec</a:t>
            </a:r>
            <a:endParaRPr sz="5050"/>
          </a:p>
        </p:txBody>
      </p:sp>
      <p:sp>
        <p:nvSpPr>
          <p:cNvPr id="15" name="object 15"/>
          <p:cNvSpPr txBox="1"/>
          <p:nvPr/>
        </p:nvSpPr>
        <p:spPr>
          <a:xfrm>
            <a:off x="1235517" y="3393151"/>
            <a:ext cx="5547995" cy="3683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50">
                <a:solidFill>
                  <a:srgbClr val="747474"/>
                </a:solidFill>
                <a:latin typeface="Lucida Sans Unicode"/>
                <a:cs typeface="Lucida Sans Unicode"/>
              </a:rPr>
              <a:t>From</a:t>
            </a:r>
            <a:r>
              <a:rPr dirty="0" sz="2250" spc="-110">
                <a:solidFill>
                  <a:srgbClr val="747474"/>
                </a:solidFill>
                <a:latin typeface="Lucida Sans Unicode"/>
                <a:cs typeface="Lucida Sans Unicode"/>
              </a:rPr>
              <a:t> </a:t>
            </a:r>
            <a:r>
              <a:rPr dirty="0" sz="2250">
                <a:solidFill>
                  <a:srgbClr val="747474"/>
                </a:solidFill>
                <a:latin typeface="Lucida Sans Unicode"/>
                <a:cs typeface="Lucida Sans Unicode"/>
              </a:rPr>
              <a:t>test</a:t>
            </a:r>
            <a:r>
              <a:rPr dirty="0" sz="2250" spc="-105">
                <a:solidFill>
                  <a:srgbClr val="747474"/>
                </a:solidFill>
                <a:latin typeface="Lucida Sans Unicode"/>
                <a:cs typeface="Lucida Sans Unicode"/>
              </a:rPr>
              <a:t> </a:t>
            </a:r>
            <a:r>
              <a:rPr dirty="0" sz="2250" spc="-20">
                <a:solidFill>
                  <a:srgbClr val="747474"/>
                </a:solidFill>
                <a:latin typeface="Lucida Sans Unicode"/>
                <a:cs typeface="Lucida Sans Unicode"/>
              </a:rPr>
              <a:t>results</a:t>
            </a:r>
            <a:r>
              <a:rPr dirty="0" sz="2250" spc="-105">
                <a:solidFill>
                  <a:srgbClr val="747474"/>
                </a:solidFill>
                <a:latin typeface="Lucida Sans Unicode"/>
                <a:cs typeface="Lucida Sans Unicode"/>
              </a:rPr>
              <a:t> </a:t>
            </a:r>
            <a:r>
              <a:rPr dirty="0" sz="2250">
                <a:solidFill>
                  <a:srgbClr val="747474"/>
                </a:solidFill>
                <a:latin typeface="Lucida Sans Unicode"/>
                <a:cs typeface="Lucida Sans Unicode"/>
              </a:rPr>
              <a:t>to</a:t>
            </a:r>
            <a:r>
              <a:rPr dirty="0" sz="2250" spc="-110">
                <a:solidFill>
                  <a:srgbClr val="747474"/>
                </a:solidFill>
                <a:latin typeface="Lucida Sans Unicode"/>
                <a:cs typeface="Lucida Sans Unicode"/>
              </a:rPr>
              <a:t> </a:t>
            </a:r>
            <a:r>
              <a:rPr dirty="0" sz="2250" spc="-30">
                <a:solidFill>
                  <a:srgbClr val="747474"/>
                </a:solidFill>
                <a:latin typeface="Lucida Sans Unicode"/>
                <a:cs typeface="Lucida Sans Unicode"/>
              </a:rPr>
              <a:t>living</a:t>
            </a:r>
            <a:r>
              <a:rPr dirty="0" sz="2250" spc="-105">
                <a:solidFill>
                  <a:srgbClr val="747474"/>
                </a:solidFill>
                <a:latin typeface="Lucida Sans Unicode"/>
                <a:cs typeface="Lucida Sans Unicode"/>
              </a:rPr>
              <a:t> </a:t>
            </a:r>
            <a:r>
              <a:rPr dirty="0" sz="2250" spc="-10">
                <a:solidFill>
                  <a:srgbClr val="747474"/>
                </a:solidFill>
                <a:latin typeface="Lucida Sans Unicode"/>
                <a:cs typeface="Lucida Sans Unicode"/>
              </a:rPr>
              <a:t>specifications</a:t>
            </a:r>
            <a:endParaRPr sz="2250">
              <a:latin typeface="Lucida Sans Unicode"/>
              <a:cs typeface="Lucida Sans Unicode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35517" y="4195676"/>
            <a:ext cx="5348605" cy="5073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2799"/>
              </a:lnSpc>
              <a:spcBef>
                <a:spcPts val="95"/>
              </a:spcBef>
            </a:pPr>
            <a:r>
              <a:rPr dirty="0" sz="1400" spc="-80">
                <a:solidFill>
                  <a:srgbClr val="414141"/>
                </a:solidFill>
                <a:latin typeface="Microsoft Sans Serif"/>
                <a:cs typeface="Microsoft Sans Serif"/>
              </a:rPr>
              <a:t>One</a:t>
            </a:r>
            <a:r>
              <a:rPr dirty="0" sz="1400" spc="-20">
                <a:solidFill>
                  <a:srgbClr val="414141"/>
                </a:solidFill>
                <a:latin typeface="Microsoft Sans Serif"/>
                <a:cs typeface="Microsoft Sans Serif"/>
              </a:rPr>
              <a:t> workspace</a:t>
            </a:r>
            <a:r>
              <a:rPr dirty="0" sz="1400" spc="-60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414141"/>
                </a:solidFill>
                <a:latin typeface="Microsoft Sans Serif"/>
                <a:cs typeface="Microsoft Sans Serif"/>
              </a:rPr>
              <a:t>to</a:t>
            </a:r>
            <a:r>
              <a:rPr dirty="0" sz="1400" spc="-30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10">
                <a:solidFill>
                  <a:srgbClr val="414141"/>
                </a:solidFill>
                <a:latin typeface="Microsoft Sans Serif"/>
                <a:cs typeface="Microsoft Sans Serif"/>
              </a:rPr>
              <a:t>link</a:t>
            </a:r>
            <a:r>
              <a:rPr dirty="0" sz="1400" spc="-35">
                <a:solidFill>
                  <a:srgbClr val="414141"/>
                </a:solidFill>
                <a:latin typeface="Microsoft Sans Serif"/>
                <a:cs typeface="Microsoft Sans Serif"/>
              </a:rPr>
              <a:t> requirements</a:t>
            </a:r>
            <a:r>
              <a:rPr dirty="0" sz="1400" spc="-30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414141"/>
                </a:solidFill>
                <a:latin typeface="Microsoft Sans Serif"/>
                <a:cs typeface="Microsoft Sans Serif"/>
              </a:rPr>
              <a:t>to</a:t>
            </a:r>
            <a:r>
              <a:rPr dirty="0" sz="1400" spc="-35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30">
                <a:solidFill>
                  <a:srgbClr val="414141"/>
                </a:solidFill>
                <a:latin typeface="Microsoft Sans Serif"/>
                <a:cs typeface="Microsoft Sans Serif"/>
              </a:rPr>
              <a:t>real </a:t>
            </a:r>
            <a:r>
              <a:rPr dirty="0" sz="1400" spc="-20">
                <a:solidFill>
                  <a:srgbClr val="414141"/>
                </a:solidFill>
                <a:latin typeface="Microsoft Sans Serif"/>
                <a:cs typeface="Microsoft Sans Serif"/>
              </a:rPr>
              <a:t>tests</a:t>
            </a:r>
            <a:r>
              <a:rPr dirty="0" sz="1400" spc="-30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35">
                <a:solidFill>
                  <a:srgbClr val="414141"/>
                </a:solidFill>
                <a:latin typeface="Microsoft Sans Serif"/>
                <a:cs typeface="Microsoft Sans Serif"/>
              </a:rPr>
              <a:t>and </a:t>
            </a:r>
            <a:r>
              <a:rPr dirty="0" sz="1400" spc="-40">
                <a:solidFill>
                  <a:srgbClr val="414141"/>
                </a:solidFill>
                <a:latin typeface="Microsoft Sans Serif"/>
                <a:cs typeface="Microsoft Sans Serif"/>
              </a:rPr>
              <a:t>see</a:t>
            </a:r>
            <a:r>
              <a:rPr dirty="0" sz="1400" spc="-30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20">
                <a:solidFill>
                  <a:srgbClr val="414141"/>
                </a:solidFill>
                <a:latin typeface="Microsoft Sans Serif"/>
                <a:cs typeface="Microsoft Sans Serif"/>
              </a:rPr>
              <a:t>live</a:t>
            </a:r>
            <a:r>
              <a:rPr dirty="0" sz="1400" spc="-35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80">
                <a:solidFill>
                  <a:srgbClr val="414141"/>
                </a:solidFill>
                <a:latin typeface="Microsoft Sans Serif"/>
                <a:cs typeface="Microsoft Sans Serif"/>
              </a:rPr>
              <a:t>CI</a:t>
            </a:r>
            <a:r>
              <a:rPr dirty="0" sz="1400" spc="-20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10">
                <a:solidFill>
                  <a:srgbClr val="414141"/>
                </a:solidFill>
                <a:latin typeface="Microsoft Sans Serif"/>
                <a:cs typeface="Microsoft Sans Serif"/>
              </a:rPr>
              <a:t>status </a:t>
            </a:r>
            <a:r>
              <a:rPr dirty="0" sz="1400">
                <a:solidFill>
                  <a:srgbClr val="414141"/>
                </a:solidFill>
                <a:latin typeface="Microsoft Sans Serif"/>
                <a:cs typeface="Microsoft Sans Serif"/>
              </a:rPr>
              <a:t>by</a:t>
            </a:r>
            <a:r>
              <a:rPr dirty="0" sz="1400" spc="-55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10">
                <a:solidFill>
                  <a:srgbClr val="414141"/>
                </a:solidFill>
                <a:latin typeface="Microsoft Sans Serif"/>
                <a:cs typeface="Microsoft Sans Serif"/>
              </a:rPr>
              <a:t>requirement</a:t>
            </a:r>
            <a:endParaRPr sz="1400">
              <a:latin typeface="Microsoft Sans Serif"/>
              <a:cs typeface="Microsoft Sans Serif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285367" y="5087973"/>
            <a:ext cx="5459730" cy="149225"/>
            <a:chOff x="1285367" y="5087973"/>
            <a:chExt cx="5459730" cy="149225"/>
          </a:xfrm>
        </p:grpSpPr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85367" y="5110263"/>
              <a:ext cx="104018" cy="118877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706078" y="5095403"/>
              <a:ext cx="163457" cy="133737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611097" y="5087973"/>
              <a:ext cx="133737" cy="148597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1485161" y="5044125"/>
            <a:ext cx="3051175" cy="2165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990215" algn="l"/>
              </a:tabLst>
            </a:pPr>
            <a:r>
              <a:rPr dirty="0" sz="1250" spc="-90">
                <a:solidFill>
                  <a:srgbClr val="616161"/>
                </a:solidFill>
                <a:latin typeface="Microsoft Sans Serif"/>
                <a:cs typeface="Microsoft Sans Serif"/>
              </a:rPr>
              <a:t>Roman</a:t>
            </a:r>
            <a:r>
              <a:rPr dirty="0" sz="1250" spc="-10">
                <a:solidFill>
                  <a:srgbClr val="616161"/>
                </a:solidFill>
                <a:latin typeface="Microsoft Sans Serif"/>
                <a:cs typeface="Microsoft Sans Serif"/>
              </a:rPr>
              <a:t> </a:t>
            </a:r>
            <a:r>
              <a:rPr dirty="0" sz="1250" spc="-50">
                <a:solidFill>
                  <a:srgbClr val="616161"/>
                </a:solidFill>
                <a:latin typeface="Microsoft Sans Serif"/>
                <a:cs typeface="Microsoft Sans Serif"/>
              </a:rPr>
              <a:t>Radchenko</a:t>
            </a:r>
            <a:r>
              <a:rPr dirty="0" sz="1250" spc="-10">
                <a:solidFill>
                  <a:srgbClr val="616161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616161"/>
                </a:solidFill>
                <a:latin typeface="Lucida Sans"/>
                <a:cs typeface="Lucida Sans"/>
              </a:rPr>
              <a:t>+</a:t>
            </a:r>
            <a:r>
              <a:rPr dirty="0" sz="1200" spc="-55">
                <a:solidFill>
                  <a:srgbClr val="616161"/>
                </a:solidFill>
                <a:latin typeface="Lucida Sans"/>
                <a:cs typeface="Lucida Sans"/>
              </a:rPr>
              <a:t> </a:t>
            </a:r>
            <a:r>
              <a:rPr dirty="0" sz="1250" spc="-35">
                <a:solidFill>
                  <a:srgbClr val="616161"/>
                </a:solidFill>
                <a:latin typeface="Microsoft Sans Serif"/>
                <a:cs typeface="Microsoft Sans Serif"/>
              </a:rPr>
              <a:t>Aliaksandr</a:t>
            </a:r>
            <a:r>
              <a:rPr dirty="0" sz="1250" spc="-10">
                <a:solidFill>
                  <a:srgbClr val="616161"/>
                </a:solidFill>
                <a:latin typeface="Microsoft Sans Serif"/>
                <a:cs typeface="Microsoft Sans Serif"/>
              </a:rPr>
              <a:t> Samatyia</a:t>
            </a:r>
            <a:r>
              <a:rPr dirty="0" sz="1250">
                <a:solidFill>
                  <a:srgbClr val="616161"/>
                </a:solidFill>
                <a:latin typeface="Microsoft Sans Serif"/>
                <a:cs typeface="Microsoft Sans Serif"/>
              </a:rPr>
              <a:t>	</a:t>
            </a:r>
            <a:r>
              <a:rPr dirty="0" sz="1200" spc="5">
                <a:solidFill>
                  <a:srgbClr val="616161"/>
                </a:solidFill>
                <a:latin typeface="Lucida Sans"/>
                <a:cs typeface="Lucida Sans"/>
              </a:rPr>
              <a:t>|</a:t>
            </a:r>
            <a:endParaRPr sz="1200">
              <a:latin typeface="Lucida Sans"/>
              <a:cs typeface="Lucida San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938517" y="5044125"/>
            <a:ext cx="1483360" cy="2165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22400" algn="l"/>
              </a:tabLst>
            </a:pPr>
            <a:r>
              <a:rPr dirty="0" sz="1250" spc="-60">
                <a:solidFill>
                  <a:srgbClr val="616161"/>
                </a:solidFill>
                <a:latin typeface="Microsoft Sans Serif"/>
                <a:cs typeface="Microsoft Sans Serif"/>
              </a:rPr>
              <a:t>Volha</a:t>
            </a:r>
            <a:r>
              <a:rPr dirty="0" sz="1250" spc="5">
                <a:solidFill>
                  <a:srgbClr val="616161"/>
                </a:solidFill>
                <a:latin typeface="Microsoft Sans Serif"/>
                <a:cs typeface="Microsoft Sans Serif"/>
              </a:rPr>
              <a:t> </a:t>
            </a:r>
            <a:r>
              <a:rPr dirty="0" sz="1250" spc="-10">
                <a:solidFill>
                  <a:srgbClr val="616161"/>
                </a:solidFill>
                <a:latin typeface="Microsoft Sans Serif"/>
                <a:cs typeface="Microsoft Sans Serif"/>
              </a:rPr>
              <a:t>Kuzniatsova</a:t>
            </a:r>
            <a:r>
              <a:rPr dirty="0" sz="1250">
                <a:solidFill>
                  <a:srgbClr val="616161"/>
                </a:solidFill>
                <a:latin typeface="Microsoft Sans Serif"/>
                <a:cs typeface="Microsoft Sans Serif"/>
              </a:rPr>
              <a:t>	</a:t>
            </a:r>
            <a:r>
              <a:rPr dirty="0" sz="1200" spc="5">
                <a:solidFill>
                  <a:srgbClr val="616161"/>
                </a:solidFill>
                <a:latin typeface="Lucida Sans"/>
                <a:cs typeface="Lucida Sans"/>
              </a:rPr>
              <a:t>|</a:t>
            </a:r>
            <a:endParaRPr sz="1200">
              <a:latin typeface="Lucida Sans"/>
              <a:cs typeface="Lucida San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824218" y="5044125"/>
            <a:ext cx="1108710" cy="2165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 spc="-20">
                <a:solidFill>
                  <a:srgbClr val="616161"/>
                </a:solidFill>
                <a:latin typeface="Microsoft Sans Serif"/>
                <a:cs typeface="Microsoft Sans Serif"/>
              </a:rPr>
              <a:t>January</a:t>
            </a:r>
            <a:r>
              <a:rPr dirty="0" sz="1250" spc="-35">
                <a:solidFill>
                  <a:srgbClr val="616161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-175">
                <a:solidFill>
                  <a:srgbClr val="616161"/>
                </a:solidFill>
                <a:latin typeface="Lucida Sans"/>
                <a:cs typeface="Lucida Sans"/>
              </a:rPr>
              <a:t>7,</a:t>
            </a:r>
            <a:r>
              <a:rPr dirty="0" sz="1200" spc="-65">
                <a:solidFill>
                  <a:srgbClr val="616161"/>
                </a:solidFill>
                <a:latin typeface="Lucida Sans"/>
                <a:cs typeface="Lucida Sans"/>
              </a:rPr>
              <a:t> </a:t>
            </a:r>
            <a:r>
              <a:rPr dirty="0" sz="1200" spc="-55">
                <a:solidFill>
                  <a:srgbClr val="616161"/>
                </a:solidFill>
                <a:latin typeface="Lucida Sans"/>
                <a:cs typeface="Lucida Sans"/>
              </a:rPr>
              <a:t>2026</a:t>
            </a:r>
            <a:endParaRPr sz="1200">
              <a:latin typeface="Lucida Sans"/>
              <a:cs typeface="Lucida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999" y="152400"/>
            <a:ext cx="57150" cy="714375"/>
          </a:xfrm>
          <a:custGeom>
            <a:avLst/>
            <a:gdLst/>
            <a:ahLst/>
            <a:cxnLst/>
            <a:rect l="l" t="t" r="r" b="b"/>
            <a:pathLst>
              <a:path w="57150" h="714375">
                <a:moveTo>
                  <a:pt x="32364" y="714374"/>
                </a:moveTo>
                <a:lnTo>
                  <a:pt x="24785" y="714374"/>
                </a:lnTo>
                <a:lnTo>
                  <a:pt x="21140" y="713649"/>
                </a:lnTo>
                <a:lnTo>
                  <a:pt x="0" y="689589"/>
                </a:lnTo>
                <a:lnTo>
                  <a:pt x="0" y="685799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49" y="24785"/>
                </a:lnTo>
                <a:lnTo>
                  <a:pt x="57149" y="689589"/>
                </a:lnTo>
                <a:lnTo>
                  <a:pt x="36009" y="713649"/>
                </a:lnTo>
                <a:lnTo>
                  <a:pt x="32364" y="714374"/>
                </a:lnTo>
                <a:close/>
              </a:path>
            </a:pathLst>
          </a:custGeom>
          <a:solidFill>
            <a:srgbClr val="41A5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044575" y="349250"/>
            <a:ext cx="147955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185" b="1">
                <a:solidFill>
                  <a:srgbClr val="4DB5AB"/>
                </a:solidFill>
                <a:latin typeface="Arial Narrow"/>
                <a:cs typeface="Arial Narrow"/>
              </a:rPr>
              <a:t>THE</a:t>
            </a:r>
            <a:r>
              <a:rPr dirty="0" sz="1500" spc="315" b="1">
                <a:solidFill>
                  <a:srgbClr val="4DB5AB"/>
                </a:solidFill>
                <a:latin typeface="Arial Narrow"/>
                <a:cs typeface="Arial Narrow"/>
              </a:rPr>
              <a:t> </a:t>
            </a:r>
            <a:r>
              <a:rPr dirty="0" sz="1500" spc="210" b="1">
                <a:solidFill>
                  <a:srgbClr val="4DB5AB"/>
                </a:solidFill>
                <a:latin typeface="Arial Narrow"/>
                <a:cs typeface="Arial Narrow"/>
              </a:rPr>
              <a:t>PROBLEM</a:t>
            </a:r>
            <a:endParaRPr sz="1500">
              <a:latin typeface="Arial Narrow"/>
              <a:cs typeface="Arial Narrow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044575" y="911225"/>
            <a:ext cx="409956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395"/>
              <a:t>Why</a:t>
            </a:r>
            <a:r>
              <a:rPr dirty="0" spc="-310"/>
              <a:t> </a:t>
            </a:r>
            <a:r>
              <a:rPr dirty="0" spc="150"/>
              <a:t>This</a:t>
            </a:r>
            <a:r>
              <a:rPr dirty="0" spc="-310"/>
              <a:t> </a:t>
            </a:r>
            <a:r>
              <a:rPr dirty="0" spc="235"/>
              <a:t>Matters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761999" y="2171699"/>
            <a:ext cx="5181600" cy="1333500"/>
            <a:chOff x="761999" y="2171699"/>
            <a:chExt cx="5181600" cy="1333500"/>
          </a:xfrm>
        </p:grpSpPr>
        <p:sp>
          <p:nvSpPr>
            <p:cNvPr id="6" name="object 6"/>
            <p:cNvSpPr/>
            <p:nvPr/>
          </p:nvSpPr>
          <p:spPr>
            <a:xfrm>
              <a:off x="781049" y="2171699"/>
              <a:ext cx="5162550" cy="1333500"/>
            </a:xfrm>
            <a:custGeom>
              <a:avLst/>
              <a:gdLst/>
              <a:ahLst/>
              <a:cxnLst/>
              <a:rect l="l" t="t" r="r" b="b"/>
              <a:pathLst>
                <a:path w="5162550" h="1333500">
                  <a:moveTo>
                    <a:pt x="5091352" y="1333499"/>
                  </a:moveTo>
                  <a:lnTo>
                    <a:pt x="0" y="1333499"/>
                  </a:lnTo>
                  <a:lnTo>
                    <a:pt x="0" y="0"/>
                  </a:lnTo>
                  <a:lnTo>
                    <a:pt x="5091352" y="0"/>
                  </a:lnTo>
                  <a:lnTo>
                    <a:pt x="5096307" y="488"/>
                  </a:lnTo>
                  <a:lnTo>
                    <a:pt x="5132843" y="15621"/>
                  </a:lnTo>
                  <a:lnTo>
                    <a:pt x="5158663" y="51661"/>
                  </a:lnTo>
                  <a:lnTo>
                    <a:pt x="5162549" y="71196"/>
                  </a:lnTo>
                  <a:lnTo>
                    <a:pt x="5162549" y="1262303"/>
                  </a:lnTo>
                  <a:lnTo>
                    <a:pt x="5146927" y="1303794"/>
                  </a:lnTo>
                  <a:lnTo>
                    <a:pt x="5110887" y="1329614"/>
                  </a:lnTo>
                  <a:lnTo>
                    <a:pt x="5091352" y="1333499"/>
                  </a:lnTo>
                  <a:close/>
                </a:path>
              </a:pathLst>
            </a:custGeom>
            <a:solidFill>
              <a:srgbClr val="F0F6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761999" y="2171699"/>
              <a:ext cx="38100" cy="1333500"/>
            </a:xfrm>
            <a:custGeom>
              <a:avLst/>
              <a:gdLst/>
              <a:ahLst/>
              <a:cxnLst/>
              <a:rect l="l" t="t" r="r" b="b"/>
              <a:pathLst>
                <a:path w="38100" h="1333500">
                  <a:moveTo>
                    <a:pt x="38099" y="1333499"/>
                  </a:moveTo>
                  <a:lnTo>
                    <a:pt x="0" y="133349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1333499"/>
                  </a:lnTo>
                  <a:close/>
                </a:path>
              </a:pathLst>
            </a:custGeom>
            <a:solidFill>
              <a:srgbClr val="41A5F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1073150" y="2554734"/>
            <a:ext cx="4278630" cy="5283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5500"/>
              </a:lnSpc>
            </a:pPr>
            <a:r>
              <a:rPr dirty="0" sz="1600" spc="-150" b="1" i="1">
                <a:solidFill>
                  <a:srgbClr val="202020"/>
                </a:solidFill>
                <a:latin typeface="Rockwell"/>
                <a:cs typeface="Rockwell"/>
              </a:rPr>
              <a:t>"</a:t>
            </a:r>
            <a:r>
              <a:rPr dirty="0" sz="1550" spc="-150" b="1" i="1">
                <a:solidFill>
                  <a:srgbClr val="202020"/>
                </a:solidFill>
                <a:latin typeface="Arial"/>
                <a:cs typeface="Arial"/>
              </a:rPr>
              <a:t>You</a:t>
            </a:r>
            <a:r>
              <a:rPr dirty="0" sz="1550" spc="-95" b="1" i="1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dirty="0" sz="1550" spc="-100" b="1" i="1">
                <a:solidFill>
                  <a:srgbClr val="202020"/>
                </a:solidFill>
                <a:latin typeface="Arial"/>
                <a:cs typeface="Arial"/>
              </a:rPr>
              <a:t>ship</a:t>
            </a:r>
            <a:r>
              <a:rPr dirty="0" sz="1550" spc="-90" b="1" i="1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dirty="0" sz="1550" spc="-85" b="1" i="1">
                <a:solidFill>
                  <a:srgbClr val="202020"/>
                </a:solidFill>
                <a:latin typeface="Arial"/>
                <a:cs typeface="Arial"/>
              </a:rPr>
              <a:t>a</a:t>
            </a:r>
            <a:r>
              <a:rPr dirty="0" sz="1550" spc="-90" b="1" i="1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dirty="0" sz="1550" spc="-70" b="1" i="1">
                <a:solidFill>
                  <a:srgbClr val="202020"/>
                </a:solidFill>
                <a:latin typeface="Arial"/>
                <a:cs typeface="Arial"/>
              </a:rPr>
              <a:t>feature</a:t>
            </a:r>
            <a:r>
              <a:rPr dirty="0" sz="1600" spc="-70" b="1" i="1">
                <a:solidFill>
                  <a:srgbClr val="202020"/>
                </a:solidFill>
                <a:latin typeface="Rockwell"/>
                <a:cs typeface="Rockwell"/>
              </a:rPr>
              <a:t>,</a:t>
            </a:r>
            <a:r>
              <a:rPr dirty="0" sz="1600" spc="-105" b="1" i="1">
                <a:solidFill>
                  <a:srgbClr val="202020"/>
                </a:solidFill>
                <a:latin typeface="Rockwell"/>
                <a:cs typeface="Rockwell"/>
              </a:rPr>
              <a:t> </a:t>
            </a:r>
            <a:r>
              <a:rPr dirty="0" sz="1550" spc="-95" b="1" i="1">
                <a:solidFill>
                  <a:srgbClr val="202020"/>
                </a:solidFill>
                <a:latin typeface="Arial"/>
                <a:cs typeface="Arial"/>
              </a:rPr>
              <a:t>CI</a:t>
            </a:r>
            <a:r>
              <a:rPr dirty="0" sz="1550" spc="-90" b="1" i="1">
                <a:solidFill>
                  <a:srgbClr val="202020"/>
                </a:solidFill>
                <a:latin typeface="Arial"/>
                <a:cs typeface="Arial"/>
              </a:rPr>
              <a:t> is green</a:t>
            </a:r>
            <a:r>
              <a:rPr dirty="0" sz="1550" spc="-95" b="1" i="1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dirty="0" sz="1600" spc="-260" b="1" i="1">
                <a:solidFill>
                  <a:srgbClr val="202020"/>
                </a:solidFill>
                <a:latin typeface="Rockwell"/>
                <a:cs typeface="Rockwell"/>
              </a:rPr>
              <a:t>—</a:t>
            </a:r>
            <a:r>
              <a:rPr dirty="0" sz="1600" spc="-60" b="1" i="1">
                <a:solidFill>
                  <a:srgbClr val="202020"/>
                </a:solidFill>
                <a:latin typeface="Rockwell"/>
                <a:cs typeface="Rockwell"/>
              </a:rPr>
              <a:t> </a:t>
            </a:r>
            <a:r>
              <a:rPr dirty="0" sz="1550" spc="-100" b="1" i="1">
                <a:solidFill>
                  <a:srgbClr val="202020"/>
                </a:solidFill>
                <a:latin typeface="Arial"/>
                <a:cs typeface="Arial"/>
              </a:rPr>
              <a:t>and</a:t>
            </a:r>
            <a:r>
              <a:rPr dirty="0" sz="1550" spc="-90" b="1" i="1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dirty="0" sz="1550" spc="-70" b="1" i="1">
                <a:solidFill>
                  <a:srgbClr val="202020"/>
                </a:solidFill>
                <a:latin typeface="Arial"/>
                <a:cs typeface="Arial"/>
              </a:rPr>
              <a:t>the</a:t>
            </a:r>
            <a:r>
              <a:rPr dirty="0" sz="1550" spc="-90" b="1" i="1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dirty="0" sz="1550" spc="-110" b="1" i="1">
                <a:solidFill>
                  <a:srgbClr val="202020"/>
                </a:solidFill>
                <a:latin typeface="Arial"/>
                <a:cs typeface="Arial"/>
              </a:rPr>
              <a:t>PM</a:t>
            </a:r>
            <a:r>
              <a:rPr dirty="0" sz="1550" spc="-95" b="1" i="1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dirty="0" sz="1550" spc="-80" b="1" i="1">
                <a:solidFill>
                  <a:srgbClr val="202020"/>
                </a:solidFill>
                <a:latin typeface="Arial"/>
                <a:cs typeface="Arial"/>
              </a:rPr>
              <a:t>asks</a:t>
            </a:r>
            <a:r>
              <a:rPr dirty="0" sz="1600" spc="-80" b="1" i="1">
                <a:solidFill>
                  <a:srgbClr val="202020"/>
                </a:solidFill>
                <a:latin typeface="Rockwell"/>
                <a:cs typeface="Rockwell"/>
              </a:rPr>
              <a:t>:</a:t>
            </a:r>
            <a:r>
              <a:rPr dirty="0" sz="1600" spc="-80" b="1" i="1">
                <a:solidFill>
                  <a:srgbClr val="202020"/>
                </a:solidFill>
                <a:latin typeface="Rockwell"/>
                <a:cs typeface="Rockwell"/>
              </a:rPr>
              <a:t> </a:t>
            </a:r>
            <a:r>
              <a:rPr dirty="0" sz="1600" spc="-90" b="1" i="1">
                <a:solidFill>
                  <a:srgbClr val="202020"/>
                </a:solidFill>
                <a:latin typeface="Arial"/>
                <a:cs typeface="Arial"/>
              </a:rPr>
              <a:t>Are</a:t>
            </a:r>
            <a:r>
              <a:rPr dirty="0" sz="1600" spc="-135" b="1" i="1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dirty="0" sz="1600" spc="-65" b="1" i="1">
                <a:solidFill>
                  <a:srgbClr val="202020"/>
                </a:solidFill>
                <a:latin typeface="Arial"/>
                <a:cs typeface="Arial"/>
              </a:rPr>
              <a:t>all</a:t>
            </a:r>
            <a:r>
              <a:rPr dirty="0" sz="1600" spc="-135" b="1" i="1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dirty="0" sz="1600" spc="-90" b="1" i="1">
                <a:solidFill>
                  <a:srgbClr val="202020"/>
                </a:solidFill>
                <a:latin typeface="Arial"/>
                <a:cs typeface="Arial"/>
              </a:rPr>
              <a:t>requirements</a:t>
            </a:r>
            <a:r>
              <a:rPr dirty="0" sz="1600" spc="-130" b="1" i="1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dirty="0" sz="1600" spc="-65" b="1" i="1">
                <a:solidFill>
                  <a:srgbClr val="202020"/>
                </a:solidFill>
                <a:latin typeface="Arial"/>
                <a:cs typeface="Arial"/>
              </a:rPr>
              <a:t>actually</a:t>
            </a:r>
            <a:r>
              <a:rPr dirty="0" sz="1600" spc="-135" b="1" i="1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dirty="0" sz="1600" spc="-10" b="1" i="1">
                <a:solidFill>
                  <a:srgbClr val="202020"/>
                </a:solidFill>
                <a:latin typeface="Arial"/>
                <a:cs typeface="Arial"/>
              </a:rPr>
              <a:t>covered</a:t>
            </a:r>
            <a:r>
              <a:rPr dirty="0" sz="1500" spc="-10" b="1" i="1">
                <a:solidFill>
                  <a:srgbClr val="202020"/>
                </a:solidFill>
                <a:latin typeface="Courier New"/>
                <a:cs typeface="Courier New"/>
              </a:rPr>
              <a:t>?</a:t>
            </a:r>
            <a:r>
              <a:rPr dirty="0" sz="1600" spc="-10" b="1" i="1">
                <a:solidFill>
                  <a:srgbClr val="202020"/>
                </a:solidFill>
                <a:latin typeface="Rockwell"/>
                <a:cs typeface="Rockwell"/>
              </a:rPr>
              <a:t>"</a:t>
            </a:r>
            <a:endParaRPr sz="1600">
              <a:latin typeface="Rockwell"/>
              <a:cs typeface="Rockwel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61999" y="3886477"/>
            <a:ext cx="70485" cy="809625"/>
          </a:xfrm>
          <a:custGeom>
            <a:avLst/>
            <a:gdLst/>
            <a:ahLst/>
            <a:cxnLst/>
            <a:rect l="l" t="t" r="r" b="b"/>
            <a:pathLst>
              <a:path w="70484" h="809625">
                <a:moveTo>
                  <a:pt x="70450" y="809069"/>
                </a:moveTo>
                <a:lnTo>
                  <a:pt x="33857" y="796516"/>
                </a:lnTo>
                <a:lnTo>
                  <a:pt x="5800" y="762307"/>
                </a:lnTo>
                <a:lnTo>
                  <a:pt x="0" y="733147"/>
                </a:lnTo>
                <a:lnTo>
                  <a:pt x="0" y="75922"/>
                </a:lnTo>
                <a:lnTo>
                  <a:pt x="12830" y="33579"/>
                </a:lnTo>
                <a:lnTo>
                  <a:pt x="47039" y="5522"/>
                </a:lnTo>
                <a:lnTo>
                  <a:pt x="70449" y="0"/>
                </a:lnTo>
                <a:lnTo>
                  <a:pt x="66287" y="1655"/>
                </a:lnTo>
                <a:lnTo>
                  <a:pt x="56952" y="9389"/>
                </a:lnTo>
                <a:lnTo>
                  <a:pt x="41000" y="46760"/>
                </a:lnTo>
                <a:lnTo>
                  <a:pt x="38100" y="75922"/>
                </a:lnTo>
                <a:lnTo>
                  <a:pt x="38100" y="733147"/>
                </a:lnTo>
                <a:lnTo>
                  <a:pt x="44515" y="775488"/>
                </a:lnTo>
                <a:lnTo>
                  <a:pt x="66287" y="807412"/>
                </a:lnTo>
                <a:lnTo>
                  <a:pt x="70450" y="809069"/>
                </a:lnTo>
                <a:close/>
              </a:path>
            </a:pathLst>
          </a:custGeom>
          <a:solidFill>
            <a:srgbClr val="DFDFD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0" name="object 10"/>
          <p:cNvGrpSpPr/>
          <p:nvPr/>
        </p:nvGrpSpPr>
        <p:grpSpPr>
          <a:xfrm>
            <a:off x="1009649" y="4095749"/>
            <a:ext cx="381000" cy="381000"/>
            <a:chOff x="1009649" y="4095749"/>
            <a:chExt cx="381000" cy="381000"/>
          </a:xfrm>
        </p:grpSpPr>
        <p:sp>
          <p:nvSpPr>
            <p:cNvPr id="11" name="object 11"/>
            <p:cNvSpPr/>
            <p:nvPr/>
          </p:nvSpPr>
          <p:spPr>
            <a:xfrm>
              <a:off x="1009649" y="4095749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09803" y="380999"/>
                  </a:moveTo>
                  <a:lnTo>
                    <a:pt x="71196" y="380999"/>
                  </a:lnTo>
                  <a:lnTo>
                    <a:pt x="66241" y="380511"/>
                  </a:lnTo>
                  <a:lnTo>
                    <a:pt x="29705" y="365377"/>
                  </a:lnTo>
                  <a:lnTo>
                    <a:pt x="3885" y="329337"/>
                  </a:lnTo>
                  <a:lnTo>
                    <a:pt x="0" y="309803"/>
                  </a:lnTo>
                  <a:lnTo>
                    <a:pt x="0" y="304799"/>
                  </a:lnTo>
                  <a:lnTo>
                    <a:pt x="0" y="71196"/>
                  </a:lnTo>
                  <a:lnTo>
                    <a:pt x="15621" y="29704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309803" y="0"/>
                  </a:lnTo>
                  <a:lnTo>
                    <a:pt x="351294" y="15621"/>
                  </a:lnTo>
                  <a:lnTo>
                    <a:pt x="377114" y="51661"/>
                  </a:lnTo>
                  <a:lnTo>
                    <a:pt x="380999" y="71196"/>
                  </a:lnTo>
                  <a:lnTo>
                    <a:pt x="380999" y="309803"/>
                  </a:lnTo>
                  <a:lnTo>
                    <a:pt x="365378" y="351293"/>
                  </a:lnTo>
                  <a:lnTo>
                    <a:pt x="329337" y="377113"/>
                  </a:lnTo>
                  <a:lnTo>
                    <a:pt x="314758" y="380511"/>
                  </a:lnTo>
                  <a:lnTo>
                    <a:pt x="309803" y="380999"/>
                  </a:lnTo>
                  <a:close/>
                </a:path>
              </a:pathLst>
            </a:custGeom>
            <a:solidFill>
              <a:srgbClr val="E3F1F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28712" y="4214812"/>
              <a:ext cx="142874" cy="142874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1549399" y="3991319"/>
            <a:ext cx="3154045" cy="537845"/>
          </a:xfrm>
          <a:prstGeom prst="rect">
            <a:avLst/>
          </a:prstGeom>
        </p:spPr>
        <p:txBody>
          <a:bodyPr wrap="square" lIns="0" tIns="882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dirty="0" sz="1250" spc="125" b="1">
                <a:solidFill>
                  <a:srgbClr val="414141"/>
                </a:solidFill>
                <a:latin typeface="Trebuchet MS"/>
                <a:cs typeface="Trebuchet MS"/>
              </a:rPr>
              <a:t>Coverage</a:t>
            </a:r>
            <a:r>
              <a:rPr dirty="0" sz="1250" spc="-105" b="1">
                <a:solidFill>
                  <a:srgbClr val="414141"/>
                </a:solidFill>
                <a:latin typeface="Trebuchet MS"/>
                <a:cs typeface="Trebuchet MS"/>
              </a:rPr>
              <a:t> </a:t>
            </a:r>
            <a:r>
              <a:rPr dirty="0" sz="1250" spc="85" b="1">
                <a:solidFill>
                  <a:srgbClr val="414141"/>
                </a:solidFill>
                <a:latin typeface="Trebuchet MS"/>
                <a:cs typeface="Trebuchet MS"/>
              </a:rPr>
              <a:t>is</a:t>
            </a:r>
            <a:r>
              <a:rPr dirty="0" sz="1250" spc="-105" b="1">
                <a:solidFill>
                  <a:srgbClr val="414141"/>
                </a:solidFill>
                <a:latin typeface="Trebuchet MS"/>
                <a:cs typeface="Trebuchet MS"/>
              </a:rPr>
              <a:t> </a:t>
            </a:r>
            <a:r>
              <a:rPr dirty="0" sz="1250" spc="125" b="1">
                <a:solidFill>
                  <a:srgbClr val="414141"/>
                </a:solidFill>
                <a:latin typeface="Trebuchet MS"/>
                <a:cs typeface="Trebuchet MS"/>
              </a:rPr>
              <a:t>"a</a:t>
            </a:r>
            <a:r>
              <a:rPr dirty="0" sz="1250" spc="-105" b="1">
                <a:solidFill>
                  <a:srgbClr val="414141"/>
                </a:solidFill>
                <a:latin typeface="Trebuchet MS"/>
                <a:cs typeface="Trebuchet MS"/>
              </a:rPr>
              <a:t> </a:t>
            </a:r>
            <a:r>
              <a:rPr dirty="0" sz="1250" spc="85" b="1">
                <a:solidFill>
                  <a:srgbClr val="414141"/>
                </a:solidFill>
                <a:latin typeface="Trebuchet MS"/>
                <a:cs typeface="Trebuchet MS"/>
              </a:rPr>
              <a:t>number",</a:t>
            </a:r>
            <a:r>
              <a:rPr dirty="0" sz="1250" spc="-105" b="1">
                <a:solidFill>
                  <a:srgbClr val="414141"/>
                </a:solidFill>
                <a:latin typeface="Trebuchet MS"/>
                <a:cs typeface="Trebuchet MS"/>
              </a:rPr>
              <a:t> </a:t>
            </a:r>
            <a:r>
              <a:rPr dirty="0" sz="1250" spc="75" b="1">
                <a:solidFill>
                  <a:srgbClr val="414141"/>
                </a:solidFill>
                <a:latin typeface="Trebuchet MS"/>
                <a:cs typeface="Trebuchet MS"/>
              </a:rPr>
              <a:t>not</a:t>
            </a:r>
            <a:r>
              <a:rPr dirty="0" sz="1250" spc="-105" b="1">
                <a:solidFill>
                  <a:srgbClr val="414141"/>
                </a:solidFill>
                <a:latin typeface="Trebuchet MS"/>
                <a:cs typeface="Trebuchet MS"/>
              </a:rPr>
              <a:t> </a:t>
            </a:r>
            <a:r>
              <a:rPr dirty="0" sz="1250" spc="80" b="1">
                <a:solidFill>
                  <a:srgbClr val="414141"/>
                </a:solidFill>
                <a:latin typeface="Trebuchet MS"/>
                <a:cs typeface="Trebuchet MS"/>
              </a:rPr>
              <a:t>evidence</a:t>
            </a:r>
            <a:endParaRPr sz="12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dirty="0" sz="1150" spc="-10">
                <a:solidFill>
                  <a:srgbClr val="747474"/>
                </a:solidFill>
                <a:latin typeface="Microsoft Sans Serif"/>
                <a:cs typeface="Microsoft Sans Serif"/>
              </a:rPr>
              <a:t>Which</a:t>
            </a:r>
            <a:r>
              <a:rPr dirty="0" sz="1150" spc="-35">
                <a:solidFill>
                  <a:srgbClr val="747474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747474"/>
                </a:solidFill>
                <a:latin typeface="Microsoft Sans Serif"/>
                <a:cs typeface="Microsoft Sans Serif"/>
              </a:rPr>
              <a:t>tests</a:t>
            </a:r>
            <a:r>
              <a:rPr dirty="0" sz="1150" spc="-35">
                <a:solidFill>
                  <a:srgbClr val="747474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20">
                <a:solidFill>
                  <a:srgbClr val="747474"/>
                </a:solidFill>
                <a:latin typeface="Microsoft Sans Serif"/>
                <a:cs typeface="Microsoft Sans Serif"/>
              </a:rPr>
              <a:t>prove</a:t>
            </a:r>
            <a:r>
              <a:rPr dirty="0" sz="1150" spc="-30">
                <a:solidFill>
                  <a:srgbClr val="747474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20">
                <a:solidFill>
                  <a:srgbClr val="747474"/>
                </a:solidFill>
                <a:latin typeface="Microsoft Sans Serif"/>
                <a:cs typeface="Microsoft Sans Serif"/>
              </a:rPr>
              <a:t>requirement</a:t>
            </a:r>
            <a:r>
              <a:rPr dirty="0" sz="1150" spc="-35">
                <a:solidFill>
                  <a:srgbClr val="747474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25">
                <a:solidFill>
                  <a:srgbClr val="747474"/>
                </a:solidFill>
                <a:latin typeface="Microsoft Sans Serif"/>
                <a:cs typeface="Microsoft Sans Serif"/>
              </a:rPr>
              <a:t>X?</a:t>
            </a:r>
            <a:endParaRPr sz="1150">
              <a:latin typeface="Microsoft Sans Serif"/>
              <a:cs typeface="Microsoft Sans Serif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61999" y="4886602"/>
            <a:ext cx="70485" cy="819150"/>
          </a:xfrm>
          <a:custGeom>
            <a:avLst/>
            <a:gdLst/>
            <a:ahLst/>
            <a:cxnLst/>
            <a:rect l="l" t="t" r="r" b="b"/>
            <a:pathLst>
              <a:path w="70484" h="819150">
                <a:moveTo>
                  <a:pt x="70449" y="818594"/>
                </a:moveTo>
                <a:lnTo>
                  <a:pt x="33857" y="806041"/>
                </a:lnTo>
                <a:lnTo>
                  <a:pt x="5800" y="771832"/>
                </a:lnTo>
                <a:lnTo>
                  <a:pt x="0" y="742672"/>
                </a:lnTo>
                <a:lnTo>
                  <a:pt x="0" y="75922"/>
                </a:lnTo>
                <a:lnTo>
                  <a:pt x="12830" y="33579"/>
                </a:lnTo>
                <a:lnTo>
                  <a:pt x="47039" y="5522"/>
                </a:lnTo>
                <a:lnTo>
                  <a:pt x="70449" y="0"/>
                </a:lnTo>
                <a:lnTo>
                  <a:pt x="66287" y="1655"/>
                </a:lnTo>
                <a:lnTo>
                  <a:pt x="56952" y="9389"/>
                </a:lnTo>
                <a:lnTo>
                  <a:pt x="41000" y="46761"/>
                </a:lnTo>
                <a:lnTo>
                  <a:pt x="38100" y="75922"/>
                </a:lnTo>
                <a:lnTo>
                  <a:pt x="38100" y="742672"/>
                </a:lnTo>
                <a:lnTo>
                  <a:pt x="44515" y="785014"/>
                </a:lnTo>
                <a:lnTo>
                  <a:pt x="66287" y="816938"/>
                </a:lnTo>
                <a:lnTo>
                  <a:pt x="70449" y="818594"/>
                </a:lnTo>
                <a:close/>
              </a:path>
            </a:pathLst>
          </a:custGeom>
          <a:solidFill>
            <a:srgbClr val="DFDFD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5" name="object 15"/>
          <p:cNvGrpSpPr/>
          <p:nvPr/>
        </p:nvGrpSpPr>
        <p:grpSpPr>
          <a:xfrm>
            <a:off x="1009649" y="5105399"/>
            <a:ext cx="381000" cy="381000"/>
            <a:chOff x="1009649" y="5105399"/>
            <a:chExt cx="381000" cy="381000"/>
          </a:xfrm>
        </p:grpSpPr>
        <p:sp>
          <p:nvSpPr>
            <p:cNvPr id="16" name="object 16"/>
            <p:cNvSpPr/>
            <p:nvPr/>
          </p:nvSpPr>
          <p:spPr>
            <a:xfrm>
              <a:off x="1009649" y="5105399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09803" y="380999"/>
                  </a:moveTo>
                  <a:lnTo>
                    <a:pt x="71196" y="380999"/>
                  </a:lnTo>
                  <a:lnTo>
                    <a:pt x="66241" y="380511"/>
                  </a:lnTo>
                  <a:lnTo>
                    <a:pt x="29705" y="365377"/>
                  </a:lnTo>
                  <a:lnTo>
                    <a:pt x="3885" y="329336"/>
                  </a:lnTo>
                  <a:lnTo>
                    <a:pt x="0" y="309803"/>
                  </a:lnTo>
                  <a:lnTo>
                    <a:pt x="0" y="304799"/>
                  </a:lnTo>
                  <a:lnTo>
                    <a:pt x="0" y="71196"/>
                  </a:lnTo>
                  <a:lnTo>
                    <a:pt x="15621" y="29703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309803" y="0"/>
                  </a:lnTo>
                  <a:lnTo>
                    <a:pt x="351294" y="15621"/>
                  </a:lnTo>
                  <a:lnTo>
                    <a:pt x="377114" y="51660"/>
                  </a:lnTo>
                  <a:lnTo>
                    <a:pt x="380999" y="71196"/>
                  </a:lnTo>
                  <a:lnTo>
                    <a:pt x="380999" y="309803"/>
                  </a:lnTo>
                  <a:lnTo>
                    <a:pt x="365378" y="351293"/>
                  </a:lnTo>
                  <a:lnTo>
                    <a:pt x="329337" y="377113"/>
                  </a:lnTo>
                  <a:lnTo>
                    <a:pt x="314758" y="380511"/>
                  </a:lnTo>
                  <a:lnTo>
                    <a:pt x="309803" y="380999"/>
                  </a:lnTo>
                  <a:close/>
                </a:path>
              </a:pathLst>
            </a:custGeom>
            <a:solidFill>
              <a:srgbClr val="E3F1F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44587" y="5216524"/>
              <a:ext cx="111124" cy="155574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1549399" y="4991444"/>
            <a:ext cx="2097405" cy="537845"/>
          </a:xfrm>
          <a:prstGeom prst="rect">
            <a:avLst/>
          </a:prstGeom>
        </p:spPr>
        <p:txBody>
          <a:bodyPr wrap="square" lIns="0" tIns="882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dirty="0" sz="1250" spc="60" b="1">
                <a:solidFill>
                  <a:srgbClr val="414141"/>
                </a:solidFill>
                <a:latin typeface="Trebuchet MS"/>
                <a:cs typeface="Trebuchet MS"/>
              </a:rPr>
              <a:t>Test</a:t>
            </a:r>
            <a:r>
              <a:rPr dirty="0" sz="1250" spc="-105" b="1">
                <a:solidFill>
                  <a:srgbClr val="414141"/>
                </a:solidFill>
                <a:latin typeface="Trebuchet MS"/>
                <a:cs typeface="Trebuchet MS"/>
              </a:rPr>
              <a:t> </a:t>
            </a:r>
            <a:r>
              <a:rPr dirty="0" sz="1250" spc="80" b="1">
                <a:solidFill>
                  <a:srgbClr val="414141"/>
                </a:solidFill>
                <a:latin typeface="Trebuchet MS"/>
                <a:cs typeface="Trebuchet MS"/>
              </a:rPr>
              <a:t>results</a:t>
            </a:r>
            <a:r>
              <a:rPr dirty="0" sz="1250" spc="-105" b="1">
                <a:solidFill>
                  <a:srgbClr val="414141"/>
                </a:solidFill>
                <a:latin typeface="Trebuchet MS"/>
                <a:cs typeface="Trebuchet MS"/>
              </a:rPr>
              <a:t> </a:t>
            </a:r>
            <a:r>
              <a:rPr dirty="0" sz="1250" spc="50" b="1">
                <a:solidFill>
                  <a:srgbClr val="414141"/>
                </a:solidFill>
                <a:latin typeface="Trebuchet MS"/>
                <a:cs typeface="Trebuchet MS"/>
              </a:rPr>
              <a:t>live</a:t>
            </a:r>
            <a:r>
              <a:rPr dirty="0" sz="1250" spc="-105" b="1">
                <a:solidFill>
                  <a:srgbClr val="414141"/>
                </a:solidFill>
                <a:latin typeface="Trebuchet MS"/>
                <a:cs typeface="Trebuchet MS"/>
              </a:rPr>
              <a:t> </a:t>
            </a:r>
            <a:r>
              <a:rPr dirty="0" sz="1250" spc="55" b="1">
                <a:solidFill>
                  <a:srgbClr val="414141"/>
                </a:solidFill>
                <a:latin typeface="Trebuchet MS"/>
                <a:cs typeface="Trebuchet MS"/>
              </a:rPr>
              <a:t>in</a:t>
            </a:r>
            <a:r>
              <a:rPr dirty="0" sz="1250" spc="-105" b="1">
                <a:solidFill>
                  <a:srgbClr val="414141"/>
                </a:solidFill>
                <a:latin typeface="Trebuchet MS"/>
                <a:cs typeface="Trebuchet MS"/>
              </a:rPr>
              <a:t> </a:t>
            </a:r>
            <a:r>
              <a:rPr dirty="0" sz="1250" spc="114" b="1">
                <a:solidFill>
                  <a:srgbClr val="414141"/>
                </a:solidFill>
                <a:latin typeface="Trebuchet MS"/>
                <a:cs typeface="Trebuchet MS"/>
              </a:rPr>
              <a:t>CI</a:t>
            </a:r>
            <a:r>
              <a:rPr dirty="0" sz="1250" spc="-100" b="1">
                <a:solidFill>
                  <a:srgbClr val="414141"/>
                </a:solidFill>
                <a:latin typeface="Trebuchet MS"/>
                <a:cs typeface="Trebuchet MS"/>
              </a:rPr>
              <a:t> </a:t>
            </a:r>
            <a:r>
              <a:rPr dirty="0" sz="1250" spc="105" b="1">
                <a:solidFill>
                  <a:srgbClr val="414141"/>
                </a:solidFill>
                <a:latin typeface="Trebuchet MS"/>
                <a:cs typeface="Trebuchet MS"/>
              </a:rPr>
              <a:t>logs</a:t>
            </a:r>
            <a:endParaRPr sz="12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dirty="0" sz="1150" spc="-20">
                <a:solidFill>
                  <a:srgbClr val="747474"/>
                </a:solidFill>
                <a:latin typeface="Microsoft Sans Serif"/>
                <a:cs typeface="Microsoft Sans Serif"/>
              </a:rPr>
              <a:t>Buried</a:t>
            </a:r>
            <a:r>
              <a:rPr dirty="0" sz="1150" spc="-35">
                <a:solidFill>
                  <a:srgbClr val="747474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747474"/>
                </a:solidFill>
                <a:latin typeface="Microsoft Sans Serif"/>
                <a:cs typeface="Microsoft Sans Serif"/>
              </a:rPr>
              <a:t>in</a:t>
            </a:r>
            <a:r>
              <a:rPr dirty="0" sz="1150" spc="-30">
                <a:solidFill>
                  <a:srgbClr val="747474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10">
                <a:solidFill>
                  <a:srgbClr val="747474"/>
                </a:solidFill>
                <a:latin typeface="Microsoft Sans Serif"/>
                <a:cs typeface="Microsoft Sans Serif"/>
              </a:rPr>
              <a:t>logs,</a:t>
            </a:r>
            <a:r>
              <a:rPr dirty="0" sz="1150" spc="-30">
                <a:solidFill>
                  <a:srgbClr val="747474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20">
                <a:solidFill>
                  <a:srgbClr val="747474"/>
                </a:solidFill>
                <a:latin typeface="Microsoft Sans Serif"/>
                <a:cs typeface="Microsoft Sans Serif"/>
              </a:rPr>
              <a:t>hard</a:t>
            </a:r>
            <a:r>
              <a:rPr dirty="0" sz="1150" spc="-35">
                <a:solidFill>
                  <a:srgbClr val="747474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747474"/>
                </a:solidFill>
                <a:latin typeface="Microsoft Sans Serif"/>
                <a:cs typeface="Microsoft Sans Serif"/>
              </a:rPr>
              <a:t>to</a:t>
            </a:r>
            <a:r>
              <a:rPr dirty="0" sz="1150" spc="-30">
                <a:solidFill>
                  <a:srgbClr val="747474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20">
                <a:solidFill>
                  <a:srgbClr val="747474"/>
                </a:solidFill>
                <a:latin typeface="Microsoft Sans Serif"/>
                <a:cs typeface="Microsoft Sans Serif"/>
              </a:rPr>
              <a:t>find</a:t>
            </a:r>
            <a:endParaRPr sz="1150">
              <a:latin typeface="Microsoft Sans Serif"/>
              <a:cs typeface="Microsoft Sans Serif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761999" y="5896252"/>
            <a:ext cx="70485" cy="809625"/>
          </a:xfrm>
          <a:custGeom>
            <a:avLst/>
            <a:gdLst/>
            <a:ahLst/>
            <a:cxnLst/>
            <a:rect l="l" t="t" r="r" b="b"/>
            <a:pathLst>
              <a:path w="70484" h="809625">
                <a:moveTo>
                  <a:pt x="70450" y="809069"/>
                </a:moveTo>
                <a:lnTo>
                  <a:pt x="33857" y="796516"/>
                </a:lnTo>
                <a:lnTo>
                  <a:pt x="5800" y="762307"/>
                </a:lnTo>
                <a:lnTo>
                  <a:pt x="0" y="733147"/>
                </a:lnTo>
                <a:lnTo>
                  <a:pt x="0" y="75922"/>
                </a:lnTo>
                <a:lnTo>
                  <a:pt x="12830" y="33579"/>
                </a:lnTo>
                <a:lnTo>
                  <a:pt x="47039" y="5522"/>
                </a:lnTo>
                <a:lnTo>
                  <a:pt x="70449" y="0"/>
                </a:lnTo>
                <a:lnTo>
                  <a:pt x="66287" y="1655"/>
                </a:lnTo>
                <a:lnTo>
                  <a:pt x="56952" y="9389"/>
                </a:lnTo>
                <a:lnTo>
                  <a:pt x="41000" y="46760"/>
                </a:lnTo>
                <a:lnTo>
                  <a:pt x="38100" y="75922"/>
                </a:lnTo>
                <a:lnTo>
                  <a:pt x="38100" y="733147"/>
                </a:lnTo>
                <a:lnTo>
                  <a:pt x="44515" y="775488"/>
                </a:lnTo>
                <a:lnTo>
                  <a:pt x="66287" y="807413"/>
                </a:lnTo>
                <a:lnTo>
                  <a:pt x="70450" y="809069"/>
                </a:lnTo>
                <a:close/>
              </a:path>
            </a:pathLst>
          </a:custGeom>
          <a:solidFill>
            <a:srgbClr val="DFDFD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0" name="object 20"/>
          <p:cNvGrpSpPr/>
          <p:nvPr/>
        </p:nvGrpSpPr>
        <p:grpSpPr>
          <a:xfrm>
            <a:off x="1009649" y="6115049"/>
            <a:ext cx="381000" cy="381000"/>
            <a:chOff x="1009649" y="6115049"/>
            <a:chExt cx="381000" cy="381000"/>
          </a:xfrm>
        </p:grpSpPr>
        <p:sp>
          <p:nvSpPr>
            <p:cNvPr id="21" name="object 21"/>
            <p:cNvSpPr/>
            <p:nvPr/>
          </p:nvSpPr>
          <p:spPr>
            <a:xfrm>
              <a:off x="1009649" y="6115049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09803" y="380999"/>
                  </a:moveTo>
                  <a:lnTo>
                    <a:pt x="71196" y="380999"/>
                  </a:lnTo>
                  <a:lnTo>
                    <a:pt x="66241" y="380511"/>
                  </a:lnTo>
                  <a:lnTo>
                    <a:pt x="29705" y="365377"/>
                  </a:lnTo>
                  <a:lnTo>
                    <a:pt x="3885" y="329336"/>
                  </a:lnTo>
                  <a:lnTo>
                    <a:pt x="0" y="309802"/>
                  </a:lnTo>
                  <a:lnTo>
                    <a:pt x="0" y="304799"/>
                  </a:lnTo>
                  <a:lnTo>
                    <a:pt x="0" y="71196"/>
                  </a:lnTo>
                  <a:lnTo>
                    <a:pt x="15621" y="29704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309803" y="0"/>
                  </a:lnTo>
                  <a:lnTo>
                    <a:pt x="351294" y="15620"/>
                  </a:lnTo>
                  <a:lnTo>
                    <a:pt x="377114" y="51660"/>
                  </a:lnTo>
                  <a:lnTo>
                    <a:pt x="380999" y="71196"/>
                  </a:lnTo>
                  <a:lnTo>
                    <a:pt x="380999" y="309802"/>
                  </a:lnTo>
                  <a:lnTo>
                    <a:pt x="365378" y="351294"/>
                  </a:lnTo>
                  <a:lnTo>
                    <a:pt x="329337" y="377113"/>
                  </a:lnTo>
                  <a:lnTo>
                    <a:pt x="314758" y="380511"/>
                  </a:lnTo>
                  <a:lnTo>
                    <a:pt x="309803" y="380999"/>
                  </a:lnTo>
                  <a:close/>
                </a:path>
              </a:pathLst>
            </a:custGeom>
            <a:solidFill>
              <a:srgbClr val="E3F1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1128712" y="6297612"/>
              <a:ext cx="142875" cy="63500"/>
            </a:xfrm>
            <a:custGeom>
              <a:avLst/>
              <a:gdLst/>
              <a:ahLst/>
              <a:cxnLst/>
              <a:rect l="l" t="t" r="r" b="b"/>
              <a:pathLst>
                <a:path w="142875" h="63500">
                  <a:moveTo>
                    <a:pt x="31670" y="63499"/>
                  </a:moveTo>
                  <a:lnTo>
                    <a:pt x="0" y="31749"/>
                  </a:lnTo>
                  <a:lnTo>
                    <a:pt x="31670" y="0"/>
                  </a:lnTo>
                  <a:lnTo>
                    <a:pt x="67786" y="0"/>
                  </a:lnTo>
                  <a:lnTo>
                    <a:pt x="71358" y="3571"/>
                  </a:lnTo>
                  <a:lnTo>
                    <a:pt x="71358" y="20240"/>
                  </a:lnTo>
                  <a:lnTo>
                    <a:pt x="67786" y="23812"/>
                  </a:lnTo>
                  <a:lnTo>
                    <a:pt x="31670" y="23812"/>
                  </a:lnTo>
                  <a:lnTo>
                    <a:pt x="31670" y="63499"/>
                  </a:lnTo>
                  <a:close/>
                </a:path>
                <a:path w="142875" h="63500">
                  <a:moveTo>
                    <a:pt x="111045" y="63499"/>
                  </a:moveTo>
                  <a:lnTo>
                    <a:pt x="111045" y="23812"/>
                  </a:lnTo>
                  <a:lnTo>
                    <a:pt x="74929" y="23812"/>
                  </a:lnTo>
                  <a:lnTo>
                    <a:pt x="71358" y="20240"/>
                  </a:lnTo>
                  <a:lnTo>
                    <a:pt x="71358" y="3571"/>
                  </a:lnTo>
                  <a:lnTo>
                    <a:pt x="74929" y="0"/>
                  </a:lnTo>
                  <a:lnTo>
                    <a:pt x="111045" y="0"/>
                  </a:lnTo>
                  <a:lnTo>
                    <a:pt x="142795" y="31749"/>
                  </a:lnTo>
                  <a:lnTo>
                    <a:pt x="111045" y="63499"/>
                  </a:lnTo>
                  <a:close/>
                </a:path>
              </a:pathLst>
            </a:custGeom>
            <a:solidFill>
              <a:srgbClr val="41A5F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1549399" y="6001094"/>
            <a:ext cx="2449830" cy="537845"/>
          </a:xfrm>
          <a:prstGeom prst="rect">
            <a:avLst/>
          </a:prstGeom>
        </p:spPr>
        <p:txBody>
          <a:bodyPr wrap="square" lIns="0" tIns="882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dirty="0" sz="1250" spc="125" b="1">
                <a:solidFill>
                  <a:srgbClr val="414141"/>
                </a:solidFill>
                <a:latin typeface="Trebuchet MS"/>
                <a:cs typeface="Trebuchet MS"/>
              </a:rPr>
              <a:t>Docs</a:t>
            </a:r>
            <a:r>
              <a:rPr dirty="0" sz="1250" spc="-55" b="1">
                <a:solidFill>
                  <a:srgbClr val="414141"/>
                </a:solidFill>
                <a:latin typeface="Trebuchet MS"/>
                <a:cs typeface="Trebuchet MS"/>
              </a:rPr>
              <a:t> </a:t>
            </a:r>
            <a:r>
              <a:rPr dirty="0" sz="1250" b="1">
                <a:solidFill>
                  <a:srgbClr val="414141"/>
                </a:solidFill>
                <a:latin typeface="Trebuchet MS"/>
                <a:cs typeface="Trebuchet MS"/>
              </a:rPr>
              <a:t>drift</a:t>
            </a:r>
            <a:r>
              <a:rPr dirty="0" sz="1250" spc="-50" b="1">
                <a:solidFill>
                  <a:srgbClr val="414141"/>
                </a:solidFill>
                <a:latin typeface="Trebuchet MS"/>
                <a:cs typeface="Trebuchet MS"/>
              </a:rPr>
              <a:t> </a:t>
            </a:r>
            <a:r>
              <a:rPr dirty="0" sz="1250" spc="90" b="1">
                <a:solidFill>
                  <a:srgbClr val="414141"/>
                </a:solidFill>
                <a:latin typeface="Trebuchet MS"/>
                <a:cs typeface="Trebuchet MS"/>
              </a:rPr>
              <a:t>from</a:t>
            </a:r>
            <a:r>
              <a:rPr dirty="0" sz="1250" spc="-55" b="1">
                <a:solidFill>
                  <a:srgbClr val="414141"/>
                </a:solidFill>
                <a:latin typeface="Trebuchet MS"/>
                <a:cs typeface="Trebuchet MS"/>
              </a:rPr>
              <a:t> </a:t>
            </a:r>
            <a:r>
              <a:rPr dirty="0" sz="1250" spc="50" b="1">
                <a:solidFill>
                  <a:srgbClr val="414141"/>
                </a:solidFill>
                <a:latin typeface="Trebuchet MS"/>
                <a:cs typeface="Trebuchet MS"/>
              </a:rPr>
              <a:t>reality</a:t>
            </a:r>
            <a:endParaRPr sz="12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dirty="0" sz="1150" spc="-20">
                <a:solidFill>
                  <a:srgbClr val="747474"/>
                </a:solidFill>
                <a:latin typeface="Microsoft Sans Serif"/>
                <a:cs typeface="Microsoft Sans Serif"/>
              </a:rPr>
              <a:t>Updating</a:t>
            </a:r>
            <a:r>
              <a:rPr dirty="0" sz="1150" spc="-15">
                <a:solidFill>
                  <a:srgbClr val="747474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10">
                <a:solidFill>
                  <a:srgbClr val="747474"/>
                </a:solidFill>
                <a:latin typeface="Microsoft Sans Serif"/>
                <a:cs typeface="Microsoft Sans Serif"/>
              </a:rPr>
              <a:t>links</a:t>
            </a:r>
            <a:r>
              <a:rPr dirty="0" sz="1150" spc="-15">
                <a:solidFill>
                  <a:srgbClr val="747474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747474"/>
                </a:solidFill>
                <a:latin typeface="Microsoft Sans Serif"/>
                <a:cs typeface="Microsoft Sans Serif"/>
              </a:rPr>
              <a:t>is</a:t>
            </a:r>
            <a:r>
              <a:rPr dirty="0" sz="1150" spc="-10">
                <a:solidFill>
                  <a:srgbClr val="747474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35">
                <a:solidFill>
                  <a:srgbClr val="747474"/>
                </a:solidFill>
                <a:latin typeface="Microsoft Sans Serif"/>
                <a:cs typeface="Microsoft Sans Serif"/>
              </a:rPr>
              <a:t>manual</a:t>
            </a:r>
            <a:r>
              <a:rPr dirty="0" sz="1150" spc="-15">
                <a:solidFill>
                  <a:srgbClr val="747474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100">
                <a:solidFill>
                  <a:srgbClr val="747474"/>
                </a:solidFill>
                <a:latin typeface="Microsoft Sans Serif"/>
                <a:cs typeface="Microsoft Sans Serif"/>
              </a:rPr>
              <a:t>&amp;</a:t>
            </a:r>
            <a:r>
              <a:rPr dirty="0" sz="1150" spc="-10">
                <a:solidFill>
                  <a:srgbClr val="747474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747474"/>
                </a:solidFill>
                <a:latin typeface="Microsoft Sans Serif"/>
                <a:cs typeface="Microsoft Sans Serif"/>
              </a:rPr>
              <a:t>error-</a:t>
            </a:r>
            <a:r>
              <a:rPr dirty="0" sz="1150" spc="-20">
                <a:solidFill>
                  <a:srgbClr val="747474"/>
                </a:solidFill>
                <a:latin typeface="Microsoft Sans Serif"/>
                <a:cs typeface="Microsoft Sans Serif"/>
              </a:rPr>
              <a:t>prone</a:t>
            </a:r>
            <a:endParaRPr sz="1150">
              <a:latin typeface="Microsoft Sans Serif"/>
              <a:cs typeface="Microsoft Sans Serif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6705599" y="0"/>
            <a:ext cx="5486400" cy="6858000"/>
            <a:chOff x="6705599" y="0"/>
            <a:chExt cx="5486400" cy="6858000"/>
          </a:xfrm>
        </p:grpSpPr>
        <p:sp>
          <p:nvSpPr>
            <p:cNvPr id="25" name="object 25"/>
            <p:cNvSpPr/>
            <p:nvPr/>
          </p:nvSpPr>
          <p:spPr>
            <a:xfrm>
              <a:off x="6705599" y="0"/>
              <a:ext cx="5486400" cy="6858000"/>
            </a:xfrm>
            <a:custGeom>
              <a:avLst/>
              <a:gdLst/>
              <a:ahLst/>
              <a:cxnLst/>
              <a:rect l="l" t="t" r="r" b="b"/>
              <a:pathLst>
                <a:path w="5486400" h="6858000">
                  <a:moveTo>
                    <a:pt x="5486399" y="6857999"/>
                  </a:moveTo>
                  <a:lnTo>
                    <a:pt x="0" y="6857999"/>
                  </a:lnTo>
                  <a:lnTo>
                    <a:pt x="0" y="0"/>
                  </a:lnTo>
                  <a:lnTo>
                    <a:pt x="5486399" y="0"/>
                  </a:lnTo>
                  <a:lnTo>
                    <a:pt x="5486399" y="6857999"/>
                  </a:lnTo>
                  <a:close/>
                </a:path>
              </a:pathLst>
            </a:custGeom>
            <a:solidFill>
              <a:srgbClr val="F0F6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6809231" y="1749551"/>
              <a:ext cx="5279390" cy="3645535"/>
            </a:xfrm>
            <a:custGeom>
              <a:avLst/>
              <a:gdLst/>
              <a:ahLst/>
              <a:cxnLst/>
              <a:rect l="l" t="t" r="r" b="b"/>
              <a:pathLst>
                <a:path w="5279390" h="3645535">
                  <a:moveTo>
                    <a:pt x="5279135" y="3645407"/>
                  </a:moveTo>
                  <a:lnTo>
                    <a:pt x="0" y="3645407"/>
                  </a:lnTo>
                  <a:lnTo>
                    <a:pt x="0" y="0"/>
                  </a:lnTo>
                  <a:lnTo>
                    <a:pt x="5279135" y="0"/>
                  </a:lnTo>
                  <a:lnTo>
                    <a:pt x="5279135" y="326897"/>
                  </a:lnTo>
                  <a:lnTo>
                    <a:pt x="582167" y="326897"/>
                  </a:lnTo>
                  <a:lnTo>
                    <a:pt x="570908" y="327441"/>
                  </a:lnTo>
                  <a:lnTo>
                    <a:pt x="528231" y="340409"/>
                  </a:lnTo>
                  <a:lnTo>
                    <a:pt x="493767" y="368721"/>
                  </a:lnTo>
                  <a:lnTo>
                    <a:pt x="472761" y="408067"/>
                  </a:lnTo>
                  <a:lnTo>
                    <a:pt x="467867" y="441197"/>
                  </a:lnTo>
                  <a:lnTo>
                    <a:pt x="467867" y="2917697"/>
                  </a:lnTo>
                  <a:lnTo>
                    <a:pt x="476567" y="2961438"/>
                  </a:lnTo>
                  <a:lnTo>
                    <a:pt x="501344" y="2998520"/>
                  </a:lnTo>
                  <a:lnTo>
                    <a:pt x="538426" y="3023297"/>
                  </a:lnTo>
                  <a:lnTo>
                    <a:pt x="582167" y="3031997"/>
                  </a:lnTo>
                  <a:lnTo>
                    <a:pt x="5279135" y="3031997"/>
                  </a:lnTo>
                  <a:lnTo>
                    <a:pt x="5279135" y="3645407"/>
                  </a:lnTo>
                  <a:close/>
                </a:path>
                <a:path w="5279390" h="3645535">
                  <a:moveTo>
                    <a:pt x="5279135" y="3031997"/>
                  </a:moveTo>
                  <a:lnTo>
                    <a:pt x="4696967" y="3031997"/>
                  </a:lnTo>
                  <a:lnTo>
                    <a:pt x="4708227" y="3031453"/>
                  </a:lnTo>
                  <a:lnTo>
                    <a:pt x="4719270" y="3029822"/>
                  </a:lnTo>
                  <a:lnTo>
                    <a:pt x="4760480" y="3012752"/>
                  </a:lnTo>
                  <a:lnTo>
                    <a:pt x="4792021" y="2981211"/>
                  </a:lnTo>
                  <a:lnTo>
                    <a:pt x="4809091" y="2940000"/>
                  </a:lnTo>
                  <a:lnTo>
                    <a:pt x="4811267" y="2917697"/>
                  </a:lnTo>
                  <a:lnTo>
                    <a:pt x="4811267" y="441197"/>
                  </a:lnTo>
                  <a:lnTo>
                    <a:pt x="4802565" y="397457"/>
                  </a:lnTo>
                  <a:lnTo>
                    <a:pt x="4777789" y="360375"/>
                  </a:lnTo>
                  <a:lnTo>
                    <a:pt x="4740706" y="335598"/>
                  </a:lnTo>
                  <a:lnTo>
                    <a:pt x="4696967" y="326897"/>
                  </a:lnTo>
                  <a:lnTo>
                    <a:pt x="5279135" y="326897"/>
                  </a:lnTo>
                  <a:lnTo>
                    <a:pt x="5279135" y="3031997"/>
                  </a:lnTo>
                  <a:close/>
                </a:path>
              </a:pathLst>
            </a:custGeom>
            <a:solidFill>
              <a:srgbClr val="41A5F5">
                <a:alpha val="148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7300911" y="2100262"/>
              <a:ext cx="4295775" cy="2657475"/>
            </a:xfrm>
            <a:custGeom>
              <a:avLst/>
              <a:gdLst/>
              <a:ahLst/>
              <a:cxnLst/>
              <a:rect l="l" t="t" r="r" b="b"/>
              <a:pathLst>
                <a:path w="4295775" h="2657475">
                  <a:moveTo>
                    <a:pt x="0" y="2566987"/>
                  </a:moveTo>
                  <a:lnTo>
                    <a:pt x="0" y="90487"/>
                  </a:lnTo>
                  <a:lnTo>
                    <a:pt x="0" y="84545"/>
                  </a:lnTo>
                  <a:lnTo>
                    <a:pt x="579" y="78661"/>
                  </a:lnTo>
                  <a:lnTo>
                    <a:pt x="1738" y="72834"/>
                  </a:lnTo>
                  <a:lnTo>
                    <a:pt x="2897" y="67006"/>
                  </a:lnTo>
                  <a:lnTo>
                    <a:pt x="4613" y="61348"/>
                  </a:lnTo>
                  <a:lnTo>
                    <a:pt x="6887" y="55859"/>
                  </a:lnTo>
                  <a:lnTo>
                    <a:pt x="9161" y="50370"/>
                  </a:lnTo>
                  <a:lnTo>
                    <a:pt x="11948" y="45155"/>
                  </a:lnTo>
                  <a:lnTo>
                    <a:pt x="15249" y="40215"/>
                  </a:lnTo>
                  <a:lnTo>
                    <a:pt x="18550" y="35274"/>
                  </a:lnTo>
                  <a:lnTo>
                    <a:pt x="22301" y="30704"/>
                  </a:lnTo>
                  <a:lnTo>
                    <a:pt x="26503" y="26503"/>
                  </a:lnTo>
                  <a:lnTo>
                    <a:pt x="30703" y="22301"/>
                  </a:lnTo>
                  <a:lnTo>
                    <a:pt x="35274" y="18550"/>
                  </a:lnTo>
                  <a:lnTo>
                    <a:pt x="40214" y="15249"/>
                  </a:lnTo>
                  <a:lnTo>
                    <a:pt x="45154" y="11948"/>
                  </a:lnTo>
                  <a:lnTo>
                    <a:pt x="72834" y="1738"/>
                  </a:lnTo>
                  <a:lnTo>
                    <a:pt x="78661" y="579"/>
                  </a:lnTo>
                  <a:lnTo>
                    <a:pt x="84545" y="0"/>
                  </a:lnTo>
                  <a:lnTo>
                    <a:pt x="90488" y="0"/>
                  </a:lnTo>
                  <a:lnTo>
                    <a:pt x="4205287" y="0"/>
                  </a:lnTo>
                  <a:lnTo>
                    <a:pt x="4245402" y="9161"/>
                  </a:lnTo>
                  <a:lnTo>
                    <a:pt x="4255557" y="15249"/>
                  </a:lnTo>
                  <a:lnTo>
                    <a:pt x="4260498" y="18550"/>
                  </a:lnTo>
                  <a:lnTo>
                    <a:pt x="4265069" y="22301"/>
                  </a:lnTo>
                  <a:lnTo>
                    <a:pt x="4269269" y="26503"/>
                  </a:lnTo>
                  <a:lnTo>
                    <a:pt x="4273470" y="30704"/>
                  </a:lnTo>
                  <a:lnTo>
                    <a:pt x="4277221" y="35274"/>
                  </a:lnTo>
                  <a:lnTo>
                    <a:pt x="4280522" y="40215"/>
                  </a:lnTo>
                  <a:lnTo>
                    <a:pt x="4283823" y="45155"/>
                  </a:lnTo>
                  <a:lnTo>
                    <a:pt x="4286610" y="50370"/>
                  </a:lnTo>
                  <a:lnTo>
                    <a:pt x="4288884" y="55859"/>
                  </a:lnTo>
                  <a:lnTo>
                    <a:pt x="4291159" y="61348"/>
                  </a:lnTo>
                  <a:lnTo>
                    <a:pt x="4295775" y="90487"/>
                  </a:lnTo>
                  <a:lnTo>
                    <a:pt x="4295775" y="2566987"/>
                  </a:lnTo>
                  <a:lnTo>
                    <a:pt x="4295774" y="2572928"/>
                  </a:lnTo>
                  <a:lnTo>
                    <a:pt x="4295193" y="2578813"/>
                  </a:lnTo>
                  <a:lnTo>
                    <a:pt x="4294034" y="2584640"/>
                  </a:lnTo>
                  <a:lnTo>
                    <a:pt x="4292875" y="2590467"/>
                  </a:lnTo>
                  <a:lnTo>
                    <a:pt x="4273470" y="2626770"/>
                  </a:lnTo>
                  <a:lnTo>
                    <a:pt x="4255557" y="2642224"/>
                  </a:lnTo>
                  <a:lnTo>
                    <a:pt x="4250617" y="2645525"/>
                  </a:lnTo>
                  <a:lnTo>
                    <a:pt x="4211228" y="2657474"/>
                  </a:lnTo>
                  <a:lnTo>
                    <a:pt x="4205287" y="2657474"/>
                  </a:lnTo>
                  <a:lnTo>
                    <a:pt x="90488" y="2657474"/>
                  </a:lnTo>
                  <a:lnTo>
                    <a:pt x="50369" y="2648312"/>
                  </a:lnTo>
                  <a:lnTo>
                    <a:pt x="40214" y="2642224"/>
                  </a:lnTo>
                  <a:lnTo>
                    <a:pt x="35274" y="2638923"/>
                  </a:lnTo>
                  <a:lnTo>
                    <a:pt x="30703" y="2635172"/>
                  </a:lnTo>
                  <a:lnTo>
                    <a:pt x="26503" y="2630971"/>
                  </a:lnTo>
                  <a:lnTo>
                    <a:pt x="22301" y="2626770"/>
                  </a:lnTo>
                  <a:lnTo>
                    <a:pt x="18550" y="2622199"/>
                  </a:lnTo>
                  <a:lnTo>
                    <a:pt x="15249" y="2617259"/>
                  </a:lnTo>
                  <a:lnTo>
                    <a:pt x="11948" y="2612318"/>
                  </a:lnTo>
                  <a:lnTo>
                    <a:pt x="0" y="2572928"/>
                  </a:lnTo>
                  <a:lnTo>
                    <a:pt x="0" y="2566987"/>
                  </a:lnTo>
                  <a:close/>
                </a:path>
              </a:pathLst>
            </a:custGeom>
            <a:ln w="476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324724" y="2124075"/>
              <a:ext cx="4248149" cy="2609849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706099" y="6429374"/>
              <a:ext cx="114300" cy="114300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10901014" y="6397624"/>
            <a:ext cx="91313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114" b="1">
                <a:solidFill>
                  <a:srgbClr val="747474"/>
                </a:solidFill>
                <a:latin typeface="Trebuchet MS"/>
                <a:cs typeface="Trebuchet MS"/>
              </a:rPr>
              <a:t>AUTOMASPEC</a:t>
            </a:r>
            <a:endParaRPr sz="9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999" y="542924"/>
            <a:ext cx="57150" cy="714375"/>
          </a:xfrm>
          <a:custGeom>
            <a:avLst/>
            <a:gdLst/>
            <a:ahLst/>
            <a:cxnLst/>
            <a:rect l="l" t="t" r="r" b="b"/>
            <a:pathLst>
              <a:path w="57150" h="714375">
                <a:moveTo>
                  <a:pt x="32364" y="714374"/>
                </a:moveTo>
                <a:lnTo>
                  <a:pt x="24785" y="714374"/>
                </a:lnTo>
                <a:lnTo>
                  <a:pt x="21140" y="713649"/>
                </a:lnTo>
                <a:lnTo>
                  <a:pt x="0" y="689589"/>
                </a:lnTo>
                <a:lnTo>
                  <a:pt x="0" y="685799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49" y="24785"/>
                </a:lnTo>
                <a:lnTo>
                  <a:pt x="57149" y="689589"/>
                </a:lnTo>
                <a:lnTo>
                  <a:pt x="36009" y="713649"/>
                </a:lnTo>
                <a:lnTo>
                  <a:pt x="32364" y="714374"/>
                </a:lnTo>
                <a:close/>
              </a:path>
            </a:pathLst>
          </a:custGeom>
          <a:solidFill>
            <a:srgbClr val="41A5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044575" y="739775"/>
            <a:ext cx="1423035" cy="2540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185">
                <a:solidFill>
                  <a:srgbClr val="4DB5AB"/>
                </a:solidFill>
                <a:latin typeface="Arial Narrow"/>
                <a:cs typeface="Arial Narrow"/>
              </a:rPr>
              <a:t>THE</a:t>
            </a:r>
            <a:r>
              <a:rPr dirty="0" sz="1500" spc="310">
                <a:solidFill>
                  <a:srgbClr val="4DB5AB"/>
                </a:solidFill>
                <a:latin typeface="Arial Narrow"/>
                <a:cs typeface="Arial Narrow"/>
              </a:rPr>
              <a:t> </a:t>
            </a:r>
            <a:r>
              <a:rPr dirty="0" sz="1500" spc="210">
                <a:solidFill>
                  <a:srgbClr val="4DB5AB"/>
                </a:solidFill>
                <a:latin typeface="Arial Narrow"/>
                <a:cs typeface="Arial Narrow"/>
              </a:rPr>
              <a:t>BIG</a:t>
            </a:r>
            <a:r>
              <a:rPr dirty="0" sz="1500" spc="310">
                <a:solidFill>
                  <a:srgbClr val="4DB5AB"/>
                </a:solidFill>
                <a:latin typeface="Arial Narrow"/>
                <a:cs typeface="Arial Narrow"/>
              </a:rPr>
              <a:t> </a:t>
            </a:r>
            <a:r>
              <a:rPr dirty="0" sz="1500" spc="195">
                <a:solidFill>
                  <a:srgbClr val="4DB5AB"/>
                </a:solidFill>
                <a:latin typeface="Arial Narrow"/>
                <a:cs typeface="Arial Narrow"/>
              </a:rPr>
              <a:t>IDEA</a:t>
            </a:r>
            <a:endParaRPr sz="15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44575" y="1330325"/>
            <a:ext cx="3607435" cy="619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900" spc="375" b="1">
                <a:solidFill>
                  <a:srgbClr val="202020"/>
                </a:solidFill>
                <a:latin typeface="Trebuchet MS"/>
                <a:cs typeface="Trebuchet MS"/>
              </a:rPr>
              <a:t>What</a:t>
            </a:r>
            <a:r>
              <a:rPr dirty="0" sz="3900" spc="-340" b="1">
                <a:solidFill>
                  <a:srgbClr val="202020"/>
                </a:solidFill>
                <a:latin typeface="Trebuchet MS"/>
                <a:cs typeface="Trebuchet MS"/>
              </a:rPr>
              <a:t> </a:t>
            </a:r>
            <a:r>
              <a:rPr dirty="0" sz="3900" spc="385" b="1">
                <a:solidFill>
                  <a:srgbClr val="202020"/>
                </a:solidFill>
                <a:latin typeface="Trebuchet MS"/>
                <a:cs typeface="Trebuchet MS"/>
              </a:rPr>
              <a:t>We</a:t>
            </a:r>
            <a:r>
              <a:rPr dirty="0" sz="3900" spc="-340" b="1">
                <a:solidFill>
                  <a:srgbClr val="202020"/>
                </a:solidFill>
                <a:latin typeface="Trebuchet MS"/>
                <a:cs typeface="Trebuchet MS"/>
              </a:rPr>
              <a:t> </a:t>
            </a:r>
            <a:r>
              <a:rPr dirty="0" sz="3900" spc="100" b="1">
                <a:solidFill>
                  <a:srgbClr val="202020"/>
                </a:solidFill>
                <a:latin typeface="Trebuchet MS"/>
                <a:cs typeface="Trebuchet MS"/>
              </a:rPr>
              <a:t>Built</a:t>
            </a:r>
            <a:endParaRPr sz="3900">
              <a:latin typeface="Trebuchet MS"/>
              <a:cs typeface="Trebuchet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61999" y="2648227"/>
            <a:ext cx="70485" cy="923925"/>
          </a:xfrm>
          <a:custGeom>
            <a:avLst/>
            <a:gdLst/>
            <a:ahLst/>
            <a:cxnLst/>
            <a:rect l="l" t="t" r="r" b="b"/>
            <a:pathLst>
              <a:path w="70484" h="923925">
                <a:moveTo>
                  <a:pt x="70450" y="923369"/>
                </a:moveTo>
                <a:lnTo>
                  <a:pt x="33857" y="910816"/>
                </a:lnTo>
                <a:lnTo>
                  <a:pt x="5800" y="876607"/>
                </a:lnTo>
                <a:lnTo>
                  <a:pt x="0" y="847447"/>
                </a:lnTo>
                <a:lnTo>
                  <a:pt x="0" y="75922"/>
                </a:lnTo>
                <a:lnTo>
                  <a:pt x="12830" y="33579"/>
                </a:lnTo>
                <a:lnTo>
                  <a:pt x="47039" y="5522"/>
                </a:lnTo>
                <a:lnTo>
                  <a:pt x="70449" y="0"/>
                </a:lnTo>
                <a:lnTo>
                  <a:pt x="66287" y="1655"/>
                </a:lnTo>
                <a:lnTo>
                  <a:pt x="56952" y="9389"/>
                </a:lnTo>
                <a:lnTo>
                  <a:pt x="41000" y="46761"/>
                </a:lnTo>
                <a:lnTo>
                  <a:pt x="38100" y="75922"/>
                </a:lnTo>
                <a:lnTo>
                  <a:pt x="38100" y="847447"/>
                </a:lnTo>
                <a:lnTo>
                  <a:pt x="44515" y="889789"/>
                </a:lnTo>
                <a:lnTo>
                  <a:pt x="66287" y="921713"/>
                </a:lnTo>
                <a:lnTo>
                  <a:pt x="70450" y="923369"/>
                </a:lnTo>
                <a:close/>
              </a:path>
            </a:pathLst>
          </a:custGeom>
          <a:solidFill>
            <a:srgbClr val="DFDFD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" name="object 6"/>
          <p:cNvGrpSpPr/>
          <p:nvPr/>
        </p:nvGrpSpPr>
        <p:grpSpPr>
          <a:xfrm>
            <a:off x="990599" y="2924174"/>
            <a:ext cx="381000" cy="381000"/>
            <a:chOff x="990599" y="2924174"/>
            <a:chExt cx="381000" cy="381000"/>
          </a:xfrm>
        </p:grpSpPr>
        <p:sp>
          <p:nvSpPr>
            <p:cNvPr id="7" name="object 7"/>
            <p:cNvSpPr/>
            <p:nvPr/>
          </p:nvSpPr>
          <p:spPr>
            <a:xfrm>
              <a:off x="990599" y="2924174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09803" y="380999"/>
                  </a:moveTo>
                  <a:lnTo>
                    <a:pt x="71196" y="380999"/>
                  </a:lnTo>
                  <a:lnTo>
                    <a:pt x="66241" y="380511"/>
                  </a:lnTo>
                  <a:lnTo>
                    <a:pt x="29705" y="365377"/>
                  </a:lnTo>
                  <a:lnTo>
                    <a:pt x="3885" y="329337"/>
                  </a:lnTo>
                  <a:lnTo>
                    <a:pt x="0" y="309803"/>
                  </a:lnTo>
                  <a:lnTo>
                    <a:pt x="0" y="3047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309803" y="0"/>
                  </a:lnTo>
                  <a:lnTo>
                    <a:pt x="351294" y="15621"/>
                  </a:lnTo>
                  <a:lnTo>
                    <a:pt x="377114" y="51661"/>
                  </a:lnTo>
                  <a:lnTo>
                    <a:pt x="380999" y="71196"/>
                  </a:lnTo>
                  <a:lnTo>
                    <a:pt x="380999" y="309803"/>
                  </a:lnTo>
                  <a:lnTo>
                    <a:pt x="365378" y="351293"/>
                  </a:lnTo>
                  <a:lnTo>
                    <a:pt x="329337" y="377113"/>
                  </a:lnTo>
                  <a:lnTo>
                    <a:pt x="314758" y="380511"/>
                  </a:lnTo>
                  <a:lnTo>
                    <a:pt x="309803" y="380999"/>
                  </a:lnTo>
                  <a:close/>
                </a:path>
              </a:pathLst>
            </a:custGeom>
            <a:solidFill>
              <a:srgbClr val="E3F1F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01724" y="3051174"/>
              <a:ext cx="158749" cy="126999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1530349" y="2740249"/>
            <a:ext cx="2941955" cy="681990"/>
          </a:xfrm>
          <a:prstGeom prst="rect">
            <a:avLst/>
          </a:prstGeom>
        </p:spPr>
        <p:txBody>
          <a:bodyPr wrap="square" lIns="0" tIns="787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dirty="0" sz="1200" spc="55" b="1">
                <a:solidFill>
                  <a:srgbClr val="414141"/>
                </a:solidFill>
                <a:latin typeface="Trebuchet MS"/>
                <a:cs typeface="Trebuchet MS"/>
              </a:rPr>
              <a:t>Structured</a:t>
            </a:r>
            <a:r>
              <a:rPr dirty="0" sz="1200" spc="-65" b="1">
                <a:solidFill>
                  <a:srgbClr val="414141"/>
                </a:solidFill>
                <a:latin typeface="Trebuchet MS"/>
                <a:cs typeface="Trebuchet MS"/>
              </a:rPr>
              <a:t> </a:t>
            </a:r>
            <a:r>
              <a:rPr dirty="0" sz="1200" spc="95" b="1">
                <a:solidFill>
                  <a:srgbClr val="414141"/>
                </a:solidFill>
                <a:latin typeface="Trebuchet MS"/>
                <a:cs typeface="Trebuchet MS"/>
              </a:rPr>
              <a:t>Workspace</a:t>
            </a:r>
            <a:endParaRPr sz="1200">
              <a:latin typeface="Trebuchet MS"/>
              <a:cs typeface="Trebuchet MS"/>
            </a:endParaRPr>
          </a:p>
          <a:p>
            <a:pPr marL="12700" marR="5080">
              <a:lnSpc>
                <a:spcPct val="113100"/>
              </a:lnSpc>
              <a:spcBef>
                <a:spcPts val="345"/>
              </a:spcBef>
            </a:pPr>
            <a:r>
              <a:rPr dirty="0" sz="1050" spc="-10">
                <a:solidFill>
                  <a:srgbClr val="747474"/>
                </a:solidFill>
                <a:latin typeface="Microsoft Sans Serif"/>
                <a:cs typeface="Microsoft Sans Serif"/>
              </a:rPr>
              <a:t>Folders</a:t>
            </a:r>
            <a:r>
              <a:rPr dirty="0" sz="1050">
                <a:solidFill>
                  <a:srgbClr val="747474"/>
                </a:solidFill>
                <a:latin typeface="Microsoft Sans Serif"/>
                <a:cs typeface="Microsoft Sans Serif"/>
              </a:rPr>
              <a:t> </a:t>
            </a:r>
            <a:r>
              <a:rPr dirty="0" sz="950">
                <a:solidFill>
                  <a:srgbClr val="747474"/>
                </a:solidFill>
                <a:latin typeface="Arial"/>
                <a:cs typeface="Arial"/>
              </a:rPr>
              <a:t>→</a:t>
            </a:r>
            <a:r>
              <a:rPr dirty="0" sz="950" spc="15">
                <a:solidFill>
                  <a:srgbClr val="747474"/>
                </a:solidFill>
                <a:latin typeface="Arial"/>
                <a:cs typeface="Arial"/>
              </a:rPr>
              <a:t> </a:t>
            </a:r>
            <a:r>
              <a:rPr dirty="0" sz="1050" spc="-20">
                <a:solidFill>
                  <a:srgbClr val="747474"/>
                </a:solidFill>
                <a:latin typeface="Microsoft Sans Serif"/>
                <a:cs typeface="Microsoft Sans Serif"/>
              </a:rPr>
              <a:t>Features</a:t>
            </a:r>
            <a:r>
              <a:rPr dirty="0" sz="1050">
                <a:solidFill>
                  <a:srgbClr val="747474"/>
                </a:solidFill>
                <a:latin typeface="Microsoft Sans Serif"/>
                <a:cs typeface="Microsoft Sans Serif"/>
              </a:rPr>
              <a:t> </a:t>
            </a:r>
            <a:r>
              <a:rPr dirty="0" sz="950">
                <a:solidFill>
                  <a:srgbClr val="747474"/>
                </a:solidFill>
                <a:latin typeface="Arial"/>
                <a:cs typeface="Arial"/>
              </a:rPr>
              <a:t>→</a:t>
            </a:r>
            <a:r>
              <a:rPr dirty="0" sz="950" spc="20">
                <a:solidFill>
                  <a:srgbClr val="747474"/>
                </a:solidFill>
                <a:latin typeface="Arial"/>
                <a:cs typeface="Arial"/>
              </a:rPr>
              <a:t> </a:t>
            </a:r>
            <a:r>
              <a:rPr dirty="0" sz="1050" spc="-20">
                <a:solidFill>
                  <a:srgbClr val="747474"/>
                </a:solidFill>
                <a:latin typeface="Microsoft Sans Serif"/>
                <a:cs typeface="Microsoft Sans Serif"/>
              </a:rPr>
              <a:t>Requirements</a:t>
            </a:r>
            <a:r>
              <a:rPr dirty="0" sz="1050">
                <a:solidFill>
                  <a:srgbClr val="747474"/>
                </a:solidFill>
                <a:latin typeface="Microsoft Sans Serif"/>
                <a:cs typeface="Microsoft Sans Serif"/>
              </a:rPr>
              <a:t> </a:t>
            </a:r>
            <a:r>
              <a:rPr dirty="0" sz="950">
                <a:solidFill>
                  <a:srgbClr val="747474"/>
                </a:solidFill>
                <a:latin typeface="Arial"/>
                <a:cs typeface="Arial"/>
              </a:rPr>
              <a:t>→</a:t>
            </a:r>
            <a:r>
              <a:rPr dirty="0" sz="950" spc="15">
                <a:solidFill>
                  <a:srgbClr val="747474"/>
                </a:solidFill>
                <a:latin typeface="Arial"/>
                <a:cs typeface="Arial"/>
              </a:rPr>
              <a:t> </a:t>
            </a:r>
            <a:r>
              <a:rPr dirty="0" sz="1050" spc="-20">
                <a:solidFill>
                  <a:srgbClr val="747474"/>
                </a:solidFill>
                <a:latin typeface="Microsoft Sans Serif"/>
                <a:cs typeface="Microsoft Sans Serif"/>
              </a:rPr>
              <a:t>Tests</a:t>
            </a:r>
            <a:r>
              <a:rPr dirty="0" sz="1050">
                <a:solidFill>
                  <a:srgbClr val="74747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747474"/>
                </a:solidFill>
                <a:latin typeface="Microsoft Sans Serif"/>
                <a:cs typeface="Microsoft Sans Serif"/>
              </a:rPr>
              <a:t>with </a:t>
            </a:r>
            <a:r>
              <a:rPr dirty="0" sz="1050">
                <a:solidFill>
                  <a:srgbClr val="747474"/>
                </a:solidFill>
                <a:latin typeface="Microsoft Sans Serif"/>
                <a:cs typeface="Microsoft Sans Serif"/>
              </a:rPr>
              <a:t>aggregated</a:t>
            </a:r>
            <a:r>
              <a:rPr dirty="0" sz="1050" spc="-30">
                <a:solidFill>
                  <a:srgbClr val="74747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747474"/>
                </a:solidFill>
                <a:latin typeface="Microsoft Sans Serif"/>
                <a:cs typeface="Microsoft Sans Serif"/>
              </a:rPr>
              <a:t>status</a:t>
            </a:r>
            <a:endParaRPr sz="105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61999" y="3743602"/>
            <a:ext cx="70485" cy="742950"/>
          </a:xfrm>
          <a:custGeom>
            <a:avLst/>
            <a:gdLst/>
            <a:ahLst/>
            <a:cxnLst/>
            <a:rect l="l" t="t" r="r" b="b"/>
            <a:pathLst>
              <a:path w="70484" h="742950">
                <a:moveTo>
                  <a:pt x="70450" y="742394"/>
                </a:moveTo>
                <a:lnTo>
                  <a:pt x="33857" y="729841"/>
                </a:lnTo>
                <a:lnTo>
                  <a:pt x="5800" y="695632"/>
                </a:lnTo>
                <a:lnTo>
                  <a:pt x="0" y="666472"/>
                </a:lnTo>
                <a:lnTo>
                  <a:pt x="0" y="75922"/>
                </a:lnTo>
                <a:lnTo>
                  <a:pt x="12830" y="33579"/>
                </a:lnTo>
                <a:lnTo>
                  <a:pt x="47039" y="5522"/>
                </a:lnTo>
                <a:lnTo>
                  <a:pt x="70449" y="0"/>
                </a:lnTo>
                <a:lnTo>
                  <a:pt x="66287" y="1655"/>
                </a:lnTo>
                <a:lnTo>
                  <a:pt x="56952" y="9389"/>
                </a:lnTo>
                <a:lnTo>
                  <a:pt x="41000" y="46761"/>
                </a:lnTo>
                <a:lnTo>
                  <a:pt x="38100" y="75922"/>
                </a:lnTo>
                <a:lnTo>
                  <a:pt x="38100" y="666472"/>
                </a:lnTo>
                <a:lnTo>
                  <a:pt x="44515" y="708814"/>
                </a:lnTo>
                <a:lnTo>
                  <a:pt x="66287" y="740738"/>
                </a:lnTo>
                <a:lnTo>
                  <a:pt x="70450" y="742394"/>
                </a:lnTo>
                <a:close/>
              </a:path>
            </a:pathLst>
          </a:custGeom>
          <a:solidFill>
            <a:srgbClr val="DFDFD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1" name="object 11"/>
          <p:cNvGrpSpPr/>
          <p:nvPr/>
        </p:nvGrpSpPr>
        <p:grpSpPr>
          <a:xfrm>
            <a:off x="990599" y="3924299"/>
            <a:ext cx="381000" cy="381000"/>
            <a:chOff x="990599" y="3924299"/>
            <a:chExt cx="381000" cy="381000"/>
          </a:xfrm>
        </p:grpSpPr>
        <p:sp>
          <p:nvSpPr>
            <p:cNvPr id="12" name="object 12"/>
            <p:cNvSpPr/>
            <p:nvPr/>
          </p:nvSpPr>
          <p:spPr>
            <a:xfrm>
              <a:off x="990599" y="3924299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09803" y="380999"/>
                  </a:moveTo>
                  <a:lnTo>
                    <a:pt x="71196" y="380999"/>
                  </a:lnTo>
                  <a:lnTo>
                    <a:pt x="66241" y="380511"/>
                  </a:lnTo>
                  <a:lnTo>
                    <a:pt x="29705" y="365377"/>
                  </a:lnTo>
                  <a:lnTo>
                    <a:pt x="3885" y="329337"/>
                  </a:lnTo>
                  <a:lnTo>
                    <a:pt x="0" y="309803"/>
                  </a:lnTo>
                  <a:lnTo>
                    <a:pt x="0" y="3047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309803" y="0"/>
                  </a:lnTo>
                  <a:lnTo>
                    <a:pt x="351294" y="15621"/>
                  </a:lnTo>
                  <a:lnTo>
                    <a:pt x="377114" y="51661"/>
                  </a:lnTo>
                  <a:lnTo>
                    <a:pt x="380999" y="71196"/>
                  </a:lnTo>
                  <a:lnTo>
                    <a:pt x="380999" y="309803"/>
                  </a:lnTo>
                  <a:lnTo>
                    <a:pt x="365378" y="351294"/>
                  </a:lnTo>
                  <a:lnTo>
                    <a:pt x="329337" y="377114"/>
                  </a:lnTo>
                  <a:lnTo>
                    <a:pt x="314758" y="380511"/>
                  </a:lnTo>
                  <a:lnTo>
                    <a:pt x="309803" y="380999"/>
                  </a:lnTo>
                  <a:close/>
                </a:path>
              </a:pathLst>
            </a:custGeom>
            <a:solidFill>
              <a:srgbClr val="E3F1F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09662" y="4043362"/>
              <a:ext cx="150812" cy="126999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1530349" y="3835624"/>
            <a:ext cx="2230755" cy="501015"/>
          </a:xfrm>
          <a:prstGeom prst="rect">
            <a:avLst/>
          </a:prstGeom>
        </p:spPr>
        <p:txBody>
          <a:bodyPr wrap="square" lIns="0" tIns="787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dirty="0" sz="1200" spc="75" b="1">
                <a:solidFill>
                  <a:srgbClr val="414141"/>
                </a:solidFill>
                <a:latin typeface="Trebuchet MS"/>
                <a:cs typeface="Trebuchet MS"/>
              </a:rPr>
              <a:t>Import</a:t>
            </a:r>
            <a:r>
              <a:rPr dirty="0" sz="1200" spc="-110" b="1">
                <a:solidFill>
                  <a:srgbClr val="414141"/>
                </a:solidFill>
                <a:latin typeface="Trebuchet MS"/>
                <a:cs typeface="Trebuchet MS"/>
              </a:rPr>
              <a:t> </a:t>
            </a:r>
            <a:r>
              <a:rPr dirty="0" sz="1200" spc="65" b="1">
                <a:solidFill>
                  <a:srgbClr val="414141"/>
                </a:solidFill>
                <a:latin typeface="Trebuchet MS"/>
                <a:cs typeface="Trebuchet MS"/>
              </a:rPr>
              <a:t>Real</a:t>
            </a:r>
            <a:r>
              <a:rPr dirty="0" sz="1200" spc="-105" b="1">
                <a:solidFill>
                  <a:srgbClr val="414141"/>
                </a:solidFill>
                <a:latin typeface="Trebuchet MS"/>
                <a:cs typeface="Trebuchet MS"/>
              </a:rPr>
              <a:t> </a:t>
            </a:r>
            <a:r>
              <a:rPr dirty="0" sz="1200" spc="55" b="1">
                <a:solidFill>
                  <a:srgbClr val="414141"/>
                </a:solidFill>
                <a:latin typeface="Trebuchet MS"/>
                <a:cs typeface="Trebuchet MS"/>
              </a:rPr>
              <a:t>Tests</a:t>
            </a:r>
            <a:endParaRPr sz="12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dirty="0" sz="1050">
                <a:solidFill>
                  <a:srgbClr val="747474"/>
                </a:solidFill>
                <a:latin typeface="Microsoft Sans Serif"/>
                <a:cs typeface="Microsoft Sans Serif"/>
              </a:rPr>
              <a:t>Start</a:t>
            </a:r>
            <a:r>
              <a:rPr dirty="0" sz="1050" spc="-10">
                <a:solidFill>
                  <a:srgbClr val="74747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747474"/>
                </a:solidFill>
                <a:latin typeface="Microsoft Sans Serif"/>
                <a:cs typeface="Microsoft Sans Serif"/>
              </a:rPr>
              <a:t>from</a:t>
            </a:r>
            <a:r>
              <a:rPr dirty="0" sz="1050" spc="-5">
                <a:solidFill>
                  <a:srgbClr val="74747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747474"/>
                </a:solidFill>
                <a:latin typeface="Microsoft Sans Serif"/>
                <a:cs typeface="Microsoft Sans Serif"/>
              </a:rPr>
              <a:t>existing</a:t>
            </a:r>
            <a:r>
              <a:rPr dirty="0" sz="1050" spc="-5">
                <a:solidFill>
                  <a:srgbClr val="74747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747474"/>
                </a:solidFill>
                <a:latin typeface="Microsoft Sans Serif"/>
                <a:cs typeface="Microsoft Sans Serif"/>
              </a:rPr>
              <a:t>Vitest</a:t>
            </a:r>
            <a:r>
              <a:rPr dirty="0" sz="1050" spc="-10">
                <a:solidFill>
                  <a:srgbClr val="74747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40">
                <a:solidFill>
                  <a:srgbClr val="747474"/>
                </a:solidFill>
                <a:latin typeface="Microsoft Sans Serif"/>
                <a:cs typeface="Microsoft Sans Serif"/>
              </a:rPr>
              <a:t>JSON</a:t>
            </a:r>
            <a:r>
              <a:rPr dirty="0" sz="1050" spc="-5">
                <a:solidFill>
                  <a:srgbClr val="74747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747474"/>
                </a:solidFill>
                <a:latin typeface="Microsoft Sans Serif"/>
                <a:cs typeface="Microsoft Sans Serif"/>
              </a:rPr>
              <a:t>report</a:t>
            </a:r>
            <a:endParaRPr sz="1050">
              <a:latin typeface="Microsoft Sans Serif"/>
              <a:cs typeface="Microsoft Sans Serif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61999" y="4658002"/>
            <a:ext cx="70485" cy="742950"/>
          </a:xfrm>
          <a:custGeom>
            <a:avLst/>
            <a:gdLst/>
            <a:ahLst/>
            <a:cxnLst/>
            <a:rect l="l" t="t" r="r" b="b"/>
            <a:pathLst>
              <a:path w="70484" h="742950">
                <a:moveTo>
                  <a:pt x="70450" y="742394"/>
                </a:moveTo>
                <a:lnTo>
                  <a:pt x="33857" y="729841"/>
                </a:lnTo>
                <a:lnTo>
                  <a:pt x="5800" y="695632"/>
                </a:lnTo>
                <a:lnTo>
                  <a:pt x="0" y="666472"/>
                </a:lnTo>
                <a:lnTo>
                  <a:pt x="0" y="75922"/>
                </a:lnTo>
                <a:lnTo>
                  <a:pt x="12830" y="33579"/>
                </a:lnTo>
                <a:lnTo>
                  <a:pt x="47039" y="5522"/>
                </a:lnTo>
                <a:lnTo>
                  <a:pt x="70449" y="0"/>
                </a:lnTo>
                <a:lnTo>
                  <a:pt x="66287" y="1655"/>
                </a:lnTo>
                <a:lnTo>
                  <a:pt x="56952" y="9389"/>
                </a:lnTo>
                <a:lnTo>
                  <a:pt x="41000" y="46760"/>
                </a:lnTo>
                <a:lnTo>
                  <a:pt x="38100" y="75922"/>
                </a:lnTo>
                <a:lnTo>
                  <a:pt x="38100" y="666472"/>
                </a:lnTo>
                <a:lnTo>
                  <a:pt x="44515" y="708813"/>
                </a:lnTo>
                <a:lnTo>
                  <a:pt x="66287" y="740738"/>
                </a:lnTo>
                <a:lnTo>
                  <a:pt x="70450" y="742394"/>
                </a:lnTo>
                <a:close/>
              </a:path>
            </a:pathLst>
          </a:custGeom>
          <a:solidFill>
            <a:srgbClr val="DFDFD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6" name="object 16"/>
          <p:cNvGrpSpPr/>
          <p:nvPr/>
        </p:nvGrpSpPr>
        <p:grpSpPr>
          <a:xfrm>
            <a:off x="990599" y="4838699"/>
            <a:ext cx="381000" cy="381000"/>
            <a:chOff x="990599" y="4838699"/>
            <a:chExt cx="381000" cy="381000"/>
          </a:xfrm>
        </p:grpSpPr>
        <p:sp>
          <p:nvSpPr>
            <p:cNvPr id="17" name="object 17"/>
            <p:cNvSpPr/>
            <p:nvPr/>
          </p:nvSpPr>
          <p:spPr>
            <a:xfrm>
              <a:off x="990599" y="4838699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09803" y="380999"/>
                  </a:moveTo>
                  <a:lnTo>
                    <a:pt x="71196" y="380999"/>
                  </a:lnTo>
                  <a:lnTo>
                    <a:pt x="66241" y="380511"/>
                  </a:lnTo>
                  <a:lnTo>
                    <a:pt x="29705" y="365378"/>
                  </a:lnTo>
                  <a:lnTo>
                    <a:pt x="3885" y="329337"/>
                  </a:lnTo>
                  <a:lnTo>
                    <a:pt x="0" y="309803"/>
                  </a:lnTo>
                  <a:lnTo>
                    <a:pt x="0" y="304799"/>
                  </a:lnTo>
                  <a:lnTo>
                    <a:pt x="0" y="71196"/>
                  </a:lnTo>
                  <a:lnTo>
                    <a:pt x="15621" y="29704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309803" y="0"/>
                  </a:lnTo>
                  <a:lnTo>
                    <a:pt x="351294" y="15621"/>
                  </a:lnTo>
                  <a:lnTo>
                    <a:pt x="377114" y="51660"/>
                  </a:lnTo>
                  <a:lnTo>
                    <a:pt x="380999" y="71196"/>
                  </a:lnTo>
                  <a:lnTo>
                    <a:pt x="380999" y="309803"/>
                  </a:lnTo>
                  <a:lnTo>
                    <a:pt x="365378" y="351293"/>
                  </a:lnTo>
                  <a:lnTo>
                    <a:pt x="329337" y="377113"/>
                  </a:lnTo>
                  <a:lnTo>
                    <a:pt x="314758" y="380511"/>
                  </a:lnTo>
                  <a:lnTo>
                    <a:pt x="309803" y="380999"/>
                  </a:lnTo>
                  <a:close/>
                </a:path>
              </a:pathLst>
            </a:custGeom>
            <a:solidFill>
              <a:srgbClr val="E3F1F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25537" y="4949824"/>
              <a:ext cx="111124" cy="158749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1530349" y="4750024"/>
            <a:ext cx="2027555" cy="501015"/>
          </a:xfrm>
          <a:prstGeom prst="rect">
            <a:avLst/>
          </a:prstGeom>
        </p:spPr>
        <p:txBody>
          <a:bodyPr wrap="square" lIns="0" tIns="787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dirty="0" sz="1200" spc="145" b="1">
                <a:solidFill>
                  <a:srgbClr val="414141"/>
                </a:solidFill>
                <a:latin typeface="Trebuchet MS"/>
                <a:cs typeface="Trebuchet MS"/>
              </a:rPr>
              <a:t>CI-</a:t>
            </a:r>
            <a:r>
              <a:rPr dirty="0" sz="1200" spc="55" b="1">
                <a:solidFill>
                  <a:srgbClr val="414141"/>
                </a:solidFill>
                <a:latin typeface="Trebuchet MS"/>
                <a:cs typeface="Trebuchet MS"/>
              </a:rPr>
              <a:t>Driven</a:t>
            </a:r>
            <a:r>
              <a:rPr dirty="0" sz="1200" spc="-105" b="1">
                <a:solidFill>
                  <a:srgbClr val="414141"/>
                </a:solidFill>
                <a:latin typeface="Trebuchet MS"/>
                <a:cs typeface="Trebuchet MS"/>
              </a:rPr>
              <a:t> </a:t>
            </a:r>
            <a:r>
              <a:rPr dirty="0" sz="1200" spc="80" b="1">
                <a:solidFill>
                  <a:srgbClr val="414141"/>
                </a:solidFill>
                <a:latin typeface="Trebuchet MS"/>
                <a:cs typeface="Trebuchet MS"/>
              </a:rPr>
              <a:t>Status</a:t>
            </a:r>
            <a:endParaRPr sz="12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dirty="0" sz="1050">
                <a:solidFill>
                  <a:srgbClr val="747474"/>
                </a:solidFill>
                <a:latin typeface="Microsoft Sans Serif"/>
                <a:cs typeface="Microsoft Sans Serif"/>
              </a:rPr>
              <a:t>Pass/fail/pending by</a:t>
            </a:r>
            <a:r>
              <a:rPr dirty="0" sz="1050" spc="5">
                <a:solidFill>
                  <a:srgbClr val="74747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747474"/>
                </a:solidFill>
                <a:latin typeface="Microsoft Sans Serif"/>
                <a:cs typeface="Microsoft Sans Serif"/>
              </a:rPr>
              <a:t>requirements</a:t>
            </a:r>
            <a:endParaRPr sz="1050">
              <a:latin typeface="Microsoft Sans Serif"/>
              <a:cs typeface="Microsoft Sans Serif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761999" y="5572402"/>
            <a:ext cx="70485" cy="742950"/>
          </a:xfrm>
          <a:custGeom>
            <a:avLst/>
            <a:gdLst/>
            <a:ahLst/>
            <a:cxnLst/>
            <a:rect l="l" t="t" r="r" b="b"/>
            <a:pathLst>
              <a:path w="70484" h="742950">
                <a:moveTo>
                  <a:pt x="70450" y="742394"/>
                </a:moveTo>
                <a:lnTo>
                  <a:pt x="33857" y="729841"/>
                </a:lnTo>
                <a:lnTo>
                  <a:pt x="5800" y="695632"/>
                </a:lnTo>
                <a:lnTo>
                  <a:pt x="0" y="666472"/>
                </a:lnTo>
                <a:lnTo>
                  <a:pt x="0" y="75922"/>
                </a:lnTo>
                <a:lnTo>
                  <a:pt x="12830" y="33579"/>
                </a:lnTo>
                <a:lnTo>
                  <a:pt x="47039" y="5522"/>
                </a:lnTo>
                <a:lnTo>
                  <a:pt x="70449" y="0"/>
                </a:lnTo>
                <a:lnTo>
                  <a:pt x="66287" y="1655"/>
                </a:lnTo>
                <a:lnTo>
                  <a:pt x="56952" y="9389"/>
                </a:lnTo>
                <a:lnTo>
                  <a:pt x="41000" y="46761"/>
                </a:lnTo>
                <a:lnTo>
                  <a:pt x="38100" y="75922"/>
                </a:lnTo>
                <a:lnTo>
                  <a:pt x="38100" y="666472"/>
                </a:lnTo>
                <a:lnTo>
                  <a:pt x="44515" y="708813"/>
                </a:lnTo>
                <a:lnTo>
                  <a:pt x="66287" y="740738"/>
                </a:lnTo>
                <a:lnTo>
                  <a:pt x="70450" y="742394"/>
                </a:lnTo>
                <a:close/>
              </a:path>
            </a:pathLst>
          </a:custGeom>
          <a:solidFill>
            <a:srgbClr val="DFDFD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1" name="object 21"/>
          <p:cNvGrpSpPr/>
          <p:nvPr/>
        </p:nvGrpSpPr>
        <p:grpSpPr>
          <a:xfrm>
            <a:off x="990599" y="5753099"/>
            <a:ext cx="381000" cy="381000"/>
            <a:chOff x="990599" y="5753099"/>
            <a:chExt cx="381000" cy="381000"/>
          </a:xfrm>
        </p:grpSpPr>
        <p:sp>
          <p:nvSpPr>
            <p:cNvPr id="22" name="object 22"/>
            <p:cNvSpPr/>
            <p:nvPr/>
          </p:nvSpPr>
          <p:spPr>
            <a:xfrm>
              <a:off x="990599" y="5753099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09803" y="380999"/>
                  </a:moveTo>
                  <a:lnTo>
                    <a:pt x="71196" y="380999"/>
                  </a:lnTo>
                  <a:lnTo>
                    <a:pt x="66241" y="380511"/>
                  </a:lnTo>
                  <a:lnTo>
                    <a:pt x="29705" y="365377"/>
                  </a:lnTo>
                  <a:lnTo>
                    <a:pt x="3885" y="329336"/>
                  </a:lnTo>
                  <a:lnTo>
                    <a:pt x="0" y="309803"/>
                  </a:lnTo>
                  <a:lnTo>
                    <a:pt x="0" y="3047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309803" y="0"/>
                  </a:lnTo>
                  <a:lnTo>
                    <a:pt x="351294" y="15621"/>
                  </a:lnTo>
                  <a:lnTo>
                    <a:pt x="377114" y="51661"/>
                  </a:lnTo>
                  <a:lnTo>
                    <a:pt x="380999" y="71196"/>
                  </a:lnTo>
                  <a:lnTo>
                    <a:pt x="380999" y="309803"/>
                  </a:lnTo>
                  <a:lnTo>
                    <a:pt x="365378" y="351293"/>
                  </a:lnTo>
                  <a:lnTo>
                    <a:pt x="329337" y="377113"/>
                  </a:lnTo>
                  <a:lnTo>
                    <a:pt x="314758" y="380511"/>
                  </a:lnTo>
                  <a:lnTo>
                    <a:pt x="309803" y="380999"/>
                  </a:lnTo>
                  <a:close/>
                </a:path>
              </a:pathLst>
            </a:custGeom>
            <a:solidFill>
              <a:srgbClr val="E3F1F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01724" y="5895974"/>
              <a:ext cx="150812" cy="95249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1530349" y="5664424"/>
            <a:ext cx="3437254" cy="501015"/>
          </a:xfrm>
          <a:prstGeom prst="rect">
            <a:avLst/>
          </a:prstGeom>
        </p:spPr>
        <p:txBody>
          <a:bodyPr wrap="square" lIns="0" tIns="787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dirty="0" sz="1200" spc="45" b="1">
                <a:solidFill>
                  <a:srgbClr val="414141"/>
                </a:solidFill>
                <a:latin typeface="Trebuchet MS"/>
                <a:cs typeface="Trebuchet MS"/>
              </a:rPr>
              <a:t>Visibility</a:t>
            </a:r>
            <a:r>
              <a:rPr dirty="0" sz="1200" spc="-65" b="1">
                <a:solidFill>
                  <a:srgbClr val="414141"/>
                </a:solidFill>
                <a:latin typeface="Trebuchet MS"/>
                <a:cs typeface="Trebuchet MS"/>
              </a:rPr>
              <a:t> </a:t>
            </a:r>
            <a:r>
              <a:rPr dirty="0" sz="1200" b="1">
                <a:solidFill>
                  <a:srgbClr val="414141"/>
                </a:solidFill>
                <a:latin typeface="Trebuchet MS"/>
                <a:cs typeface="Trebuchet MS"/>
              </a:rPr>
              <a:t>for</a:t>
            </a:r>
            <a:r>
              <a:rPr dirty="0" sz="1200" spc="-60" b="1">
                <a:solidFill>
                  <a:srgbClr val="414141"/>
                </a:solidFill>
                <a:latin typeface="Trebuchet MS"/>
                <a:cs typeface="Trebuchet MS"/>
              </a:rPr>
              <a:t> </a:t>
            </a:r>
            <a:r>
              <a:rPr dirty="0" sz="1200" spc="65" b="1">
                <a:solidFill>
                  <a:srgbClr val="414141"/>
                </a:solidFill>
                <a:latin typeface="Trebuchet MS"/>
                <a:cs typeface="Trebuchet MS"/>
              </a:rPr>
              <a:t>Stakeholders</a:t>
            </a:r>
            <a:endParaRPr sz="12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dirty="0" sz="1050">
                <a:solidFill>
                  <a:srgbClr val="747474"/>
                </a:solidFill>
                <a:latin typeface="Microsoft Sans Serif"/>
                <a:cs typeface="Microsoft Sans Serif"/>
              </a:rPr>
              <a:t>Analytics</a:t>
            </a:r>
            <a:r>
              <a:rPr dirty="0" sz="1050" spc="5">
                <a:solidFill>
                  <a:srgbClr val="74747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747474"/>
                </a:solidFill>
                <a:latin typeface="Microsoft Sans Serif"/>
                <a:cs typeface="Microsoft Sans Serif"/>
              </a:rPr>
              <a:t>that</a:t>
            </a:r>
            <a:r>
              <a:rPr dirty="0" sz="1050" spc="10">
                <a:solidFill>
                  <a:srgbClr val="74747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747474"/>
                </a:solidFill>
                <a:latin typeface="Microsoft Sans Serif"/>
                <a:cs typeface="Microsoft Sans Serif"/>
              </a:rPr>
              <a:t>answer</a:t>
            </a:r>
            <a:r>
              <a:rPr dirty="0" sz="1050" spc="10">
                <a:solidFill>
                  <a:srgbClr val="74747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747474"/>
                </a:solidFill>
                <a:latin typeface="Microsoft Sans Serif"/>
                <a:cs typeface="Microsoft Sans Serif"/>
              </a:rPr>
              <a:t>"are</a:t>
            </a:r>
            <a:r>
              <a:rPr dirty="0" sz="1050" spc="10">
                <a:solidFill>
                  <a:srgbClr val="74747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747474"/>
                </a:solidFill>
                <a:latin typeface="Microsoft Sans Serif"/>
                <a:cs typeface="Microsoft Sans Serif"/>
              </a:rPr>
              <a:t>we</a:t>
            </a:r>
            <a:r>
              <a:rPr dirty="0" sz="1050" spc="10">
                <a:solidFill>
                  <a:srgbClr val="74747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5">
                <a:solidFill>
                  <a:srgbClr val="747474"/>
                </a:solidFill>
                <a:latin typeface="Microsoft Sans Serif"/>
                <a:cs typeface="Microsoft Sans Serif"/>
              </a:rPr>
              <a:t>OK?"</a:t>
            </a:r>
            <a:r>
              <a:rPr dirty="0" sz="1050" spc="10">
                <a:solidFill>
                  <a:srgbClr val="74747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747474"/>
                </a:solidFill>
                <a:latin typeface="Microsoft Sans Serif"/>
                <a:cs typeface="Microsoft Sans Serif"/>
              </a:rPr>
              <a:t>and</a:t>
            </a:r>
            <a:r>
              <a:rPr dirty="0" sz="1050" spc="10">
                <a:solidFill>
                  <a:srgbClr val="74747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747474"/>
                </a:solidFill>
                <a:latin typeface="Microsoft Sans Serif"/>
                <a:cs typeface="Microsoft Sans Serif"/>
              </a:rPr>
              <a:t>"what's</a:t>
            </a:r>
            <a:r>
              <a:rPr dirty="0" sz="1050" spc="5">
                <a:solidFill>
                  <a:srgbClr val="74747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747474"/>
                </a:solidFill>
                <a:latin typeface="Microsoft Sans Serif"/>
                <a:cs typeface="Microsoft Sans Serif"/>
              </a:rPr>
              <a:t>missing?"</a:t>
            </a:r>
            <a:endParaRPr sz="1050">
              <a:latin typeface="Microsoft Sans Serif"/>
              <a:cs typeface="Microsoft Sans Serif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6086855" y="0"/>
            <a:ext cx="6105525" cy="6858000"/>
            <a:chOff x="6086855" y="0"/>
            <a:chExt cx="6105525" cy="6858000"/>
          </a:xfrm>
        </p:grpSpPr>
        <p:sp>
          <p:nvSpPr>
            <p:cNvPr id="26" name="object 26"/>
            <p:cNvSpPr/>
            <p:nvPr/>
          </p:nvSpPr>
          <p:spPr>
            <a:xfrm>
              <a:off x="6095999" y="0"/>
              <a:ext cx="6096000" cy="6858000"/>
            </a:xfrm>
            <a:custGeom>
              <a:avLst/>
              <a:gdLst/>
              <a:ahLst/>
              <a:cxnLst/>
              <a:rect l="l" t="t" r="r" b="b"/>
              <a:pathLst>
                <a:path w="6096000" h="6858000">
                  <a:moveTo>
                    <a:pt x="6095999" y="6857999"/>
                  </a:moveTo>
                  <a:lnTo>
                    <a:pt x="0" y="6857999"/>
                  </a:lnTo>
                  <a:lnTo>
                    <a:pt x="0" y="0"/>
                  </a:lnTo>
                  <a:lnTo>
                    <a:pt x="6095999" y="0"/>
                  </a:lnTo>
                  <a:lnTo>
                    <a:pt x="6095999" y="6857999"/>
                  </a:lnTo>
                  <a:close/>
                </a:path>
              </a:pathLst>
            </a:custGeom>
            <a:solidFill>
              <a:srgbClr val="F0F6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6086855" y="420623"/>
              <a:ext cx="6105525" cy="5294630"/>
            </a:xfrm>
            <a:custGeom>
              <a:avLst/>
              <a:gdLst/>
              <a:ahLst/>
              <a:cxnLst/>
              <a:rect l="l" t="t" r="r" b="b"/>
              <a:pathLst>
                <a:path w="6105525" h="5294630">
                  <a:moveTo>
                    <a:pt x="6105143" y="5294375"/>
                  </a:moveTo>
                  <a:lnTo>
                    <a:pt x="0" y="5294375"/>
                  </a:lnTo>
                  <a:lnTo>
                    <a:pt x="0" y="0"/>
                  </a:lnTo>
                  <a:lnTo>
                    <a:pt x="6105143" y="0"/>
                  </a:lnTo>
                  <a:lnTo>
                    <a:pt x="6105143" y="341375"/>
                  </a:lnTo>
                  <a:lnTo>
                    <a:pt x="647318" y="341375"/>
                  </a:lnTo>
                  <a:lnTo>
                    <a:pt x="636059" y="341919"/>
                  </a:lnTo>
                  <a:lnTo>
                    <a:pt x="593383" y="354887"/>
                  </a:lnTo>
                  <a:lnTo>
                    <a:pt x="558918" y="383199"/>
                  </a:lnTo>
                  <a:lnTo>
                    <a:pt x="537912" y="422545"/>
                  </a:lnTo>
                  <a:lnTo>
                    <a:pt x="533018" y="455675"/>
                  </a:lnTo>
                  <a:lnTo>
                    <a:pt x="533018" y="4456175"/>
                  </a:lnTo>
                  <a:lnTo>
                    <a:pt x="541718" y="4499915"/>
                  </a:lnTo>
                  <a:lnTo>
                    <a:pt x="566496" y="4536997"/>
                  </a:lnTo>
                  <a:lnTo>
                    <a:pt x="603577" y="4561774"/>
                  </a:lnTo>
                  <a:lnTo>
                    <a:pt x="647318" y="4570475"/>
                  </a:lnTo>
                  <a:lnTo>
                    <a:pt x="6105143" y="4570475"/>
                  </a:lnTo>
                  <a:lnTo>
                    <a:pt x="6105143" y="5294375"/>
                  </a:lnTo>
                  <a:close/>
                </a:path>
                <a:path w="6105525" h="5294630">
                  <a:moveTo>
                    <a:pt x="6105143" y="4570475"/>
                  </a:moveTo>
                  <a:lnTo>
                    <a:pt x="5466968" y="4570475"/>
                  </a:lnTo>
                  <a:lnTo>
                    <a:pt x="5478228" y="4569931"/>
                  </a:lnTo>
                  <a:lnTo>
                    <a:pt x="5489271" y="4568300"/>
                  </a:lnTo>
                  <a:lnTo>
                    <a:pt x="5530480" y="4551230"/>
                  </a:lnTo>
                  <a:lnTo>
                    <a:pt x="5562022" y="4519688"/>
                  </a:lnTo>
                  <a:lnTo>
                    <a:pt x="5579092" y="4478478"/>
                  </a:lnTo>
                  <a:lnTo>
                    <a:pt x="5581268" y="4456175"/>
                  </a:lnTo>
                  <a:lnTo>
                    <a:pt x="5581268" y="455675"/>
                  </a:lnTo>
                  <a:lnTo>
                    <a:pt x="5572566" y="411935"/>
                  </a:lnTo>
                  <a:lnTo>
                    <a:pt x="5547789" y="374853"/>
                  </a:lnTo>
                  <a:lnTo>
                    <a:pt x="5510708" y="350076"/>
                  </a:lnTo>
                  <a:lnTo>
                    <a:pt x="5466968" y="341375"/>
                  </a:lnTo>
                  <a:lnTo>
                    <a:pt x="6105143" y="341375"/>
                  </a:lnTo>
                  <a:lnTo>
                    <a:pt x="6105143" y="4570475"/>
                  </a:lnTo>
                  <a:close/>
                </a:path>
              </a:pathLst>
            </a:custGeom>
            <a:solidFill>
              <a:srgbClr val="41A5F5">
                <a:alpha val="148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6643686" y="785812"/>
              <a:ext cx="5000625" cy="4181475"/>
            </a:xfrm>
            <a:custGeom>
              <a:avLst/>
              <a:gdLst/>
              <a:ahLst/>
              <a:cxnLst/>
              <a:rect l="l" t="t" r="r" b="b"/>
              <a:pathLst>
                <a:path w="5000625" h="4181475">
                  <a:moveTo>
                    <a:pt x="0" y="4090987"/>
                  </a:moveTo>
                  <a:lnTo>
                    <a:pt x="0" y="90487"/>
                  </a:lnTo>
                  <a:lnTo>
                    <a:pt x="0" y="84545"/>
                  </a:lnTo>
                  <a:lnTo>
                    <a:pt x="579" y="78661"/>
                  </a:lnTo>
                  <a:lnTo>
                    <a:pt x="1738" y="72834"/>
                  </a:lnTo>
                  <a:lnTo>
                    <a:pt x="2898" y="67006"/>
                  </a:lnTo>
                  <a:lnTo>
                    <a:pt x="4614" y="61348"/>
                  </a:lnTo>
                  <a:lnTo>
                    <a:pt x="6887" y="55859"/>
                  </a:lnTo>
                  <a:lnTo>
                    <a:pt x="9161" y="50370"/>
                  </a:lnTo>
                  <a:lnTo>
                    <a:pt x="11948" y="45155"/>
                  </a:lnTo>
                  <a:lnTo>
                    <a:pt x="15249" y="40215"/>
                  </a:lnTo>
                  <a:lnTo>
                    <a:pt x="18550" y="35275"/>
                  </a:lnTo>
                  <a:lnTo>
                    <a:pt x="22302" y="30704"/>
                  </a:lnTo>
                  <a:lnTo>
                    <a:pt x="26503" y="26503"/>
                  </a:lnTo>
                  <a:lnTo>
                    <a:pt x="30704" y="22301"/>
                  </a:lnTo>
                  <a:lnTo>
                    <a:pt x="35275" y="18550"/>
                  </a:lnTo>
                  <a:lnTo>
                    <a:pt x="40215" y="15249"/>
                  </a:lnTo>
                  <a:lnTo>
                    <a:pt x="45155" y="11948"/>
                  </a:lnTo>
                  <a:lnTo>
                    <a:pt x="72834" y="1738"/>
                  </a:lnTo>
                  <a:lnTo>
                    <a:pt x="78661" y="579"/>
                  </a:lnTo>
                  <a:lnTo>
                    <a:pt x="84545" y="0"/>
                  </a:lnTo>
                  <a:lnTo>
                    <a:pt x="90488" y="0"/>
                  </a:lnTo>
                  <a:lnTo>
                    <a:pt x="4910137" y="0"/>
                  </a:lnTo>
                  <a:lnTo>
                    <a:pt x="4916079" y="0"/>
                  </a:lnTo>
                  <a:lnTo>
                    <a:pt x="4921962" y="579"/>
                  </a:lnTo>
                  <a:lnTo>
                    <a:pt x="4927788" y="1738"/>
                  </a:lnTo>
                  <a:lnTo>
                    <a:pt x="4933616" y="2897"/>
                  </a:lnTo>
                  <a:lnTo>
                    <a:pt x="4939274" y="4614"/>
                  </a:lnTo>
                  <a:lnTo>
                    <a:pt x="4944763" y="6887"/>
                  </a:lnTo>
                  <a:lnTo>
                    <a:pt x="4950252" y="9161"/>
                  </a:lnTo>
                  <a:lnTo>
                    <a:pt x="4974121" y="26503"/>
                  </a:lnTo>
                  <a:lnTo>
                    <a:pt x="4978321" y="30704"/>
                  </a:lnTo>
                  <a:lnTo>
                    <a:pt x="4982072" y="35275"/>
                  </a:lnTo>
                  <a:lnTo>
                    <a:pt x="4985373" y="40215"/>
                  </a:lnTo>
                  <a:lnTo>
                    <a:pt x="4988674" y="45155"/>
                  </a:lnTo>
                  <a:lnTo>
                    <a:pt x="4991461" y="50370"/>
                  </a:lnTo>
                  <a:lnTo>
                    <a:pt x="4993734" y="55859"/>
                  </a:lnTo>
                  <a:lnTo>
                    <a:pt x="4996009" y="61348"/>
                  </a:lnTo>
                  <a:lnTo>
                    <a:pt x="5000625" y="90487"/>
                  </a:lnTo>
                  <a:lnTo>
                    <a:pt x="5000625" y="4090987"/>
                  </a:lnTo>
                  <a:lnTo>
                    <a:pt x="4993734" y="4125614"/>
                  </a:lnTo>
                  <a:lnTo>
                    <a:pt x="4991461" y="4131104"/>
                  </a:lnTo>
                  <a:lnTo>
                    <a:pt x="4988674" y="4136319"/>
                  </a:lnTo>
                  <a:lnTo>
                    <a:pt x="4985373" y="4141259"/>
                  </a:lnTo>
                  <a:lnTo>
                    <a:pt x="4982072" y="4146198"/>
                  </a:lnTo>
                  <a:lnTo>
                    <a:pt x="4978321" y="4150770"/>
                  </a:lnTo>
                  <a:lnTo>
                    <a:pt x="4974121" y="4154971"/>
                  </a:lnTo>
                  <a:lnTo>
                    <a:pt x="4969920" y="4159173"/>
                  </a:lnTo>
                  <a:lnTo>
                    <a:pt x="4933616" y="4178576"/>
                  </a:lnTo>
                  <a:lnTo>
                    <a:pt x="4927788" y="4179735"/>
                  </a:lnTo>
                  <a:lnTo>
                    <a:pt x="4921962" y="4180895"/>
                  </a:lnTo>
                  <a:lnTo>
                    <a:pt x="4916079" y="4181474"/>
                  </a:lnTo>
                  <a:lnTo>
                    <a:pt x="4910137" y="4181474"/>
                  </a:lnTo>
                  <a:lnTo>
                    <a:pt x="90488" y="4181474"/>
                  </a:lnTo>
                  <a:lnTo>
                    <a:pt x="84545" y="4181474"/>
                  </a:lnTo>
                  <a:lnTo>
                    <a:pt x="78661" y="4180895"/>
                  </a:lnTo>
                  <a:lnTo>
                    <a:pt x="72833" y="4179735"/>
                  </a:lnTo>
                  <a:lnTo>
                    <a:pt x="67006" y="4178576"/>
                  </a:lnTo>
                  <a:lnTo>
                    <a:pt x="30704" y="4159173"/>
                  </a:lnTo>
                  <a:lnTo>
                    <a:pt x="26503" y="4154971"/>
                  </a:lnTo>
                  <a:lnTo>
                    <a:pt x="22302" y="4150770"/>
                  </a:lnTo>
                  <a:lnTo>
                    <a:pt x="18550" y="4146198"/>
                  </a:lnTo>
                  <a:lnTo>
                    <a:pt x="15250" y="4141259"/>
                  </a:lnTo>
                  <a:lnTo>
                    <a:pt x="11948" y="4136319"/>
                  </a:lnTo>
                  <a:lnTo>
                    <a:pt x="9161" y="4131104"/>
                  </a:lnTo>
                  <a:lnTo>
                    <a:pt x="6887" y="4125614"/>
                  </a:lnTo>
                  <a:lnTo>
                    <a:pt x="4614" y="4120125"/>
                  </a:lnTo>
                  <a:lnTo>
                    <a:pt x="2898" y="4114467"/>
                  </a:lnTo>
                  <a:lnTo>
                    <a:pt x="1738" y="4108640"/>
                  </a:lnTo>
                  <a:lnTo>
                    <a:pt x="579" y="4102812"/>
                  </a:lnTo>
                  <a:lnTo>
                    <a:pt x="0" y="4096928"/>
                  </a:lnTo>
                  <a:lnTo>
                    <a:pt x="0" y="4090987"/>
                  </a:lnTo>
                  <a:close/>
                </a:path>
              </a:pathLst>
            </a:custGeom>
            <a:ln w="476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667500" y="809625"/>
              <a:ext cx="4952999" cy="4133849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6141719" y="5038344"/>
              <a:ext cx="6004560" cy="1402080"/>
            </a:xfrm>
            <a:custGeom>
              <a:avLst/>
              <a:gdLst/>
              <a:ahLst/>
              <a:cxnLst/>
              <a:rect l="l" t="t" r="r" b="b"/>
              <a:pathLst>
                <a:path w="6004559" h="1402079">
                  <a:moveTo>
                    <a:pt x="6004559" y="1402079"/>
                  </a:moveTo>
                  <a:lnTo>
                    <a:pt x="0" y="1402079"/>
                  </a:lnTo>
                  <a:lnTo>
                    <a:pt x="0" y="0"/>
                  </a:lnTo>
                  <a:lnTo>
                    <a:pt x="6004559" y="0"/>
                  </a:lnTo>
                  <a:lnTo>
                    <a:pt x="6004559" y="200405"/>
                  </a:lnTo>
                  <a:lnTo>
                    <a:pt x="363854" y="200405"/>
                  </a:lnTo>
                  <a:lnTo>
                    <a:pt x="355409" y="200813"/>
                  </a:lnTo>
                  <a:lnTo>
                    <a:pt x="316218" y="214839"/>
                  </a:lnTo>
                  <a:lnTo>
                    <a:pt x="288263" y="245678"/>
                  </a:lnTo>
                  <a:lnTo>
                    <a:pt x="278129" y="286130"/>
                  </a:lnTo>
                  <a:lnTo>
                    <a:pt x="278129" y="962405"/>
                  </a:lnTo>
                  <a:lnTo>
                    <a:pt x="288263" y="1002856"/>
                  </a:lnTo>
                  <a:lnTo>
                    <a:pt x="316218" y="1033696"/>
                  </a:lnTo>
                  <a:lnTo>
                    <a:pt x="355409" y="1047722"/>
                  </a:lnTo>
                  <a:lnTo>
                    <a:pt x="363854" y="1048130"/>
                  </a:lnTo>
                  <a:lnTo>
                    <a:pt x="6004559" y="1048130"/>
                  </a:lnTo>
                  <a:lnTo>
                    <a:pt x="6004559" y="1402079"/>
                  </a:lnTo>
                  <a:close/>
                </a:path>
                <a:path w="6004559" h="1402079">
                  <a:moveTo>
                    <a:pt x="6004559" y="1048130"/>
                  </a:moveTo>
                  <a:lnTo>
                    <a:pt x="5640704" y="1048130"/>
                  </a:lnTo>
                  <a:lnTo>
                    <a:pt x="5649148" y="1047722"/>
                  </a:lnTo>
                  <a:lnTo>
                    <a:pt x="5657431" y="1046499"/>
                  </a:lnTo>
                  <a:lnTo>
                    <a:pt x="5695060" y="1028705"/>
                  </a:lnTo>
                  <a:lnTo>
                    <a:pt x="5719902" y="995210"/>
                  </a:lnTo>
                  <a:lnTo>
                    <a:pt x="5726429" y="962405"/>
                  </a:lnTo>
                  <a:lnTo>
                    <a:pt x="5726429" y="286130"/>
                  </a:lnTo>
                  <a:lnTo>
                    <a:pt x="5716293" y="245678"/>
                  </a:lnTo>
                  <a:lnTo>
                    <a:pt x="5688338" y="214839"/>
                  </a:lnTo>
                  <a:lnTo>
                    <a:pt x="5649148" y="200813"/>
                  </a:lnTo>
                  <a:lnTo>
                    <a:pt x="5640704" y="200405"/>
                  </a:lnTo>
                  <a:lnTo>
                    <a:pt x="6004559" y="200405"/>
                  </a:lnTo>
                  <a:lnTo>
                    <a:pt x="6004559" y="1048130"/>
                  </a:lnTo>
                  <a:close/>
                </a:path>
              </a:pathLst>
            </a:custGeom>
            <a:solidFill>
              <a:srgbClr val="000000">
                <a:alpha val="587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6429374" y="5229224"/>
              <a:ext cx="5448300" cy="866775"/>
            </a:xfrm>
            <a:custGeom>
              <a:avLst/>
              <a:gdLst/>
              <a:ahLst/>
              <a:cxnLst/>
              <a:rect l="l" t="t" r="r" b="b"/>
              <a:pathLst>
                <a:path w="5448300" h="866775">
                  <a:moveTo>
                    <a:pt x="5359304" y="866774"/>
                  </a:moveTo>
                  <a:lnTo>
                    <a:pt x="71196" y="866774"/>
                  </a:lnTo>
                  <a:lnTo>
                    <a:pt x="66241" y="866164"/>
                  </a:lnTo>
                  <a:lnTo>
                    <a:pt x="29705" y="847247"/>
                  </a:lnTo>
                  <a:lnTo>
                    <a:pt x="7715" y="813753"/>
                  </a:lnTo>
                  <a:lnTo>
                    <a:pt x="0" y="777778"/>
                  </a:lnTo>
                  <a:lnTo>
                    <a:pt x="0" y="771524"/>
                  </a:lnTo>
                  <a:lnTo>
                    <a:pt x="0" y="88995"/>
                  </a:lnTo>
                  <a:lnTo>
                    <a:pt x="10062" y="47531"/>
                  </a:lnTo>
                  <a:lnTo>
                    <a:pt x="38025" y="12577"/>
                  </a:lnTo>
                  <a:lnTo>
                    <a:pt x="71196" y="0"/>
                  </a:lnTo>
                  <a:lnTo>
                    <a:pt x="5359304" y="0"/>
                  </a:lnTo>
                  <a:lnTo>
                    <a:pt x="5400766" y="12577"/>
                  </a:lnTo>
                  <a:lnTo>
                    <a:pt x="5435720" y="47531"/>
                  </a:lnTo>
                  <a:lnTo>
                    <a:pt x="5448298" y="88995"/>
                  </a:lnTo>
                  <a:lnTo>
                    <a:pt x="5448298" y="777778"/>
                  </a:lnTo>
                  <a:lnTo>
                    <a:pt x="5435720" y="819241"/>
                  </a:lnTo>
                  <a:lnTo>
                    <a:pt x="5400766" y="854196"/>
                  </a:lnTo>
                  <a:lnTo>
                    <a:pt x="5365498" y="866164"/>
                  </a:lnTo>
                  <a:lnTo>
                    <a:pt x="5359304" y="8667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6410324" y="5229652"/>
              <a:ext cx="86995" cy="866140"/>
            </a:xfrm>
            <a:custGeom>
              <a:avLst/>
              <a:gdLst/>
              <a:ahLst/>
              <a:cxnLst/>
              <a:rect l="l" t="t" r="r" b="b"/>
              <a:pathLst>
                <a:path w="86995" h="866139">
                  <a:moveTo>
                    <a:pt x="86379" y="865917"/>
                  </a:moveTo>
                  <a:lnTo>
                    <a:pt x="42321" y="850307"/>
                  </a:lnTo>
                  <a:lnTo>
                    <a:pt x="11258" y="816041"/>
                  </a:lnTo>
                  <a:lnTo>
                    <a:pt x="0" y="771096"/>
                  </a:lnTo>
                  <a:lnTo>
                    <a:pt x="0" y="94821"/>
                  </a:lnTo>
                  <a:lnTo>
                    <a:pt x="11258" y="49874"/>
                  </a:lnTo>
                  <a:lnTo>
                    <a:pt x="42321" y="15608"/>
                  </a:lnTo>
                  <a:lnTo>
                    <a:pt x="86378" y="0"/>
                  </a:lnTo>
                  <a:lnTo>
                    <a:pt x="80380" y="1988"/>
                  </a:lnTo>
                  <a:lnTo>
                    <a:pt x="73378" y="6821"/>
                  </a:lnTo>
                  <a:lnTo>
                    <a:pt x="47721" y="41892"/>
                  </a:lnTo>
                  <a:lnTo>
                    <a:pt x="38371" y="85438"/>
                  </a:lnTo>
                  <a:lnTo>
                    <a:pt x="38100" y="94821"/>
                  </a:lnTo>
                  <a:lnTo>
                    <a:pt x="38100" y="771096"/>
                  </a:lnTo>
                  <a:lnTo>
                    <a:pt x="44854" y="816041"/>
                  </a:lnTo>
                  <a:lnTo>
                    <a:pt x="63492" y="850307"/>
                  </a:lnTo>
                  <a:lnTo>
                    <a:pt x="80380" y="863928"/>
                  </a:lnTo>
                  <a:lnTo>
                    <a:pt x="86379" y="865917"/>
                  </a:lnTo>
                  <a:close/>
                </a:path>
              </a:pathLst>
            </a:custGeom>
            <a:solidFill>
              <a:srgbClr val="4DB5A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/>
          <p:cNvSpPr txBox="1"/>
          <p:nvPr/>
        </p:nvSpPr>
        <p:spPr>
          <a:xfrm>
            <a:off x="7502525" y="5540468"/>
            <a:ext cx="3321050" cy="2197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50" spc="-75" b="1">
                <a:solidFill>
                  <a:srgbClr val="202020"/>
                </a:solidFill>
                <a:latin typeface="Arial"/>
                <a:cs typeface="Arial"/>
              </a:rPr>
              <a:t>Linking</a:t>
            </a:r>
            <a:r>
              <a:rPr dirty="0" sz="1250" spc="-50" b="1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dirty="0" sz="1250" spc="-45" b="1">
                <a:solidFill>
                  <a:srgbClr val="202020"/>
                </a:solidFill>
                <a:latin typeface="Arial"/>
                <a:cs typeface="Arial"/>
              </a:rPr>
              <a:t>tests </a:t>
            </a:r>
            <a:r>
              <a:rPr dirty="0" sz="1250" spc="-55" b="1">
                <a:solidFill>
                  <a:srgbClr val="202020"/>
                </a:solidFill>
                <a:latin typeface="Arial"/>
                <a:cs typeface="Arial"/>
              </a:rPr>
              <a:t>to</a:t>
            </a:r>
            <a:r>
              <a:rPr dirty="0" sz="1250" spc="-45" b="1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dirty="0" sz="1250" spc="-60" b="1">
                <a:solidFill>
                  <a:srgbClr val="202020"/>
                </a:solidFill>
                <a:latin typeface="Arial"/>
                <a:cs typeface="Arial"/>
              </a:rPr>
              <a:t>requirements</a:t>
            </a:r>
            <a:r>
              <a:rPr dirty="0" sz="1250" spc="-45" b="1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dirty="0" sz="1250" spc="-35" b="1">
                <a:solidFill>
                  <a:srgbClr val="202020"/>
                </a:solidFill>
                <a:latin typeface="Arial"/>
                <a:cs typeface="Arial"/>
              </a:rPr>
              <a:t>with</a:t>
            </a:r>
            <a:r>
              <a:rPr dirty="0" sz="1250" spc="-45" b="1">
                <a:solidFill>
                  <a:srgbClr val="202020"/>
                </a:solidFill>
                <a:latin typeface="Arial"/>
                <a:cs typeface="Arial"/>
              </a:rPr>
              <a:t> live </a:t>
            </a:r>
            <a:r>
              <a:rPr dirty="0" sz="1250" spc="-60" b="1">
                <a:solidFill>
                  <a:srgbClr val="202020"/>
                </a:solidFill>
                <a:latin typeface="Arial"/>
                <a:cs typeface="Arial"/>
              </a:rPr>
              <a:t>CI</a:t>
            </a:r>
            <a:r>
              <a:rPr dirty="0" sz="1250" spc="-50" b="1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dirty="0" sz="1250" spc="-30" b="1">
                <a:solidFill>
                  <a:srgbClr val="202020"/>
                </a:solidFill>
                <a:latin typeface="Arial"/>
                <a:cs typeface="Arial"/>
              </a:rPr>
              <a:t>status</a:t>
            </a:r>
            <a:endParaRPr sz="1250">
              <a:latin typeface="Arial"/>
              <a:cs typeface="Arial"/>
            </a:endParaRPr>
          </a:p>
        </p:txBody>
      </p:sp>
      <p:pic>
        <p:nvPicPr>
          <p:cNvPr id="34" name="object 3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706099" y="6429374"/>
            <a:ext cx="114300" cy="114300"/>
          </a:xfrm>
          <a:prstGeom prst="rect">
            <a:avLst/>
          </a:prstGeom>
        </p:spPr>
      </p:pic>
      <p:sp>
        <p:nvSpPr>
          <p:cNvPr id="35" name="object 35"/>
          <p:cNvSpPr txBox="1"/>
          <p:nvPr/>
        </p:nvSpPr>
        <p:spPr>
          <a:xfrm>
            <a:off x="10901014" y="6397624"/>
            <a:ext cx="91313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114" b="1">
                <a:solidFill>
                  <a:srgbClr val="747474"/>
                </a:solidFill>
                <a:latin typeface="Trebuchet MS"/>
                <a:cs typeface="Trebuchet MS"/>
              </a:rPr>
              <a:t>AUTOMASPEC</a:t>
            </a:r>
            <a:endParaRPr sz="9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860530" cy="6671945"/>
          </a:xfrm>
          <a:custGeom>
            <a:avLst/>
            <a:gdLst/>
            <a:ahLst/>
            <a:cxnLst/>
            <a:rect l="l" t="t" r="r" b="b"/>
            <a:pathLst>
              <a:path w="11860530" h="6671945">
                <a:moveTo>
                  <a:pt x="11860494" y="6671527"/>
                </a:moveTo>
                <a:lnTo>
                  <a:pt x="0" y="6671527"/>
                </a:lnTo>
                <a:lnTo>
                  <a:pt x="0" y="0"/>
                </a:lnTo>
                <a:lnTo>
                  <a:pt x="11860494" y="0"/>
                </a:lnTo>
                <a:lnTo>
                  <a:pt x="11860494" y="667152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41280" y="555960"/>
            <a:ext cx="55880" cy="602615"/>
          </a:xfrm>
          <a:custGeom>
            <a:avLst/>
            <a:gdLst/>
            <a:ahLst/>
            <a:cxnLst/>
            <a:rect l="l" t="t" r="r" b="b"/>
            <a:pathLst>
              <a:path w="55879" h="602615">
                <a:moveTo>
                  <a:pt x="31484" y="602290"/>
                </a:moveTo>
                <a:lnTo>
                  <a:pt x="24111" y="602290"/>
                </a:lnTo>
                <a:lnTo>
                  <a:pt x="20565" y="601585"/>
                </a:lnTo>
                <a:lnTo>
                  <a:pt x="0" y="578178"/>
                </a:lnTo>
                <a:lnTo>
                  <a:pt x="0" y="574492"/>
                </a:lnTo>
                <a:lnTo>
                  <a:pt x="0" y="24111"/>
                </a:lnTo>
                <a:lnTo>
                  <a:pt x="24111" y="0"/>
                </a:lnTo>
                <a:lnTo>
                  <a:pt x="31484" y="0"/>
                </a:lnTo>
                <a:lnTo>
                  <a:pt x="55596" y="24111"/>
                </a:lnTo>
                <a:lnTo>
                  <a:pt x="55596" y="578178"/>
                </a:lnTo>
                <a:lnTo>
                  <a:pt x="35030" y="601585"/>
                </a:lnTo>
                <a:lnTo>
                  <a:pt x="31484" y="602290"/>
                </a:lnTo>
                <a:close/>
              </a:path>
            </a:pathLst>
          </a:custGeom>
          <a:solidFill>
            <a:srgbClr val="41A5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015827" y="747112"/>
            <a:ext cx="2232025" cy="2482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450" spc="320" b="1">
                <a:solidFill>
                  <a:srgbClr val="4DB5AB"/>
                </a:solidFill>
                <a:latin typeface="Arial Narrow"/>
                <a:cs typeface="Arial Narrow"/>
              </a:rPr>
              <a:t>WHY</a:t>
            </a:r>
            <a:r>
              <a:rPr dirty="0" sz="1450" spc="305" b="1">
                <a:solidFill>
                  <a:srgbClr val="4DB5AB"/>
                </a:solidFill>
                <a:latin typeface="Arial Narrow"/>
                <a:cs typeface="Arial Narrow"/>
              </a:rPr>
              <a:t> </a:t>
            </a:r>
            <a:r>
              <a:rPr dirty="0" sz="1450" spc="240" b="1">
                <a:solidFill>
                  <a:srgbClr val="4DB5AB"/>
                </a:solidFill>
                <a:latin typeface="Arial Narrow"/>
                <a:cs typeface="Arial Narrow"/>
              </a:rPr>
              <a:t>WE</a:t>
            </a:r>
            <a:r>
              <a:rPr dirty="0" sz="1450" spc="305" b="1">
                <a:solidFill>
                  <a:srgbClr val="4DB5AB"/>
                </a:solidFill>
                <a:latin typeface="Arial Narrow"/>
                <a:cs typeface="Arial Narrow"/>
              </a:rPr>
              <a:t> </a:t>
            </a:r>
            <a:r>
              <a:rPr dirty="0" sz="1450" spc="180" b="1">
                <a:solidFill>
                  <a:srgbClr val="4DB5AB"/>
                </a:solidFill>
                <a:latin typeface="Arial Narrow"/>
                <a:cs typeface="Arial Narrow"/>
              </a:rPr>
              <a:t>SPLIT</a:t>
            </a:r>
            <a:r>
              <a:rPr dirty="0" sz="1450" spc="305" b="1">
                <a:solidFill>
                  <a:srgbClr val="4DB5AB"/>
                </a:solidFill>
                <a:latin typeface="Arial Narrow"/>
                <a:cs typeface="Arial Narrow"/>
              </a:rPr>
              <a:t> </a:t>
            </a:r>
            <a:r>
              <a:rPr dirty="0" sz="1450" spc="155" b="1">
                <a:solidFill>
                  <a:srgbClr val="4DB5AB"/>
                </a:solidFill>
                <a:latin typeface="Arial Narrow"/>
                <a:cs typeface="Arial Narrow"/>
              </a:rPr>
              <a:t>ROLES</a:t>
            </a:r>
            <a:endParaRPr sz="1450">
              <a:latin typeface="Arial Narrow"/>
              <a:cs typeface="Arial Narrow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500" spc="310"/>
              <a:t>Team</a:t>
            </a:r>
            <a:r>
              <a:rPr dirty="0" sz="3500" spc="-305"/>
              <a:t> </a:t>
            </a:r>
            <a:r>
              <a:rPr dirty="0" sz="3500" spc="165"/>
              <a:t>Responsibilities</a:t>
            </a:r>
            <a:endParaRPr sz="3500"/>
          </a:p>
        </p:txBody>
      </p:sp>
      <p:grpSp>
        <p:nvGrpSpPr>
          <p:cNvPr id="6" name="object 6"/>
          <p:cNvGrpSpPr/>
          <p:nvPr/>
        </p:nvGrpSpPr>
        <p:grpSpPr>
          <a:xfrm>
            <a:off x="741280" y="2427694"/>
            <a:ext cx="5003800" cy="3919854"/>
            <a:chOff x="741280" y="2427694"/>
            <a:chExt cx="5003800" cy="3919854"/>
          </a:xfrm>
        </p:grpSpPr>
        <p:sp>
          <p:nvSpPr>
            <p:cNvPr id="7" name="object 7"/>
            <p:cNvSpPr/>
            <p:nvPr/>
          </p:nvSpPr>
          <p:spPr>
            <a:xfrm>
              <a:off x="741280" y="2450859"/>
              <a:ext cx="5003800" cy="3896360"/>
            </a:xfrm>
            <a:custGeom>
              <a:avLst/>
              <a:gdLst/>
              <a:ahLst/>
              <a:cxnLst/>
              <a:rect l="l" t="t" r="r" b="b"/>
              <a:pathLst>
                <a:path w="5003800" h="3896360">
                  <a:moveTo>
                    <a:pt x="4899754" y="3896357"/>
                  </a:moveTo>
                  <a:lnTo>
                    <a:pt x="103891" y="3896357"/>
                  </a:lnTo>
                  <a:lnTo>
                    <a:pt x="96660" y="3895645"/>
                  </a:lnTo>
                  <a:lnTo>
                    <a:pt x="55487" y="3881674"/>
                  </a:lnTo>
                  <a:lnTo>
                    <a:pt x="22795" y="3853010"/>
                  </a:lnTo>
                  <a:lnTo>
                    <a:pt x="3560" y="3814017"/>
                  </a:lnTo>
                  <a:lnTo>
                    <a:pt x="0" y="3792466"/>
                  </a:lnTo>
                  <a:lnTo>
                    <a:pt x="0" y="3785165"/>
                  </a:lnTo>
                  <a:lnTo>
                    <a:pt x="0" y="82246"/>
                  </a:lnTo>
                  <a:lnTo>
                    <a:pt x="14683" y="43927"/>
                  </a:lnTo>
                  <a:lnTo>
                    <a:pt x="43346" y="18046"/>
                  </a:lnTo>
                  <a:lnTo>
                    <a:pt x="82338" y="2818"/>
                  </a:lnTo>
                  <a:lnTo>
                    <a:pt x="103891" y="0"/>
                  </a:lnTo>
                  <a:lnTo>
                    <a:pt x="4899754" y="0"/>
                  </a:lnTo>
                  <a:lnTo>
                    <a:pt x="4941750" y="8912"/>
                  </a:lnTo>
                  <a:lnTo>
                    <a:pt x="4976241" y="29869"/>
                  </a:lnTo>
                  <a:lnTo>
                    <a:pt x="5000084" y="65184"/>
                  </a:lnTo>
                  <a:lnTo>
                    <a:pt x="5003646" y="82246"/>
                  </a:lnTo>
                  <a:lnTo>
                    <a:pt x="5003646" y="3792466"/>
                  </a:lnTo>
                  <a:lnTo>
                    <a:pt x="4992387" y="3834461"/>
                  </a:lnTo>
                  <a:lnTo>
                    <a:pt x="4965915" y="3868952"/>
                  </a:lnTo>
                  <a:lnTo>
                    <a:pt x="4928259" y="3890686"/>
                  </a:lnTo>
                  <a:lnTo>
                    <a:pt x="4906985" y="3895645"/>
                  </a:lnTo>
                  <a:lnTo>
                    <a:pt x="4899754" y="3896357"/>
                  </a:lnTo>
                  <a:close/>
                </a:path>
              </a:pathLst>
            </a:custGeom>
            <a:solidFill>
              <a:srgbClr val="F7F9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741280" y="2427694"/>
              <a:ext cx="5003800" cy="111760"/>
            </a:xfrm>
            <a:custGeom>
              <a:avLst/>
              <a:gdLst/>
              <a:ahLst/>
              <a:cxnLst/>
              <a:rect l="l" t="t" r="r" b="b"/>
              <a:pathLst>
                <a:path w="5003800" h="111760">
                  <a:moveTo>
                    <a:pt x="0" y="111192"/>
                  </a:moveTo>
                  <a:lnTo>
                    <a:pt x="8463" y="68640"/>
                  </a:lnTo>
                  <a:lnTo>
                    <a:pt x="32567" y="32567"/>
                  </a:lnTo>
                  <a:lnTo>
                    <a:pt x="68640" y="8463"/>
                  </a:lnTo>
                  <a:lnTo>
                    <a:pt x="111192" y="0"/>
                  </a:lnTo>
                  <a:lnTo>
                    <a:pt x="4892453" y="0"/>
                  </a:lnTo>
                  <a:lnTo>
                    <a:pt x="4935004" y="8463"/>
                  </a:lnTo>
                  <a:lnTo>
                    <a:pt x="4971077" y="32567"/>
                  </a:lnTo>
                  <a:lnTo>
                    <a:pt x="4982639" y="46330"/>
                  </a:lnTo>
                  <a:lnTo>
                    <a:pt x="111192" y="46330"/>
                  </a:lnTo>
                  <a:lnTo>
                    <a:pt x="100238" y="46638"/>
                  </a:lnTo>
                  <a:lnTo>
                    <a:pt x="58723" y="53997"/>
                  </a:lnTo>
                  <a:lnTo>
                    <a:pt x="18721" y="75149"/>
                  </a:lnTo>
                  <a:lnTo>
                    <a:pt x="528" y="104802"/>
                  </a:lnTo>
                  <a:lnTo>
                    <a:pt x="0" y="111192"/>
                  </a:lnTo>
                  <a:close/>
                </a:path>
                <a:path w="5003800" h="111760">
                  <a:moveTo>
                    <a:pt x="5003645" y="111192"/>
                  </a:moveTo>
                  <a:lnTo>
                    <a:pt x="4984923" y="75149"/>
                  </a:lnTo>
                  <a:lnTo>
                    <a:pt x="4944921" y="53997"/>
                  </a:lnTo>
                  <a:lnTo>
                    <a:pt x="4903406" y="46638"/>
                  </a:lnTo>
                  <a:lnTo>
                    <a:pt x="4892453" y="46330"/>
                  </a:lnTo>
                  <a:lnTo>
                    <a:pt x="4982639" y="46330"/>
                  </a:lnTo>
                  <a:lnTo>
                    <a:pt x="5001529" y="89495"/>
                  </a:lnTo>
                  <a:lnTo>
                    <a:pt x="5003116" y="100238"/>
                  </a:lnTo>
                  <a:lnTo>
                    <a:pt x="5003645" y="111192"/>
                  </a:lnTo>
                  <a:close/>
                </a:path>
              </a:pathLst>
            </a:custGeom>
            <a:solidFill>
              <a:srgbClr val="41A5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019261" y="3558148"/>
              <a:ext cx="4448175" cy="19050"/>
            </a:xfrm>
            <a:custGeom>
              <a:avLst/>
              <a:gdLst/>
              <a:ahLst/>
              <a:cxnLst/>
              <a:rect l="l" t="t" r="r" b="b"/>
              <a:pathLst>
                <a:path w="4448175" h="19050">
                  <a:moveTo>
                    <a:pt x="4447685" y="18532"/>
                  </a:moveTo>
                  <a:lnTo>
                    <a:pt x="0" y="18532"/>
                  </a:lnTo>
                  <a:lnTo>
                    <a:pt x="0" y="0"/>
                  </a:lnTo>
                  <a:lnTo>
                    <a:pt x="4447685" y="0"/>
                  </a:lnTo>
                  <a:lnTo>
                    <a:pt x="4447685" y="18532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019261" y="2789069"/>
              <a:ext cx="556260" cy="556260"/>
            </a:xfrm>
            <a:custGeom>
              <a:avLst/>
              <a:gdLst/>
              <a:ahLst/>
              <a:cxnLst/>
              <a:rect l="l" t="t" r="r" b="b"/>
              <a:pathLst>
                <a:path w="556260" h="556260">
                  <a:moveTo>
                    <a:pt x="277980" y="555960"/>
                  </a:moveTo>
                  <a:lnTo>
                    <a:pt x="237191" y="552952"/>
                  </a:lnTo>
                  <a:lnTo>
                    <a:pt x="197286" y="543990"/>
                  </a:lnTo>
                  <a:lnTo>
                    <a:pt x="159128" y="529271"/>
                  </a:lnTo>
                  <a:lnTo>
                    <a:pt x="123542" y="509111"/>
                  </a:lnTo>
                  <a:lnTo>
                    <a:pt x="91299" y="483950"/>
                  </a:lnTo>
                  <a:lnTo>
                    <a:pt x="63098" y="454329"/>
                  </a:lnTo>
                  <a:lnTo>
                    <a:pt x="39548" y="420890"/>
                  </a:lnTo>
                  <a:lnTo>
                    <a:pt x="21159" y="384358"/>
                  </a:lnTo>
                  <a:lnTo>
                    <a:pt x="8330" y="345524"/>
                  </a:lnTo>
                  <a:lnTo>
                    <a:pt x="1338" y="305227"/>
                  </a:lnTo>
                  <a:lnTo>
                    <a:pt x="0" y="277980"/>
                  </a:lnTo>
                  <a:lnTo>
                    <a:pt x="334" y="264340"/>
                  </a:lnTo>
                  <a:lnTo>
                    <a:pt x="5341" y="223748"/>
                  </a:lnTo>
                  <a:lnTo>
                    <a:pt x="16249" y="184331"/>
                  </a:lnTo>
                  <a:lnTo>
                    <a:pt x="32823" y="146940"/>
                  </a:lnTo>
                  <a:lnTo>
                    <a:pt x="54704" y="112387"/>
                  </a:lnTo>
                  <a:lnTo>
                    <a:pt x="81418" y="81418"/>
                  </a:lnTo>
                  <a:lnTo>
                    <a:pt x="112387" y="54704"/>
                  </a:lnTo>
                  <a:lnTo>
                    <a:pt x="146941" y="32823"/>
                  </a:lnTo>
                  <a:lnTo>
                    <a:pt x="184331" y="16249"/>
                  </a:lnTo>
                  <a:lnTo>
                    <a:pt x="223748" y="5341"/>
                  </a:lnTo>
                  <a:lnTo>
                    <a:pt x="264340" y="334"/>
                  </a:lnTo>
                  <a:lnTo>
                    <a:pt x="277980" y="0"/>
                  </a:lnTo>
                  <a:lnTo>
                    <a:pt x="291620" y="334"/>
                  </a:lnTo>
                  <a:lnTo>
                    <a:pt x="332211" y="5341"/>
                  </a:lnTo>
                  <a:lnTo>
                    <a:pt x="371629" y="16249"/>
                  </a:lnTo>
                  <a:lnTo>
                    <a:pt x="409019" y="32823"/>
                  </a:lnTo>
                  <a:lnTo>
                    <a:pt x="443573" y="54703"/>
                  </a:lnTo>
                  <a:lnTo>
                    <a:pt x="474542" y="81418"/>
                  </a:lnTo>
                  <a:lnTo>
                    <a:pt x="501256" y="112387"/>
                  </a:lnTo>
                  <a:lnTo>
                    <a:pt x="523137" y="146940"/>
                  </a:lnTo>
                  <a:lnTo>
                    <a:pt x="539711" y="184331"/>
                  </a:lnTo>
                  <a:lnTo>
                    <a:pt x="550619" y="223748"/>
                  </a:lnTo>
                  <a:lnTo>
                    <a:pt x="555626" y="264340"/>
                  </a:lnTo>
                  <a:lnTo>
                    <a:pt x="555960" y="277980"/>
                  </a:lnTo>
                  <a:lnTo>
                    <a:pt x="555626" y="291620"/>
                  </a:lnTo>
                  <a:lnTo>
                    <a:pt x="550619" y="332211"/>
                  </a:lnTo>
                  <a:lnTo>
                    <a:pt x="539711" y="371629"/>
                  </a:lnTo>
                  <a:lnTo>
                    <a:pt x="523137" y="409018"/>
                  </a:lnTo>
                  <a:lnTo>
                    <a:pt x="501256" y="443572"/>
                  </a:lnTo>
                  <a:lnTo>
                    <a:pt x="474542" y="474542"/>
                  </a:lnTo>
                  <a:lnTo>
                    <a:pt x="443573" y="501256"/>
                  </a:lnTo>
                  <a:lnTo>
                    <a:pt x="409019" y="523136"/>
                  </a:lnTo>
                  <a:lnTo>
                    <a:pt x="371629" y="539711"/>
                  </a:lnTo>
                  <a:lnTo>
                    <a:pt x="332211" y="550618"/>
                  </a:lnTo>
                  <a:lnTo>
                    <a:pt x="291620" y="555626"/>
                  </a:lnTo>
                  <a:lnTo>
                    <a:pt x="277980" y="555960"/>
                  </a:lnTo>
                  <a:close/>
                </a:path>
              </a:pathLst>
            </a:custGeom>
            <a:solidFill>
              <a:srgbClr val="E3F1F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21569" y="2980566"/>
              <a:ext cx="129724" cy="183775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1747841" y="2679406"/>
            <a:ext cx="2012950" cy="577850"/>
          </a:xfrm>
          <a:prstGeom prst="rect">
            <a:avLst/>
          </a:prstGeom>
        </p:spPr>
        <p:txBody>
          <a:bodyPr wrap="square" lIns="0" tIns="914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dirty="0" sz="1600" spc="170" b="1">
                <a:solidFill>
                  <a:srgbClr val="202020"/>
                </a:solidFill>
                <a:latin typeface="Trebuchet MS"/>
                <a:cs typeface="Trebuchet MS"/>
              </a:rPr>
              <a:t>Roman</a:t>
            </a:r>
            <a:r>
              <a:rPr dirty="0" sz="1600" spc="-135" b="1">
                <a:solidFill>
                  <a:srgbClr val="202020"/>
                </a:solidFill>
                <a:latin typeface="Trebuchet MS"/>
                <a:cs typeface="Trebuchet MS"/>
              </a:rPr>
              <a:t> </a:t>
            </a:r>
            <a:r>
              <a:rPr dirty="0" sz="1600" spc="114" b="1">
                <a:solidFill>
                  <a:srgbClr val="202020"/>
                </a:solidFill>
                <a:latin typeface="Trebuchet MS"/>
                <a:cs typeface="Trebuchet MS"/>
              </a:rPr>
              <a:t>Radchenko</a:t>
            </a:r>
            <a:endParaRPr sz="16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dirty="0" sz="1100" spc="-10">
                <a:solidFill>
                  <a:srgbClr val="747474"/>
                </a:solidFill>
                <a:latin typeface="Microsoft Sans Serif"/>
                <a:cs typeface="Microsoft Sans Serif"/>
              </a:rPr>
              <a:t>Backend</a:t>
            </a:r>
            <a:r>
              <a:rPr dirty="0" sz="1100" spc="-30">
                <a:solidFill>
                  <a:srgbClr val="747474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80">
                <a:solidFill>
                  <a:srgbClr val="747474"/>
                </a:solidFill>
                <a:latin typeface="Microsoft Sans Serif"/>
                <a:cs typeface="Microsoft Sans Serif"/>
              </a:rPr>
              <a:t>&amp;</a:t>
            </a:r>
            <a:r>
              <a:rPr dirty="0" sz="1100" spc="-5">
                <a:solidFill>
                  <a:srgbClr val="747474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20">
                <a:solidFill>
                  <a:srgbClr val="747474"/>
                </a:solidFill>
                <a:latin typeface="Microsoft Sans Serif"/>
                <a:cs typeface="Microsoft Sans Serif"/>
              </a:rPr>
              <a:t>Data Lead</a:t>
            </a:r>
            <a:endParaRPr sz="1100">
              <a:latin typeface="Microsoft Sans Serif"/>
              <a:cs typeface="Microsoft Sans Serif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019261" y="3854660"/>
            <a:ext cx="352425" cy="2140585"/>
            <a:chOff x="1019261" y="3854660"/>
            <a:chExt cx="352425" cy="2140585"/>
          </a:xfrm>
        </p:grpSpPr>
        <p:sp>
          <p:nvSpPr>
            <p:cNvPr id="14" name="object 14"/>
            <p:cNvSpPr/>
            <p:nvPr/>
          </p:nvSpPr>
          <p:spPr>
            <a:xfrm>
              <a:off x="1019261" y="3854660"/>
              <a:ext cx="352425" cy="352425"/>
            </a:xfrm>
            <a:custGeom>
              <a:avLst/>
              <a:gdLst/>
              <a:ahLst/>
              <a:cxnLst/>
              <a:rect l="l" t="t" r="r" b="b"/>
              <a:pathLst>
                <a:path w="352425" h="352425">
                  <a:moveTo>
                    <a:pt x="282847" y="352108"/>
                  </a:moveTo>
                  <a:lnTo>
                    <a:pt x="69260" y="352108"/>
                  </a:lnTo>
                  <a:lnTo>
                    <a:pt x="64440" y="351633"/>
                  </a:lnTo>
                  <a:lnTo>
                    <a:pt x="28897" y="336911"/>
                  </a:lnTo>
                  <a:lnTo>
                    <a:pt x="3779" y="301850"/>
                  </a:lnTo>
                  <a:lnTo>
                    <a:pt x="0" y="282847"/>
                  </a:lnTo>
                  <a:lnTo>
                    <a:pt x="0" y="277980"/>
                  </a:lnTo>
                  <a:lnTo>
                    <a:pt x="0" y="69260"/>
                  </a:lnTo>
                  <a:lnTo>
                    <a:pt x="15196" y="28896"/>
                  </a:lnTo>
                  <a:lnTo>
                    <a:pt x="50257" y="3779"/>
                  </a:lnTo>
                  <a:lnTo>
                    <a:pt x="69260" y="0"/>
                  </a:lnTo>
                  <a:lnTo>
                    <a:pt x="282847" y="0"/>
                  </a:lnTo>
                  <a:lnTo>
                    <a:pt x="323210" y="15196"/>
                  </a:lnTo>
                  <a:lnTo>
                    <a:pt x="348328" y="50256"/>
                  </a:lnTo>
                  <a:lnTo>
                    <a:pt x="352108" y="69260"/>
                  </a:lnTo>
                  <a:lnTo>
                    <a:pt x="352108" y="282847"/>
                  </a:lnTo>
                  <a:lnTo>
                    <a:pt x="336911" y="323210"/>
                  </a:lnTo>
                  <a:lnTo>
                    <a:pt x="301851" y="348327"/>
                  </a:lnTo>
                  <a:lnTo>
                    <a:pt x="287668" y="351633"/>
                  </a:lnTo>
                  <a:lnTo>
                    <a:pt x="282847" y="352108"/>
                  </a:lnTo>
                  <a:close/>
                </a:path>
              </a:pathLst>
            </a:custGeom>
            <a:solidFill>
              <a:srgbClr val="E3F1F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33541" y="3968941"/>
              <a:ext cx="111192" cy="123546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1019261" y="4447685"/>
              <a:ext cx="352425" cy="352425"/>
            </a:xfrm>
            <a:custGeom>
              <a:avLst/>
              <a:gdLst/>
              <a:ahLst/>
              <a:cxnLst/>
              <a:rect l="l" t="t" r="r" b="b"/>
              <a:pathLst>
                <a:path w="352425" h="352425">
                  <a:moveTo>
                    <a:pt x="282847" y="352108"/>
                  </a:moveTo>
                  <a:lnTo>
                    <a:pt x="69260" y="352108"/>
                  </a:lnTo>
                  <a:lnTo>
                    <a:pt x="64440" y="351633"/>
                  </a:lnTo>
                  <a:lnTo>
                    <a:pt x="28897" y="336910"/>
                  </a:lnTo>
                  <a:lnTo>
                    <a:pt x="3779" y="301850"/>
                  </a:lnTo>
                  <a:lnTo>
                    <a:pt x="0" y="282847"/>
                  </a:lnTo>
                  <a:lnTo>
                    <a:pt x="0" y="277980"/>
                  </a:lnTo>
                  <a:lnTo>
                    <a:pt x="0" y="69260"/>
                  </a:lnTo>
                  <a:lnTo>
                    <a:pt x="15196" y="28897"/>
                  </a:lnTo>
                  <a:lnTo>
                    <a:pt x="50257" y="3779"/>
                  </a:lnTo>
                  <a:lnTo>
                    <a:pt x="69260" y="0"/>
                  </a:lnTo>
                  <a:lnTo>
                    <a:pt x="282847" y="0"/>
                  </a:lnTo>
                  <a:lnTo>
                    <a:pt x="323210" y="15196"/>
                  </a:lnTo>
                  <a:lnTo>
                    <a:pt x="348328" y="50256"/>
                  </a:lnTo>
                  <a:lnTo>
                    <a:pt x="352108" y="69260"/>
                  </a:lnTo>
                  <a:lnTo>
                    <a:pt x="352108" y="282847"/>
                  </a:lnTo>
                  <a:lnTo>
                    <a:pt x="336911" y="323209"/>
                  </a:lnTo>
                  <a:lnTo>
                    <a:pt x="301851" y="348327"/>
                  </a:lnTo>
                  <a:lnTo>
                    <a:pt x="287668" y="351633"/>
                  </a:lnTo>
                  <a:lnTo>
                    <a:pt x="282847" y="352108"/>
                  </a:lnTo>
                  <a:close/>
                </a:path>
              </a:pathLst>
            </a:custGeom>
            <a:solidFill>
              <a:srgbClr val="E3F1F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39719" y="4568143"/>
              <a:ext cx="111192" cy="111192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1019261" y="5040709"/>
              <a:ext cx="352425" cy="352425"/>
            </a:xfrm>
            <a:custGeom>
              <a:avLst/>
              <a:gdLst/>
              <a:ahLst/>
              <a:cxnLst/>
              <a:rect l="l" t="t" r="r" b="b"/>
              <a:pathLst>
                <a:path w="352425" h="352425">
                  <a:moveTo>
                    <a:pt x="282847" y="352108"/>
                  </a:moveTo>
                  <a:lnTo>
                    <a:pt x="69260" y="352108"/>
                  </a:lnTo>
                  <a:lnTo>
                    <a:pt x="64440" y="351633"/>
                  </a:lnTo>
                  <a:lnTo>
                    <a:pt x="28897" y="336910"/>
                  </a:lnTo>
                  <a:lnTo>
                    <a:pt x="3779" y="301850"/>
                  </a:lnTo>
                  <a:lnTo>
                    <a:pt x="0" y="282847"/>
                  </a:lnTo>
                  <a:lnTo>
                    <a:pt x="0" y="277980"/>
                  </a:lnTo>
                  <a:lnTo>
                    <a:pt x="0" y="69260"/>
                  </a:lnTo>
                  <a:lnTo>
                    <a:pt x="15196" y="28897"/>
                  </a:lnTo>
                  <a:lnTo>
                    <a:pt x="50257" y="3779"/>
                  </a:lnTo>
                  <a:lnTo>
                    <a:pt x="69260" y="0"/>
                  </a:lnTo>
                  <a:lnTo>
                    <a:pt x="282847" y="0"/>
                  </a:lnTo>
                  <a:lnTo>
                    <a:pt x="323210" y="15195"/>
                  </a:lnTo>
                  <a:lnTo>
                    <a:pt x="348328" y="50256"/>
                  </a:lnTo>
                  <a:lnTo>
                    <a:pt x="352108" y="69260"/>
                  </a:lnTo>
                  <a:lnTo>
                    <a:pt x="352108" y="282847"/>
                  </a:lnTo>
                  <a:lnTo>
                    <a:pt x="336911" y="323209"/>
                  </a:lnTo>
                  <a:lnTo>
                    <a:pt x="301851" y="348327"/>
                  </a:lnTo>
                  <a:lnTo>
                    <a:pt x="287668" y="351633"/>
                  </a:lnTo>
                  <a:lnTo>
                    <a:pt x="282847" y="352108"/>
                  </a:lnTo>
                  <a:close/>
                </a:path>
              </a:pathLst>
            </a:custGeom>
            <a:solidFill>
              <a:srgbClr val="E3F1F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45896" y="5154990"/>
              <a:ext cx="88274" cy="88335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1019261" y="5643001"/>
              <a:ext cx="352425" cy="352425"/>
            </a:xfrm>
            <a:custGeom>
              <a:avLst/>
              <a:gdLst/>
              <a:ahLst/>
              <a:cxnLst/>
              <a:rect l="l" t="t" r="r" b="b"/>
              <a:pathLst>
                <a:path w="352425" h="352425">
                  <a:moveTo>
                    <a:pt x="282847" y="352107"/>
                  </a:moveTo>
                  <a:lnTo>
                    <a:pt x="69260" y="352107"/>
                  </a:lnTo>
                  <a:lnTo>
                    <a:pt x="64440" y="351632"/>
                  </a:lnTo>
                  <a:lnTo>
                    <a:pt x="28897" y="336909"/>
                  </a:lnTo>
                  <a:lnTo>
                    <a:pt x="3779" y="301849"/>
                  </a:lnTo>
                  <a:lnTo>
                    <a:pt x="0" y="282846"/>
                  </a:lnTo>
                  <a:lnTo>
                    <a:pt x="0" y="277979"/>
                  </a:lnTo>
                  <a:lnTo>
                    <a:pt x="0" y="69259"/>
                  </a:lnTo>
                  <a:lnTo>
                    <a:pt x="15196" y="28896"/>
                  </a:lnTo>
                  <a:lnTo>
                    <a:pt x="50257" y="3779"/>
                  </a:lnTo>
                  <a:lnTo>
                    <a:pt x="69260" y="0"/>
                  </a:lnTo>
                  <a:lnTo>
                    <a:pt x="282847" y="0"/>
                  </a:lnTo>
                  <a:lnTo>
                    <a:pt x="323210" y="15196"/>
                  </a:lnTo>
                  <a:lnTo>
                    <a:pt x="348328" y="50256"/>
                  </a:lnTo>
                  <a:lnTo>
                    <a:pt x="352108" y="69259"/>
                  </a:lnTo>
                  <a:lnTo>
                    <a:pt x="352108" y="282846"/>
                  </a:lnTo>
                  <a:lnTo>
                    <a:pt x="336911" y="323209"/>
                  </a:lnTo>
                  <a:lnTo>
                    <a:pt x="301851" y="348327"/>
                  </a:lnTo>
                  <a:lnTo>
                    <a:pt x="287668" y="351632"/>
                  </a:lnTo>
                  <a:lnTo>
                    <a:pt x="282847" y="352107"/>
                  </a:lnTo>
                  <a:close/>
                </a:path>
              </a:pathLst>
            </a:custGeom>
            <a:solidFill>
              <a:srgbClr val="E3F1F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42252" y="5779457"/>
              <a:ext cx="108659" cy="82838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1497659" y="3795848"/>
            <a:ext cx="2242820" cy="487680"/>
          </a:xfrm>
          <a:prstGeom prst="rect">
            <a:avLst/>
          </a:prstGeom>
        </p:spPr>
        <p:txBody>
          <a:bodyPr wrap="square" lIns="0" tIns="793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dirty="0" sz="1150" spc="105" b="1">
                <a:solidFill>
                  <a:srgbClr val="414141"/>
                </a:solidFill>
                <a:latin typeface="Trebuchet MS"/>
                <a:cs typeface="Trebuchet MS"/>
              </a:rPr>
              <a:t>Backend</a:t>
            </a:r>
            <a:r>
              <a:rPr dirty="0" sz="1150" spc="-90" b="1">
                <a:solidFill>
                  <a:srgbClr val="414141"/>
                </a:solidFill>
                <a:latin typeface="Trebuchet MS"/>
                <a:cs typeface="Trebuchet MS"/>
              </a:rPr>
              <a:t> </a:t>
            </a:r>
            <a:r>
              <a:rPr dirty="0" sz="1150" spc="50" b="1">
                <a:solidFill>
                  <a:srgbClr val="414141"/>
                </a:solidFill>
                <a:latin typeface="Trebuchet MS"/>
                <a:cs typeface="Trebuchet MS"/>
              </a:rPr>
              <a:t>+</a:t>
            </a:r>
            <a:r>
              <a:rPr dirty="0" sz="1150" spc="-90" b="1">
                <a:solidFill>
                  <a:srgbClr val="414141"/>
                </a:solidFill>
                <a:latin typeface="Trebuchet MS"/>
                <a:cs typeface="Trebuchet MS"/>
              </a:rPr>
              <a:t> </a:t>
            </a:r>
            <a:r>
              <a:rPr dirty="0" sz="1150" spc="65" b="1">
                <a:solidFill>
                  <a:srgbClr val="414141"/>
                </a:solidFill>
                <a:latin typeface="Trebuchet MS"/>
                <a:cs typeface="Trebuchet MS"/>
              </a:rPr>
              <a:t>DB</a:t>
            </a:r>
            <a:endParaRPr sz="11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dirty="0" sz="1050" spc="-35">
                <a:solidFill>
                  <a:srgbClr val="747474"/>
                </a:solidFill>
                <a:latin typeface="Microsoft Sans Serif"/>
                <a:cs typeface="Microsoft Sans Serif"/>
              </a:rPr>
              <a:t>Schema,</a:t>
            </a:r>
            <a:r>
              <a:rPr dirty="0" sz="1050">
                <a:solidFill>
                  <a:srgbClr val="74747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747474"/>
                </a:solidFill>
                <a:latin typeface="Microsoft Sans Serif"/>
                <a:cs typeface="Microsoft Sans Serif"/>
              </a:rPr>
              <a:t>migrations,</a:t>
            </a:r>
            <a:r>
              <a:rPr dirty="0" sz="1050">
                <a:solidFill>
                  <a:srgbClr val="747474"/>
                </a:solidFill>
                <a:latin typeface="Microsoft Sans Serif"/>
                <a:cs typeface="Microsoft Sans Serif"/>
              </a:rPr>
              <a:t> import/sync </a:t>
            </a:r>
            <a:r>
              <a:rPr dirty="0" sz="1050" spc="-20">
                <a:solidFill>
                  <a:srgbClr val="747474"/>
                </a:solidFill>
                <a:latin typeface="Microsoft Sans Serif"/>
                <a:cs typeface="Microsoft Sans Serif"/>
              </a:rPr>
              <a:t>flows</a:t>
            </a:r>
            <a:endParaRPr sz="1050">
              <a:latin typeface="Microsoft Sans Serif"/>
              <a:cs typeface="Microsoft Sans Serif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497659" y="4388873"/>
            <a:ext cx="1634489" cy="487680"/>
          </a:xfrm>
          <a:prstGeom prst="rect">
            <a:avLst/>
          </a:prstGeom>
        </p:spPr>
        <p:txBody>
          <a:bodyPr wrap="square" lIns="0" tIns="793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dirty="0" sz="1150" spc="80" b="1">
                <a:solidFill>
                  <a:srgbClr val="414141"/>
                </a:solidFill>
                <a:latin typeface="Trebuchet MS"/>
                <a:cs typeface="Trebuchet MS"/>
              </a:rPr>
              <a:t>Analytics</a:t>
            </a:r>
            <a:endParaRPr sz="11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dirty="0" sz="1050">
                <a:solidFill>
                  <a:srgbClr val="747474"/>
                </a:solidFill>
                <a:latin typeface="Microsoft Sans Serif"/>
                <a:cs typeface="Microsoft Sans Serif"/>
              </a:rPr>
              <a:t>Metrics</a:t>
            </a:r>
            <a:r>
              <a:rPr dirty="0" sz="1050" spc="-30">
                <a:solidFill>
                  <a:srgbClr val="74747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747474"/>
                </a:solidFill>
                <a:latin typeface="Microsoft Sans Serif"/>
                <a:cs typeface="Microsoft Sans Serif"/>
              </a:rPr>
              <a:t>and</a:t>
            </a:r>
            <a:r>
              <a:rPr dirty="0" sz="1050" spc="-25">
                <a:solidFill>
                  <a:srgbClr val="74747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747474"/>
                </a:solidFill>
                <a:latin typeface="Microsoft Sans Serif"/>
                <a:cs typeface="Microsoft Sans Serif"/>
              </a:rPr>
              <a:t>health</a:t>
            </a:r>
            <a:r>
              <a:rPr dirty="0" sz="1050" spc="-25">
                <a:solidFill>
                  <a:srgbClr val="74747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747474"/>
                </a:solidFill>
                <a:latin typeface="Microsoft Sans Serif"/>
                <a:cs typeface="Microsoft Sans Serif"/>
              </a:rPr>
              <a:t>overview</a:t>
            </a:r>
            <a:endParaRPr sz="1050">
              <a:latin typeface="Microsoft Sans Serif"/>
              <a:cs typeface="Microsoft Sans Serif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497659" y="4981898"/>
            <a:ext cx="2133600" cy="487680"/>
          </a:xfrm>
          <a:prstGeom prst="rect">
            <a:avLst/>
          </a:prstGeom>
        </p:spPr>
        <p:txBody>
          <a:bodyPr wrap="square" lIns="0" tIns="793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dirty="0" sz="1150" spc="70" b="1">
                <a:solidFill>
                  <a:srgbClr val="414141"/>
                </a:solidFill>
                <a:latin typeface="Trebuchet MS"/>
                <a:cs typeface="Trebuchet MS"/>
              </a:rPr>
              <a:t>AI</a:t>
            </a:r>
            <a:r>
              <a:rPr dirty="0" sz="1150" spc="-95" b="1">
                <a:solidFill>
                  <a:srgbClr val="414141"/>
                </a:solidFill>
                <a:latin typeface="Trebuchet MS"/>
                <a:cs typeface="Trebuchet MS"/>
              </a:rPr>
              <a:t> </a:t>
            </a:r>
            <a:r>
              <a:rPr dirty="0" sz="1150" spc="90" b="1">
                <a:solidFill>
                  <a:srgbClr val="414141"/>
                </a:solidFill>
                <a:latin typeface="Trebuchet MS"/>
                <a:cs typeface="Trebuchet MS"/>
              </a:rPr>
              <a:t>Assistant</a:t>
            </a:r>
            <a:endParaRPr sz="11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dirty="0" sz="1050" spc="-30">
                <a:solidFill>
                  <a:srgbClr val="747474"/>
                </a:solidFill>
                <a:latin typeface="Microsoft Sans Serif"/>
                <a:cs typeface="Microsoft Sans Serif"/>
              </a:rPr>
              <a:t>Faster</a:t>
            </a:r>
            <a:r>
              <a:rPr dirty="0" sz="1050" spc="-20">
                <a:solidFill>
                  <a:srgbClr val="747474"/>
                </a:solidFill>
                <a:latin typeface="Microsoft Sans Serif"/>
                <a:cs typeface="Microsoft Sans Serif"/>
              </a:rPr>
              <a:t> requirement </a:t>
            </a:r>
            <a:r>
              <a:rPr dirty="0" sz="1050">
                <a:solidFill>
                  <a:srgbClr val="747474"/>
                </a:solidFill>
                <a:latin typeface="Microsoft Sans Serif"/>
                <a:cs typeface="Microsoft Sans Serif"/>
              </a:rPr>
              <a:t>drafting</a:t>
            </a:r>
            <a:r>
              <a:rPr dirty="0" sz="1050" spc="-20">
                <a:solidFill>
                  <a:srgbClr val="74747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747474"/>
                </a:solidFill>
                <a:latin typeface="Microsoft Sans Serif"/>
                <a:cs typeface="Microsoft Sans Serif"/>
              </a:rPr>
              <a:t>workflow</a:t>
            </a:r>
            <a:endParaRPr sz="1050">
              <a:latin typeface="Microsoft Sans Serif"/>
              <a:cs typeface="Microsoft Sans Serif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497659" y="5584188"/>
            <a:ext cx="928369" cy="487680"/>
          </a:xfrm>
          <a:prstGeom prst="rect">
            <a:avLst/>
          </a:prstGeom>
        </p:spPr>
        <p:txBody>
          <a:bodyPr wrap="square" lIns="0" tIns="793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dirty="0" sz="1150" spc="65" b="1">
                <a:solidFill>
                  <a:srgbClr val="414141"/>
                </a:solidFill>
                <a:latin typeface="Trebuchet MS"/>
                <a:cs typeface="Trebuchet MS"/>
              </a:rPr>
              <a:t>Quality</a:t>
            </a:r>
            <a:endParaRPr sz="11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dirty="0" sz="1050" spc="-10">
                <a:solidFill>
                  <a:srgbClr val="747474"/>
                </a:solidFill>
                <a:latin typeface="Microsoft Sans Serif"/>
                <a:cs typeface="Microsoft Sans Serif"/>
              </a:rPr>
              <a:t>Unit</a:t>
            </a:r>
            <a:r>
              <a:rPr dirty="0" sz="1050" spc="-15">
                <a:solidFill>
                  <a:srgbClr val="74747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747474"/>
                </a:solidFill>
                <a:latin typeface="Microsoft Sans Serif"/>
                <a:cs typeface="Microsoft Sans Serif"/>
              </a:rPr>
              <a:t>+</a:t>
            </a:r>
            <a:r>
              <a:rPr dirty="0" sz="1050" spc="-10">
                <a:solidFill>
                  <a:srgbClr val="74747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5">
                <a:solidFill>
                  <a:srgbClr val="747474"/>
                </a:solidFill>
                <a:latin typeface="Microsoft Sans Serif"/>
                <a:cs typeface="Microsoft Sans Serif"/>
              </a:rPr>
              <a:t>E2E</a:t>
            </a:r>
            <a:r>
              <a:rPr dirty="0" sz="1050" spc="-10">
                <a:solidFill>
                  <a:srgbClr val="74747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747474"/>
                </a:solidFill>
                <a:latin typeface="Microsoft Sans Serif"/>
                <a:cs typeface="Microsoft Sans Serif"/>
              </a:rPr>
              <a:t>tests</a:t>
            </a:r>
            <a:endParaRPr sz="1050">
              <a:latin typeface="Microsoft Sans Serif"/>
              <a:cs typeface="Microsoft Sans Serif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6115566" y="2427694"/>
            <a:ext cx="5003800" cy="3919854"/>
            <a:chOff x="6115566" y="2427694"/>
            <a:chExt cx="5003800" cy="3919854"/>
          </a:xfrm>
        </p:grpSpPr>
        <p:sp>
          <p:nvSpPr>
            <p:cNvPr id="27" name="object 27"/>
            <p:cNvSpPr/>
            <p:nvPr/>
          </p:nvSpPr>
          <p:spPr>
            <a:xfrm>
              <a:off x="6115566" y="2450859"/>
              <a:ext cx="5003800" cy="3896360"/>
            </a:xfrm>
            <a:custGeom>
              <a:avLst/>
              <a:gdLst/>
              <a:ahLst/>
              <a:cxnLst/>
              <a:rect l="l" t="t" r="r" b="b"/>
              <a:pathLst>
                <a:path w="5003800" h="3896360">
                  <a:moveTo>
                    <a:pt x="4899755" y="3896357"/>
                  </a:moveTo>
                  <a:lnTo>
                    <a:pt x="103891" y="3896357"/>
                  </a:lnTo>
                  <a:lnTo>
                    <a:pt x="96660" y="3895645"/>
                  </a:lnTo>
                  <a:lnTo>
                    <a:pt x="55487" y="3881674"/>
                  </a:lnTo>
                  <a:lnTo>
                    <a:pt x="22795" y="3853010"/>
                  </a:lnTo>
                  <a:lnTo>
                    <a:pt x="3561" y="3814017"/>
                  </a:lnTo>
                  <a:lnTo>
                    <a:pt x="0" y="3792466"/>
                  </a:lnTo>
                  <a:lnTo>
                    <a:pt x="0" y="3785165"/>
                  </a:lnTo>
                  <a:lnTo>
                    <a:pt x="0" y="82246"/>
                  </a:lnTo>
                  <a:lnTo>
                    <a:pt x="14682" y="43927"/>
                  </a:lnTo>
                  <a:lnTo>
                    <a:pt x="43346" y="18046"/>
                  </a:lnTo>
                  <a:lnTo>
                    <a:pt x="82338" y="2818"/>
                  </a:lnTo>
                  <a:lnTo>
                    <a:pt x="103891" y="0"/>
                  </a:lnTo>
                  <a:lnTo>
                    <a:pt x="4899755" y="0"/>
                  </a:lnTo>
                  <a:lnTo>
                    <a:pt x="4941749" y="8912"/>
                  </a:lnTo>
                  <a:lnTo>
                    <a:pt x="4976240" y="29869"/>
                  </a:lnTo>
                  <a:lnTo>
                    <a:pt x="5000084" y="65184"/>
                  </a:lnTo>
                  <a:lnTo>
                    <a:pt x="5003645" y="82246"/>
                  </a:lnTo>
                  <a:lnTo>
                    <a:pt x="5003645" y="3792466"/>
                  </a:lnTo>
                  <a:lnTo>
                    <a:pt x="4992386" y="3834461"/>
                  </a:lnTo>
                  <a:lnTo>
                    <a:pt x="4965915" y="3868952"/>
                  </a:lnTo>
                  <a:lnTo>
                    <a:pt x="4928259" y="3890686"/>
                  </a:lnTo>
                  <a:lnTo>
                    <a:pt x="4906985" y="3895645"/>
                  </a:lnTo>
                  <a:lnTo>
                    <a:pt x="4899755" y="3896357"/>
                  </a:lnTo>
                  <a:close/>
                </a:path>
              </a:pathLst>
            </a:custGeom>
            <a:solidFill>
              <a:srgbClr val="F7F9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6115566" y="2427694"/>
              <a:ext cx="5003800" cy="111760"/>
            </a:xfrm>
            <a:custGeom>
              <a:avLst/>
              <a:gdLst/>
              <a:ahLst/>
              <a:cxnLst/>
              <a:rect l="l" t="t" r="r" b="b"/>
              <a:pathLst>
                <a:path w="5003800" h="111760">
                  <a:moveTo>
                    <a:pt x="0" y="111192"/>
                  </a:moveTo>
                  <a:lnTo>
                    <a:pt x="8463" y="68640"/>
                  </a:lnTo>
                  <a:lnTo>
                    <a:pt x="32567" y="32567"/>
                  </a:lnTo>
                  <a:lnTo>
                    <a:pt x="68640" y="8463"/>
                  </a:lnTo>
                  <a:lnTo>
                    <a:pt x="111192" y="0"/>
                  </a:lnTo>
                  <a:lnTo>
                    <a:pt x="4892453" y="0"/>
                  </a:lnTo>
                  <a:lnTo>
                    <a:pt x="4935003" y="8463"/>
                  </a:lnTo>
                  <a:lnTo>
                    <a:pt x="4971077" y="32567"/>
                  </a:lnTo>
                  <a:lnTo>
                    <a:pt x="4982639" y="46330"/>
                  </a:lnTo>
                  <a:lnTo>
                    <a:pt x="111192" y="46330"/>
                  </a:lnTo>
                  <a:lnTo>
                    <a:pt x="100238" y="46638"/>
                  </a:lnTo>
                  <a:lnTo>
                    <a:pt x="58722" y="53997"/>
                  </a:lnTo>
                  <a:lnTo>
                    <a:pt x="18721" y="75149"/>
                  </a:lnTo>
                  <a:lnTo>
                    <a:pt x="528" y="104802"/>
                  </a:lnTo>
                  <a:lnTo>
                    <a:pt x="0" y="111192"/>
                  </a:lnTo>
                  <a:close/>
                </a:path>
                <a:path w="5003800" h="111760">
                  <a:moveTo>
                    <a:pt x="5003645" y="111192"/>
                  </a:moveTo>
                  <a:lnTo>
                    <a:pt x="4984922" y="75149"/>
                  </a:lnTo>
                  <a:lnTo>
                    <a:pt x="4944920" y="53997"/>
                  </a:lnTo>
                  <a:lnTo>
                    <a:pt x="4903406" y="46638"/>
                  </a:lnTo>
                  <a:lnTo>
                    <a:pt x="4892453" y="46330"/>
                  </a:lnTo>
                  <a:lnTo>
                    <a:pt x="4982639" y="46330"/>
                  </a:lnTo>
                  <a:lnTo>
                    <a:pt x="5001528" y="89495"/>
                  </a:lnTo>
                  <a:lnTo>
                    <a:pt x="5003115" y="100238"/>
                  </a:lnTo>
                  <a:lnTo>
                    <a:pt x="5003645" y="111192"/>
                  </a:lnTo>
                  <a:close/>
                </a:path>
              </a:pathLst>
            </a:custGeom>
            <a:solidFill>
              <a:srgbClr val="4DB5A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6393547" y="3558148"/>
              <a:ext cx="4448175" cy="19050"/>
            </a:xfrm>
            <a:custGeom>
              <a:avLst/>
              <a:gdLst/>
              <a:ahLst/>
              <a:cxnLst/>
              <a:rect l="l" t="t" r="r" b="b"/>
              <a:pathLst>
                <a:path w="4448175" h="19050">
                  <a:moveTo>
                    <a:pt x="4447685" y="18532"/>
                  </a:moveTo>
                  <a:lnTo>
                    <a:pt x="0" y="18532"/>
                  </a:lnTo>
                  <a:lnTo>
                    <a:pt x="0" y="0"/>
                  </a:lnTo>
                  <a:lnTo>
                    <a:pt x="4447685" y="0"/>
                  </a:lnTo>
                  <a:lnTo>
                    <a:pt x="4447685" y="18532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6393547" y="2789069"/>
              <a:ext cx="556260" cy="556260"/>
            </a:xfrm>
            <a:custGeom>
              <a:avLst/>
              <a:gdLst/>
              <a:ahLst/>
              <a:cxnLst/>
              <a:rect l="l" t="t" r="r" b="b"/>
              <a:pathLst>
                <a:path w="556259" h="556260">
                  <a:moveTo>
                    <a:pt x="277980" y="555960"/>
                  </a:moveTo>
                  <a:lnTo>
                    <a:pt x="237192" y="552952"/>
                  </a:lnTo>
                  <a:lnTo>
                    <a:pt x="197287" y="543990"/>
                  </a:lnTo>
                  <a:lnTo>
                    <a:pt x="159128" y="529271"/>
                  </a:lnTo>
                  <a:lnTo>
                    <a:pt x="123542" y="509111"/>
                  </a:lnTo>
                  <a:lnTo>
                    <a:pt x="91299" y="483950"/>
                  </a:lnTo>
                  <a:lnTo>
                    <a:pt x="63098" y="454329"/>
                  </a:lnTo>
                  <a:lnTo>
                    <a:pt x="39547" y="420890"/>
                  </a:lnTo>
                  <a:lnTo>
                    <a:pt x="21159" y="384358"/>
                  </a:lnTo>
                  <a:lnTo>
                    <a:pt x="8330" y="345524"/>
                  </a:lnTo>
                  <a:lnTo>
                    <a:pt x="1338" y="305227"/>
                  </a:lnTo>
                  <a:lnTo>
                    <a:pt x="0" y="277980"/>
                  </a:lnTo>
                  <a:lnTo>
                    <a:pt x="334" y="264340"/>
                  </a:lnTo>
                  <a:lnTo>
                    <a:pt x="5340" y="223748"/>
                  </a:lnTo>
                  <a:lnTo>
                    <a:pt x="16248" y="184331"/>
                  </a:lnTo>
                  <a:lnTo>
                    <a:pt x="32822" y="146940"/>
                  </a:lnTo>
                  <a:lnTo>
                    <a:pt x="54703" y="112387"/>
                  </a:lnTo>
                  <a:lnTo>
                    <a:pt x="81418" y="81418"/>
                  </a:lnTo>
                  <a:lnTo>
                    <a:pt x="112387" y="54704"/>
                  </a:lnTo>
                  <a:lnTo>
                    <a:pt x="146941" y="32823"/>
                  </a:lnTo>
                  <a:lnTo>
                    <a:pt x="184331" y="16249"/>
                  </a:lnTo>
                  <a:lnTo>
                    <a:pt x="223748" y="5341"/>
                  </a:lnTo>
                  <a:lnTo>
                    <a:pt x="264340" y="334"/>
                  </a:lnTo>
                  <a:lnTo>
                    <a:pt x="277980" y="0"/>
                  </a:lnTo>
                  <a:lnTo>
                    <a:pt x="291620" y="334"/>
                  </a:lnTo>
                  <a:lnTo>
                    <a:pt x="332211" y="5341"/>
                  </a:lnTo>
                  <a:lnTo>
                    <a:pt x="371628" y="16249"/>
                  </a:lnTo>
                  <a:lnTo>
                    <a:pt x="409018" y="32823"/>
                  </a:lnTo>
                  <a:lnTo>
                    <a:pt x="443572" y="54703"/>
                  </a:lnTo>
                  <a:lnTo>
                    <a:pt x="474541" y="81418"/>
                  </a:lnTo>
                  <a:lnTo>
                    <a:pt x="501256" y="112387"/>
                  </a:lnTo>
                  <a:lnTo>
                    <a:pt x="523136" y="146940"/>
                  </a:lnTo>
                  <a:lnTo>
                    <a:pt x="539710" y="184331"/>
                  </a:lnTo>
                  <a:lnTo>
                    <a:pt x="550618" y="223748"/>
                  </a:lnTo>
                  <a:lnTo>
                    <a:pt x="555625" y="264340"/>
                  </a:lnTo>
                  <a:lnTo>
                    <a:pt x="555960" y="277980"/>
                  </a:lnTo>
                  <a:lnTo>
                    <a:pt x="555625" y="291620"/>
                  </a:lnTo>
                  <a:lnTo>
                    <a:pt x="550618" y="332211"/>
                  </a:lnTo>
                  <a:lnTo>
                    <a:pt x="539710" y="371629"/>
                  </a:lnTo>
                  <a:lnTo>
                    <a:pt x="523136" y="409018"/>
                  </a:lnTo>
                  <a:lnTo>
                    <a:pt x="501255" y="443572"/>
                  </a:lnTo>
                  <a:lnTo>
                    <a:pt x="474541" y="474542"/>
                  </a:lnTo>
                  <a:lnTo>
                    <a:pt x="443572" y="501256"/>
                  </a:lnTo>
                  <a:lnTo>
                    <a:pt x="409018" y="523136"/>
                  </a:lnTo>
                  <a:lnTo>
                    <a:pt x="371628" y="539711"/>
                  </a:lnTo>
                  <a:lnTo>
                    <a:pt x="332211" y="550618"/>
                  </a:lnTo>
                  <a:lnTo>
                    <a:pt x="291620" y="555626"/>
                  </a:lnTo>
                  <a:lnTo>
                    <a:pt x="277980" y="555960"/>
                  </a:lnTo>
                  <a:close/>
                </a:path>
              </a:pathLst>
            </a:custGeom>
            <a:solidFill>
              <a:srgbClr val="DFF1F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595855" y="2980566"/>
              <a:ext cx="129724" cy="183775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7122128" y="2679406"/>
            <a:ext cx="2247265" cy="577850"/>
          </a:xfrm>
          <a:prstGeom prst="rect">
            <a:avLst/>
          </a:prstGeom>
        </p:spPr>
        <p:txBody>
          <a:bodyPr wrap="square" lIns="0" tIns="914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dirty="0" sz="1600" spc="120" b="1">
                <a:solidFill>
                  <a:srgbClr val="202020"/>
                </a:solidFill>
                <a:latin typeface="Trebuchet MS"/>
                <a:cs typeface="Trebuchet MS"/>
              </a:rPr>
              <a:t>Aliaksandr</a:t>
            </a:r>
            <a:r>
              <a:rPr dirty="0" sz="1600" spc="-125" b="1">
                <a:solidFill>
                  <a:srgbClr val="202020"/>
                </a:solidFill>
                <a:latin typeface="Trebuchet MS"/>
                <a:cs typeface="Trebuchet MS"/>
              </a:rPr>
              <a:t> </a:t>
            </a:r>
            <a:r>
              <a:rPr dirty="0" sz="1600" spc="160" b="1">
                <a:solidFill>
                  <a:srgbClr val="202020"/>
                </a:solidFill>
                <a:latin typeface="Trebuchet MS"/>
                <a:cs typeface="Trebuchet MS"/>
              </a:rPr>
              <a:t>Samatyia</a:t>
            </a:r>
            <a:endParaRPr sz="16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dirty="0" sz="1100" spc="-10">
                <a:solidFill>
                  <a:srgbClr val="747474"/>
                </a:solidFill>
                <a:latin typeface="Microsoft Sans Serif"/>
                <a:cs typeface="Microsoft Sans Serif"/>
              </a:rPr>
              <a:t>Frontend</a:t>
            </a:r>
            <a:r>
              <a:rPr dirty="0" sz="1100" spc="-50">
                <a:solidFill>
                  <a:srgbClr val="747474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80">
                <a:solidFill>
                  <a:srgbClr val="747474"/>
                </a:solidFill>
                <a:latin typeface="Microsoft Sans Serif"/>
                <a:cs typeface="Microsoft Sans Serif"/>
              </a:rPr>
              <a:t>&amp;</a:t>
            </a:r>
            <a:r>
              <a:rPr dirty="0" sz="1100" spc="-5">
                <a:solidFill>
                  <a:srgbClr val="747474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10">
                <a:solidFill>
                  <a:srgbClr val="747474"/>
                </a:solidFill>
                <a:latin typeface="Microsoft Sans Serif"/>
                <a:cs typeface="Microsoft Sans Serif"/>
              </a:rPr>
              <a:t>UX</a:t>
            </a:r>
            <a:r>
              <a:rPr dirty="0" sz="1100" spc="-25">
                <a:solidFill>
                  <a:srgbClr val="747474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20">
                <a:solidFill>
                  <a:srgbClr val="747474"/>
                </a:solidFill>
                <a:latin typeface="Microsoft Sans Serif"/>
                <a:cs typeface="Microsoft Sans Serif"/>
              </a:rPr>
              <a:t>Lead</a:t>
            </a:r>
            <a:endParaRPr sz="1100">
              <a:latin typeface="Microsoft Sans Serif"/>
              <a:cs typeface="Microsoft Sans Serif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6393546" y="3854660"/>
            <a:ext cx="352425" cy="1538605"/>
            <a:chOff x="6393546" y="3854660"/>
            <a:chExt cx="352425" cy="1538605"/>
          </a:xfrm>
        </p:grpSpPr>
        <p:sp>
          <p:nvSpPr>
            <p:cNvPr id="34" name="object 34"/>
            <p:cNvSpPr/>
            <p:nvPr/>
          </p:nvSpPr>
          <p:spPr>
            <a:xfrm>
              <a:off x="6393546" y="3854660"/>
              <a:ext cx="352425" cy="352425"/>
            </a:xfrm>
            <a:custGeom>
              <a:avLst/>
              <a:gdLst/>
              <a:ahLst/>
              <a:cxnLst/>
              <a:rect l="l" t="t" r="r" b="b"/>
              <a:pathLst>
                <a:path w="352425" h="352425">
                  <a:moveTo>
                    <a:pt x="282848" y="352108"/>
                  </a:moveTo>
                  <a:lnTo>
                    <a:pt x="69260" y="352108"/>
                  </a:lnTo>
                  <a:lnTo>
                    <a:pt x="64440" y="351633"/>
                  </a:lnTo>
                  <a:lnTo>
                    <a:pt x="28897" y="336911"/>
                  </a:lnTo>
                  <a:lnTo>
                    <a:pt x="3779" y="301850"/>
                  </a:lnTo>
                  <a:lnTo>
                    <a:pt x="0" y="282847"/>
                  </a:lnTo>
                  <a:lnTo>
                    <a:pt x="0" y="277980"/>
                  </a:lnTo>
                  <a:lnTo>
                    <a:pt x="0" y="69260"/>
                  </a:lnTo>
                  <a:lnTo>
                    <a:pt x="15196" y="28896"/>
                  </a:lnTo>
                  <a:lnTo>
                    <a:pt x="50257" y="3779"/>
                  </a:lnTo>
                  <a:lnTo>
                    <a:pt x="69260" y="0"/>
                  </a:lnTo>
                  <a:lnTo>
                    <a:pt x="282848" y="0"/>
                  </a:lnTo>
                  <a:lnTo>
                    <a:pt x="323210" y="15196"/>
                  </a:lnTo>
                  <a:lnTo>
                    <a:pt x="348328" y="50256"/>
                  </a:lnTo>
                  <a:lnTo>
                    <a:pt x="352108" y="69260"/>
                  </a:lnTo>
                  <a:lnTo>
                    <a:pt x="352108" y="282847"/>
                  </a:lnTo>
                  <a:lnTo>
                    <a:pt x="336911" y="323210"/>
                  </a:lnTo>
                  <a:lnTo>
                    <a:pt x="301850" y="348327"/>
                  </a:lnTo>
                  <a:lnTo>
                    <a:pt x="287668" y="351633"/>
                  </a:lnTo>
                  <a:lnTo>
                    <a:pt x="282848" y="352108"/>
                  </a:lnTo>
                  <a:close/>
                </a:path>
              </a:pathLst>
            </a:custGeom>
            <a:solidFill>
              <a:srgbClr val="DFF6F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5" name="object 3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501650" y="3968941"/>
              <a:ext cx="135901" cy="123546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6393546" y="4447685"/>
              <a:ext cx="352425" cy="352425"/>
            </a:xfrm>
            <a:custGeom>
              <a:avLst/>
              <a:gdLst/>
              <a:ahLst/>
              <a:cxnLst/>
              <a:rect l="l" t="t" r="r" b="b"/>
              <a:pathLst>
                <a:path w="352425" h="352425">
                  <a:moveTo>
                    <a:pt x="282848" y="352108"/>
                  </a:moveTo>
                  <a:lnTo>
                    <a:pt x="69260" y="352108"/>
                  </a:lnTo>
                  <a:lnTo>
                    <a:pt x="64440" y="351633"/>
                  </a:lnTo>
                  <a:lnTo>
                    <a:pt x="28897" y="336910"/>
                  </a:lnTo>
                  <a:lnTo>
                    <a:pt x="3779" y="301850"/>
                  </a:lnTo>
                  <a:lnTo>
                    <a:pt x="0" y="282847"/>
                  </a:lnTo>
                  <a:lnTo>
                    <a:pt x="0" y="277980"/>
                  </a:lnTo>
                  <a:lnTo>
                    <a:pt x="0" y="69260"/>
                  </a:lnTo>
                  <a:lnTo>
                    <a:pt x="15196" y="28897"/>
                  </a:lnTo>
                  <a:lnTo>
                    <a:pt x="50257" y="3779"/>
                  </a:lnTo>
                  <a:lnTo>
                    <a:pt x="69260" y="0"/>
                  </a:lnTo>
                  <a:lnTo>
                    <a:pt x="282848" y="0"/>
                  </a:lnTo>
                  <a:lnTo>
                    <a:pt x="323210" y="15196"/>
                  </a:lnTo>
                  <a:lnTo>
                    <a:pt x="348328" y="50256"/>
                  </a:lnTo>
                  <a:lnTo>
                    <a:pt x="352108" y="69260"/>
                  </a:lnTo>
                  <a:lnTo>
                    <a:pt x="352108" y="282847"/>
                  </a:lnTo>
                  <a:lnTo>
                    <a:pt x="336911" y="323209"/>
                  </a:lnTo>
                  <a:lnTo>
                    <a:pt x="301850" y="348327"/>
                  </a:lnTo>
                  <a:lnTo>
                    <a:pt x="287668" y="351633"/>
                  </a:lnTo>
                  <a:lnTo>
                    <a:pt x="282848" y="352108"/>
                  </a:lnTo>
                  <a:close/>
                </a:path>
              </a:pathLst>
            </a:custGeom>
            <a:solidFill>
              <a:srgbClr val="DFF6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6541803" y="4575555"/>
              <a:ext cx="62230" cy="86995"/>
            </a:xfrm>
            <a:custGeom>
              <a:avLst/>
              <a:gdLst/>
              <a:ahLst/>
              <a:cxnLst/>
              <a:rect l="l" t="t" r="r" b="b"/>
              <a:pathLst>
                <a:path w="62229" h="86995">
                  <a:moveTo>
                    <a:pt x="46330" y="86482"/>
                  </a:moveTo>
                  <a:lnTo>
                    <a:pt x="30886" y="77834"/>
                  </a:lnTo>
                  <a:lnTo>
                    <a:pt x="0" y="77834"/>
                  </a:lnTo>
                  <a:lnTo>
                    <a:pt x="15443" y="69186"/>
                  </a:lnTo>
                  <a:lnTo>
                    <a:pt x="0" y="60537"/>
                  </a:lnTo>
                  <a:lnTo>
                    <a:pt x="15443" y="51889"/>
                  </a:lnTo>
                  <a:lnTo>
                    <a:pt x="0" y="43241"/>
                  </a:lnTo>
                  <a:lnTo>
                    <a:pt x="15443" y="34593"/>
                  </a:lnTo>
                  <a:lnTo>
                    <a:pt x="0" y="25944"/>
                  </a:lnTo>
                  <a:lnTo>
                    <a:pt x="15443" y="17296"/>
                  </a:lnTo>
                  <a:lnTo>
                    <a:pt x="0" y="8648"/>
                  </a:lnTo>
                  <a:lnTo>
                    <a:pt x="15443" y="0"/>
                  </a:lnTo>
                  <a:lnTo>
                    <a:pt x="30886" y="8648"/>
                  </a:lnTo>
                  <a:lnTo>
                    <a:pt x="61773" y="8648"/>
                  </a:lnTo>
                  <a:lnTo>
                    <a:pt x="46330" y="17296"/>
                  </a:lnTo>
                  <a:lnTo>
                    <a:pt x="61773" y="25944"/>
                  </a:lnTo>
                  <a:lnTo>
                    <a:pt x="46330" y="34593"/>
                  </a:lnTo>
                  <a:lnTo>
                    <a:pt x="61773" y="43241"/>
                  </a:lnTo>
                  <a:lnTo>
                    <a:pt x="46330" y="51889"/>
                  </a:lnTo>
                  <a:lnTo>
                    <a:pt x="61773" y="60537"/>
                  </a:lnTo>
                  <a:lnTo>
                    <a:pt x="46330" y="69186"/>
                  </a:lnTo>
                  <a:lnTo>
                    <a:pt x="61773" y="77834"/>
                  </a:lnTo>
                  <a:lnTo>
                    <a:pt x="30886" y="77834"/>
                  </a:lnTo>
                  <a:lnTo>
                    <a:pt x="15443" y="86482"/>
                  </a:lnTo>
                  <a:lnTo>
                    <a:pt x="46330" y="86482"/>
                  </a:lnTo>
                  <a:close/>
                </a:path>
                <a:path w="62229" h="86995">
                  <a:moveTo>
                    <a:pt x="61773" y="8648"/>
                  </a:moveTo>
                  <a:lnTo>
                    <a:pt x="30886" y="8648"/>
                  </a:lnTo>
                  <a:lnTo>
                    <a:pt x="46330" y="0"/>
                  </a:lnTo>
                  <a:lnTo>
                    <a:pt x="61773" y="8648"/>
                  </a:lnTo>
                  <a:close/>
                </a:path>
              </a:pathLst>
            </a:custGeom>
            <a:solidFill>
              <a:srgbClr val="4DB5A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6393546" y="5040709"/>
              <a:ext cx="352425" cy="352425"/>
            </a:xfrm>
            <a:custGeom>
              <a:avLst/>
              <a:gdLst/>
              <a:ahLst/>
              <a:cxnLst/>
              <a:rect l="l" t="t" r="r" b="b"/>
              <a:pathLst>
                <a:path w="352425" h="352425">
                  <a:moveTo>
                    <a:pt x="282848" y="352108"/>
                  </a:moveTo>
                  <a:lnTo>
                    <a:pt x="69260" y="352108"/>
                  </a:lnTo>
                  <a:lnTo>
                    <a:pt x="64440" y="351633"/>
                  </a:lnTo>
                  <a:lnTo>
                    <a:pt x="28897" y="336910"/>
                  </a:lnTo>
                  <a:lnTo>
                    <a:pt x="3779" y="301850"/>
                  </a:lnTo>
                  <a:lnTo>
                    <a:pt x="0" y="282847"/>
                  </a:lnTo>
                  <a:lnTo>
                    <a:pt x="0" y="277980"/>
                  </a:lnTo>
                  <a:lnTo>
                    <a:pt x="0" y="69260"/>
                  </a:lnTo>
                  <a:lnTo>
                    <a:pt x="15196" y="28897"/>
                  </a:lnTo>
                  <a:lnTo>
                    <a:pt x="50257" y="3779"/>
                  </a:lnTo>
                  <a:lnTo>
                    <a:pt x="69260" y="0"/>
                  </a:lnTo>
                  <a:lnTo>
                    <a:pt x="282848" y="0"/>
                  </a:lnTo>
                  <a:lnTo>
                    <a:pt x="323210" y="15195"/>
                  </a:lnTo>
                  <a:lnTo>
                    <a:pt x="348328" y="50256"/>
                  </a:lnTo>
                  <a:lnTo>
                    <a:pt x="352108" y="69260"/>
                  </a:lnTo>
                  <a:lnTo>
                    <a:pt x="352108" y="282847"/>
                  </a:lnTo>
                  <a:lnTo>
                    <a:pt x="336911" y="323209"/>
                  </a:lnTo>
                  <a:lnTo>
                    <a:pt x="301850" y="348327"/>
                  </a:lnTo>
                  <a:lnTo>
                    <a:pt x="287668" y="351633"/>
                  </a:lnTo>
                  <a:lnTo>
                    <a:pt x="282848" y="352108"/>
                  </a:lnTo>
                  <a:close/>
                </a:path>
              </a:pathLst>
            </a:custGeom>
            <a:solidFill>
              <a:srgbClr val="DFF6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6538709" y="5173534"/>
              <a:ext cx="74295" cy="86995"/>
            </a:xfrm>
            <a:custGeom>
              <a:avLst/>
              <a:gdLst/>
              <a:ahLst/>
              <a:cxnLst/>
              <a:rect l="l" t="t" r="r" b="b"/>
              <a:pathLst>
                <a:path w="74295" h="86995">
                  <a:moveTo>
                    <a:pt x="12357" y="24701"/>
                  </a:moveTo>
                  <a:lnTo>
                    <a:pt x="0" y="24701"/>
                  </a:lnTo>
                  <a:lnTo>
                    <a:pt x="0" y="37058"/>
                  </a:lnTo>
                  <a:lnTo>
                    <a:pt x="12357" y="37058"/>
                  </a:lnTo>
                  <a:lnTo>
                    <a:pt x="12357" y="24701"/>
                  </a:lnTo>
                  <a:close/>
                </a:path>
                <a:path w="74295" h="86995">
                  <a:moveTo>
                    <a:pt x="24714" y="74117"/>
                  </a:moveTo>
                  <a:lnTo>
                    <a:pt x="12357" y="74117"/>
                  </a:lnTo>
                  <a:lnTo>
                    <a:pt x="12357" y="86474"/>
                  </a:lnTo>
                  <a:lnTo>
                    <a:pt x="24714" y="86474"/>
                  </a:lnTo>
                  <a:lnTo>
                    <a:pt x="24714" y="74117"/>
                  </a:lnTo>
                  <a:close/>
                </a:path>
                <a:path w="74295" h="86995">
                  <a:moveTo>
                    <a:pt x="37058" y="49415"/>
                  </a:moveTo>
                  <a:lnTo>
                    <a:pt x="24714" y="49415"/>
                  </a:lnTo>
                  <a:lnTo>
                    <a:pt x="24714" y="61772"/>
                  </a:lnTo>
                  <a:lnTo>
                    <a:pt x="37058" y="61772"/>
                  </a:lnTo>
                  <a:lnTo>
                    <a:pt x="37058" y="49415"/>
                  </a:lnTo>
                  <a:close/>
                </a:path>
                <a:path w="74295" h="86995">
                  <a:moveTo>
                    <a:pt x="49415" y="0"/>
                  </a:moveTo>
                  <a:lnTo>
                    <a:pt x="37058" y="0"/>
                  </a:lnTo>
                  <a:lnTo>
                    <a:pt x="37058" y="12344"/>
                  </a:lnTo>
                  <a:lnTo>
                    <a:pt x="49415" y="12344"/>
                  </a:lnTo>
                  <a:lnTo>
                    <a:pt x="49415" y="0"/>
                  </a:lnTo>
                  <a:close/>
                </a:path>
                <a:path w="74295" h="86995">
                  <a:moveTo>
                    <a:pt x="61772" y="74117"/>
                  </a:moveTo>
                  <a:lnTo>
                    <a:pt x="49415" y="74117"/>
                  </a:lnTo>
                  <a:lnTo>
                    <a:pt x="49415" y="86474"/>
                  </a:lnTo>
                  <a:lnTo>
                    <a:pt x="61772" y="86474"/>
                  </a:lnTo>
                  <a:lnTo>
                    <a:pt x="61772" y="74117"/>
                  </a:lnTo>
                  <a:close/>
                </a:path>
                <a:path w="74295" h="86995">
                  <a:moveTo>
                    <a:pt x="74129" y="37058"/>
                  </a:moveTo>
                  <a:lnTo>
                    <a:pt x="61772" y="37058"/>
                  </a:lnTo>
                  <a:lnTo>
                    <a:pt x="61772" y="61772"/>
                  </a:lnTo>
                  <a:lnTo>
                    <a:pt x="74129" y="61772"/>
                  </a:lnTo>
                  <a:lnTo>
                    <a:pt x="74129" y="37058"/>
                  </a:lnTo>
                  <a:close/>
                </a:path>
              </a:pathLst>
            </a:custGeom>
            <a:solidFill>
              <a:srgbClr val="4DB5A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0" name="object 40"/>
          <p:cNvSpPr txBox="1"/>
          <p:nvPr/>
        </p:nvSpPr>
        <p:spPr>
          <a:xfrm>
            <a:off x="6871945" y="3795848"/>
            <a:ext cx="1790064" cy="487680"/>
          </a:xfrm>
          <a:prstGeom prst="rect">
            <a:avLst/>
          </a:prstGeom>
        </p:spPr>
        <p:txBody>
          <a:bodyPr wrap="square" lIns="0" tIns="793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dirty="0" sz="1150" spc="45" b="1">
                <a:solidFill>
                  <a:srgbClr val="414141"/>
                </a:solidFill>
                <a:latin typeface="Trebuchet MS"/>
                <a:cs typeface="Trebuchet MS"/>
              </a:rPr>
              <a:t>Frontend</a:t>
            </a:r>
            <a:endParaRPr sz="11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dirty="0" sz="1050" spc="-30">
                <a:solidFill>
                  <a:srgbClr val="747474"/>
                </a:solidFill>
                <a:latin typeface="Microsoft Sans Serif"/>
                <a:cs typeface="Microsoft Sans Serif"/>
              </a:rPr>
              <a:t>Dashboard</a:t>
            </a:r>
            <a:r>
              <a:rPr dirty="0" sz="1050" spc="-15">
                <a:solidFill>
                  <a:srgbClr val="74747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50">
                <a:solidFill>
                  <a:srgbClr val="747474"/>
                </a:solidFill>
                <a:latin typeface="Microsoft Sans Serif"/>
                <a:cs typeface="Microsoft Sans Serif"/>
              </a:rPr>
              <a:t>UI</a:t>
            </a:r>
            <a:r>
              <a:rPr dirty="0" sz="1050" spc="-15">
                <a:solidFill>
                  <a:srgbClr val="74747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747474"/>
                </a:solidFill>
                <a:latin typeface="Microsoft Sans Serif"/>
                <a:cs typeface="Microsoft Sans Serif"/>
              </a:rPr>
              <a:t>and</a:t>
            </a:r>
            <a:r>
              <a:rPr dirty="0" sz="1050" spc="-10">
                <a:solidFill>
                  <a:srgbClr val="74747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747474"/>
                </a:solidFill>
                <a:latin typeface="Microsoft Sans Serif"/>
                <a:cs typeface="Microsoft Sans Serif"/>
              </a:rPr>
              <a:t>components</a:t>
            </a:r>
            <a:endParaRPr sz="1050">
              <a:latin typeface="Microsoft Sans Serif"/>
              <a:cs typeface="Microsoft Sans Serif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6871945" y="4388873"/>
            <a:ext cx="1955164" cy="487680"/>
          </a:xfrm>
          <a:prstGeom prst="rect">
            <a:avLst/>
          </a:prstGeom>
        </p:spPr>
        <p:txBody>
          <a:bodyPr wrap="square" lIns="0" tIns="793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dirty="0" sz="1150" spc="70" b="1">
                <a:solidFill>
                  <a:srgbClr val="414141"/>
                </a:solidFill>
                <a:latin typeface="Trebuchet MS"/>
                <a:cs typeface="Trebuchet MS"/>
              </a:rPr>
              <a:t>UX</a:t>
            </a:r>
            <a:endParaRPr sz="11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dirty="0" sz="1050" spc="-20">
                <a:solidFill>
                  <a:srgbClr val="747474"/>
                </a:solidFill>
                <a:latin typeface="Microsoft Sans Serif"/>
                <a:cs typeface="Microsoft Sans Serif"/>
              </a:rPr>
              <a:t>Flows</a:t>
            </a:r>
            <a:r>
              <a:rPr dirty="0" sz="1050" spc="-45">
                <a:solidFill>
                  <a:srgbClr val="74747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747474"/>
                </a:solidFill>
                <a:latin typeface="Microsoft Sans Serif"/>
                <a:cs typeface="Microsoft Sans Serif"/>
              </a:rPr>
              <a:t>and</a:t>
            </a:r>
            <a:r>
              <a:rPr dirty="0" sz="1050" spc="-40">
                <a:solidFill>
                  <a:srgbClr val="74747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747474"/>
                </a:solidFill>
                <a:latin typeface="Microsoft Sans Serif"/>
                <a:cs typeface="Microsoft Sans Serif"/>
              </a:rPr>
              <a:t>onboarding</a:t>
            </a:r>
            <a:r>
              <a:rPr dirty="0" sz="1050" spc="-40">
                <a:solidFill>
                  <a:srgbClr val="74747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5">
                <a:solidFill>
                  <a:srgbClr val="747474"/>
                </a:solidFill>
                <a:latin typeface="Microsoft Sans Serif"/>
                <a:cs typeface="Microsoft Sans Serif"/>
              </a:rPr>
              <a:t>experience</a:t>
            </a:r>
            <a:endParaRPr sz="1050">
              <a:latin typeface="Microsoft Sans Serif"/>
              <a:cs typeface="Microsoft Sans Serif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6871945" y="4981898"/>
            <a:ext cx="1419860" cy="487680"/>
          </a:xfrm>
          <a:prstGeom prst="rect">
            <a:avLst/>
          </a:prstGeom>
        </p:spPr>
        <p:txBody>
          <a:bodyPr wrap="square" lIns="0" tIns="793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dirty="0" sz="1150" spc="65" b="1">
                <a:solidFill>
                  <a:srgbClr val="414141"/>
                </a:solidFill>
                <a:latin typeface="Trebuchet MS"/>
                <a:cs typeface="Trebuchet MS"/>
              </a:rPr>
              <a:t>Integration</a:t>
            </a:r>
            <a:endParaRPr sz="11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dirty="0" sz="1050" spc="-45">
                <a:solidFill>
                  <a:srgbClr val="747474"/>
                </a:solidFill>
                <a:latin typeface="Microsoft Sans Serif"/>
                <a:cs typeface="Microsoft Sans Serif"/>
              </a:rPr>
              <a:t>Demo</a:t>
            </a:r>
            <a:r>
              <a:rPr dirty="0" sz="1050" spc="-5">
                <a:solidFill>
                  <a:srgbClr val="74747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747474"/>
                </a:solidFill>
                <a:latin typeface="Microsoft Sans Serif"/>
                <a:cs typeface="Microsoft Sans Serif"/>
              </a:rPr>
              <a:t>flow</a:t>
            </a:r>
            <a:r>
              <a:rPr dirty="0" sz="1050" spc="-5">
                <a:solidFill>
                  <a:srgbClr val="74747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747474"/>
                </a:solidFill>
                <a:latin typeface="Microsoft Sans Serif"/>
                <a:cs typeface="Microsoft Sans Serif"/>
              </a:rPr>
              <a:t>and</a:t>
            </a:r>
            <a:r>
              <a:rPr dirty="0" sz="1050" spc="-5">
                <a:solidFill>
                  <a:srgbClr val="74747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55">
                <a:solidFill>
                  <a:srgbClr val="747474"/>
                </a:solidFill>
                <a:latin typeface="Microsoft Sans Serif"/>
                <a:cs typeface="Microsoft Sans Serif"/>
              </a:rPr>
              <a:t>CI</a:t>
            </a:r>
            <a:r>
              <a:rPr dirty="0" sz="1050" spc="-5">
                <a:solidFill>
                  <a:srgbClr val="74747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747474"/>
                </a:solidFill>
                <a:latin typeface="Microsoft Sans Serif"/>
                <a:cs typeface="Microsoft Sans Serif"/>
              </a:rPr>
              <a:t>wiring</a:t>
            </a:r>
            <a:endParaRPr sz="1050">
              <a:latin typeface="Microsoft Sans Serif"/>
              <a:cs typeface="Microsoft Sans Serif"/>
            </a:endParaRPr>
          </a:p>
        </p:txBody>
      </p:sp>
      <p:pic>
        <p:nvPicPr>
          <p:cNvPr id="43" name="object 4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733944" y="606923"/>
            <a:ext cx="138990" cy="138990"/>
          </a:xfrm>
          <a:prstGeom prst="rect">
            <a:avLst/>
          </a:prstGeom>
        </p:spPr>
      </p:pic>
      <p:sp>
        <p:nvSpPr>
          <p:cNvPr id="44" name="object 44"/>
          <p:cNvSpPr txBox="1"/>
          <p:nvPr/>
        </p:nvSpPr>
        <p:spPr>
          <a:xfrm>
            <a:off x="9973598" y="561792"/>
            <a:ext cx="1149350" cy="2038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50" spc="145" b="1">
                <a:solidFill>
                  <a:srgbClr val="747474"/>
                </a:solidFill>
                <a:latin typeface="Trebuchet MS"/>
                <a:cs typeface="Trebuchet MS"/>
              </a:rPr>
              <a:t>AUTOMASPEC</a:t>
            </a:r>
            <a:endParaRPr sz="1150">
              <a:latin typeface="Trebuchet MS"/>
              <a:cs typeface="Trebuchet MS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275653" y="6091496"/>
            <a:ext cx="3309620" cy="2171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250" spc="-120" i="1">
                <a:solidFill>
                  <a:srgbClr val="616161"/>
                </a:solidFill>
                <a:latin typeface="Arial"/>
                <a:cs typeface="Arial"/>
              </a:rPr>
              <a:t>We</a:t>
            </a:r>
            <a:r>
              <a:rPr dirty="0" sz="1250" spc="-40" i="1">
                <a:solidFill>
                  <a:srgbClr val="616161"/>
                </a:solidFill>
                <a:latin typeface="Arial"/>
                <a:cs typeface="Arial"/>
              </a:rPr>
              <a:t> </a:t>
            </a:r>
            <a:r>
              <a:rPr dirty="0" sz="1250" spc="-20" i="1">
                <a:solidFill>
                  <a:srgbClr val="616161"/>
                </a:solidFill>
                <a:latin typeface="Arial"/>
                <a:cs typeface="Arial"/>
              </a:rPr>
              <a:t>split</a:t>
            </a:r>
            <a:r>
              <a:rPr dirty="0" sz="1250" spc="-40" i="1">
                <a:solidFill>
                  <a:srgbClr val="616161"/>
                </a:solidFill>
                <a:latin typeface="Arial"/>
                <a:cs typeface="Arial"/>
              </a:rPr>
              <a:t> </a:t>
            </a:r>
            <a:r>
              <a:rPr dirty="0" sz="1250" spc="-45" i="1">
                <a:solidFill>
                  <a:srgbClr val="616161"/>
                </a:solidFill>
                <a:latin typeface="Arial"/>
                <a:cs typeface="Arial"/>
              </a:rPr>
              <a:t>roles</a:t>
            </a:r>
            <a:r>
              <a:rPr dirty="0" sz="1250" spc="-35" i="1">
                <a:solidFill>
                  <a:srgbClr val="616161"/>
                </a:solidFill>
                <a:latin typeface="Arial"/>
                <a:cs typeface="Arial"/>
              </a:rPr>
              <a:t> </a:t>
            </a:r>
            <a:r>
              <a:rPr dirty="0" sz="1250" i="1">
                <a:solidFill>
                  <a:srgbClr val="616161"/>
                </a:solidFill>
                <a:latin typeface="Arial"/>
                <a:cs typeface="Arial"/>
              </a:rPr>
              <a:t>to</a:t>
            </a:r>
            <a:r>
              <a:rPr dirty="0" sz="1250" spc="-40" i="1">
                <a:solidFill>
                  <a:srgbClr val="616161"/>
                </a:solidFill>
                <a:latin typeface="Arial"/>
                <a:cs typeface="Arial"/>
              </a:rPr>
              <a:t> </a:t>
            </a:r>
            <a:r>
              <a:rPr dirty="0" sz="1250" spc="-70" i="1">
                <a:solidFill>
                  <a:srgbClr val="616161"/>
                </a:solidFill>
                <a:latin typeface="Arial"/>
                <a:cs typeface="Arial"/>
              </a:rPr>
              <a:t>move</a:t>
            </a:r>
            <a:r>
              <a:rPr dirty="0" sz="1250" spc="-35" i="1">
                <a:solidFill>
                  <a:srgbClr val="616161"/>
                </a:solidFill>
                <a:latin typeface="Arial"/>
                <a:cs typeface="Arial"/>
              </a:rPr>
              <a:t> </a:t>
            </a:r>
            <a:r>
              <a:rPr dirty="0" sz="1250" spc="-25" i="1">
                <a:solidFill>
                  <a:srgbClr val="616161"/>
                </a:solidFill>
                <a:latin typeface="Arial"/>
                <a:cs typeface="Arial"/>
              </a:rPr>
              <a:t>faster</a:t>
            </a:r>
            <a:r>
              <a:rPr dirty="0" sz="1250" spc="-40" i="1">
                <a:solidFill>
                  <a:srgbClr val="616161"/>
                </a:solidFill>
                <a:latin typeface="Arial"/>
                <a:cs typeface="Arial"/>
              </a:rPr>
              <a:t> </a:t>
            </a:r>
            <a:r>
              <a:rPr dirty="0" sz="1250" spc="-60" i="1">
                <a:solidFill>
                  <a:srgbClr val="616161"/>
                </a:solidFill>
                <a:latin typeface="Arial"/>
                <a:cs typeface="Arial"/>
              </a:rPr>
              <a:t>and</a:t>
            </a:r>
            <a:r>
              <a:rPr dirty="0" sz="1250" spc="-35" i="1">
                <a:solidFill>
                  <a:srgbClr val="616161"/>
                </a:solidFill>
                <a:latin typeface="Arial"/>
                <a:cs typeface="Arial"/>
              </a:rPr>
              <a:t> </a:t>
            </a:r>
            <a:r>
              <a:rPr dirty="0" sz="1250" spc="-45" i="1">
                <a:solidFill>
                  <a:srgbClr val="616161"/>
                </a:solidFill>
                <a:latin typeface="Arial"/>
                <a:cs typeface="Arial"/>
              </a:rPr>
              <a:t>play</a:t>
            </a:r>
            <a:r>
              <a:rPr dirty="0" sz="1250" spc="-40" i="1">
                <a:solidFill>
                  <a:srgbClr val="616161"/>
                </a:solidFill>
                <a:latin typeface="Arial"/>
                <a:cs typeface="Arial"/>
              </a:rPr>
              <a:t> </a:t>
            </a:r>
            <a:r>
              <a:rPr dirty="0" sz="1250" i="1">
                <a:solidFill>
                  <a:srgbClr val="616161"/>
                </a:solidFill>
                <a:latin typeface="Arial"/>
                <a:cs typeface="Arial"/>
              </a:rPr>
              <a:t>to</a:t>
            </a:r>
            <a:r>
              <a:rPr dirty="0" sz="1250" spc="-35" i="1">
                <a:solidFill>
                  <a:srgbClr val="616161"/>
                </a:solidFill>
                <a:latin typeface="Arial"/>
                <a:cs typeface="Arial"/>
              </a:rPr>
              <a:t> </a:t>
            </a:r>
            <a:r>
              <a:rPr dirty="0" sz="1250" spc="-30" i="1">
                <a:solidFill>
                  <a:srgbClr val="616161"/>
                </a:solidFill>
                <a:latin typeface="Arial"/>
                <a:cs typeface="Arial"/>
              </a:rPr>
              <a:t>strengths</a:t>
            </a:r>
            <a:endParaRPr sz="12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999" y="733424"/>
            <a:ext cx="57150" cy="666750"/>
          </a:xfrm>
          <a:custGeom>
            <a:avLst/>
            <a:gdLst/>
            <a:ahLst/>
            <a:cxnLst/>
            <a:rect l="l" t="t" r="r" b="b"/>
            <a:pathLst>
              <a:path w="57150" h="666750">
                <a:moveTo>
                  <a:pt x="32364" y="666749"/>
                </a:moveTo>
                <a:lnTo>
                  <a:pt x="24785" y="666749"/>
                </a:lnTo>
                <a:lnTo>
                  <a:pt x="21140" y="666024"/>
                </a:lnTo>
                <a:lnTo>
                  <a:pt x="0" y="641964"/>
                </a:lnTo>
                <a:lnTo>
                  <a:pt x="0" y="63817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49" y="24785"/>
                </a:lnTo>
                <a:lnTo>
                  <a:pt x="57149" y="641964"/>
                </a:lnTo>
                <a:lnTo>
                  <a:pt x="36009" y="666024"/>
                </a:lnTo>
                <a:lnTo>
                  <a:pt x="32364" y="666749"/>
                </a:lnTo>
                <a:close/>
              </a:path>
            </a:pathLst>
          </a:custGeom>
          <a:solidFill>
            <a:srgbClr val="41A5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044575" y="930275"/>
            <a:ext cx="115951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165" b="1">
                <a:solidFill>
                  <a:srgbClr val="4DB5AB"/>
                </a:solidFill>
                <a:latin typeface="Arial Narrow"/>
                <a:cs typeface="Arial Narrow"/>
              </a:rPr>
              <a:t>LIVE</a:t>
            </a:r>
            <a:r>
              <a:rPr dirty="0" sz="1500" spc="310" b="1">
                <a:solidFill>
                  <a:srgbClr val="4DB5AB"/>
                </a:solidFill>
                <a:latin typeface="Arial Narrow"/>
                <a:cs typeface="Arial Narrow"/>
              </a:rPr>
              <a:t> </a:t>
            </a:r>
            <a:r>
              <a:rPr dirty="0" sz="1500" spc="260" b="1">
                <a:solidFill>
                  <a:srgbClr val="4DB5AB"/>
                </a:solidFill>
                <a:latin typeface="Arial Narrow"/>
                <a:cs typeface="Arial Narrow"/>
              </a:rPr>
              <a:t>DEMO</a:t>
            </a:r>
            <a:endParaRPr sz="1500">
              <a:latin typeface="Arial Narrow"/>
              <a:cs typeface="Arial Narrow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22250" rIns="0" bIns="0" rtlCol="0" vert="horz">
            <a:spAutoFit/>
          </a:bodyPr>
          <a:lstStyle/>
          <a:p>
            <a:pPr marL="41275">
              <a:lnSpc>
                <a:spcPct val="100000"/>
              </a:lnSpc>
              <a:spcBef>
                <a:spcPts val="100"/>
              </a:spcBef>
            </a:pPr>
            <a:r>
              <a:rPr dirty="0" spc="220"/>
              <a:t>How</a:t>
            </a:r>
            <a:r>
              <a:rPr dirty="0" spc="-275"/>
              <a:t> </a:t>
            </a:r>
            <a:r>
              <a:rPr dirty="0"/>
              <a:t>It</a:t>
            </a:r>
            <a:r>
              <a:rPr dirty="0" spc="-275"/>
              <a:t> </a:t>
            </a:r>
            <a:r>
              <a:rPr dirty="0" spc="280"/>
              <a:t>Works</a:t>
            </a:r>
          </a:p>
        </p:txBody>
      </p:sp>
      <p:sp>
        <p:nvSpPr>
          <p:cNvPr id="5" name="object 5"/>
          <p:cNvSpPr/>
          <p:nvPr/>
        </p:nvSpPr>
        <p:spPr>
          <a:xfrm>
            <a:off x="761999" y="2943571"/>
            <a:ext cx="88265" cy="1332865"/>
          </a:xfrm>
          <a:custGeom>
            <a:avLst/>
            <a:gdLst/>
            <a:ahLst/>
            <a:cxnLst/>
            <a:rect l="l" t="t" r="r" b="b"/>
            <a:pathLst>
              <a:path w="88265" h="1332864">
                <a:moveTo>
                  <a:pt x="88062" y="1332805"/>
                </a:moveTo>
                <a:lnTo>
                  <a:pt x="50303" y="1321892"/>
                </a:lnTo>
                <a:lnTo>
                  <a:pt x="16037" y="1290830"/>
                </a:lnTo>
                <a:lnTo>
                  <a:pt x="453" y="1247285"/>
                </a:lnTo>
                <a:lnTo>
                  <a:pt x="0" y="1237902"/>
                </a:lnTo>
                <a:lnTo>
                  <a:pt x="0" y="94902"/>
                </a:lnTo>
                <a:lnTo>
                  <a:pt x="11259" y="49956"/>
                </a:lnTo>
                <a:lnTo>
                  <a:pt x="42321" y="15690"/>
                </a:lnTo>
                <a:lnTo>
                  <a:pt x="85866" y="106"/>
                </a:lnTo>
                <a:lnTo>
                  <a:pt x="88061" y="0"/>
                </a:lnTo>
                <a:lnTo>
                  <a:pt x="82859" y="2069"/>
                </a:lnTo>
                <a:lnTo>
                  <a:pt x="77024" y="6903"/>
                </a:lnTo>
                <a:lnTo>
                  <a:pt x="55643" y="41974"/>
                </a:lnTo>
                <a:lnTo>
                  <a:pt x="47851" y="85519"/>
                </a:lnTo>
                <a:lnTo>
                  <a:pt x="47625" y="94902"/>
                </a:lnTo>
                <a:lnTo>
                  <a:pt x="47625" y="1237902"/>
                </a:lnTo>
                <a:lnTo>
                  <a:pt x="53254" y="1282848"/>
                </a:lnTo>
                <a:lnTo>
                  <a:pt x="72776" y="1321892"/>
                </a:lnTo>
                <a:lnTo>
                  <a:pt x="82859" y="1330735"/>
                </a:lnTo>
                <a:lnTo>
                  <a:pt x="88062" y="1332805"/>
                </a:lnTo>
                <a:close/>
              </a:path>
            </a:pathLst>
          </a:custGeom>
          <a:solidFill>
            <a:srgbClr val="DFDF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63625" y="3159125"/>
            <a:ext cx="299720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120" b="1">
                <a:solidFill>
                  <a:srgbClr val="41A5F5"/>
                </a:solidFill>
                <a:latin typeface="Trebuchet MS"/>
                <a:cs typeface="Trebuchet MS"/>
              </a:rPr>
              <a:t>01</a:t>
            </a:r>
            <a:endParaRPr sz="21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11325" y="3235325"/>
            <a:ext cx="1658620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70" b="1">
                <a:solidFill>
                  <a:srgbClr val="414141"/>
                </a:solidFill>
                <a:latin typeface="Trebuchet MS"/>
                <a:cs typeface="Trebuchet MS"/>
              </a:rPr>
              <a:t>Generate</a:t>
            </a:r>
            <a:r>
              <a:rPr dirty="0" sz="1350" spc="-120" b="1">
                <a:solidFill>
                  <a:srgbClr val="414141"/>
                </a:solidFill>
                <a:latin typeface="Trebuchet MS"/>
                <a:cs typeface="Trebuchet MS"/>
              </a:rPr>
              <a:t> </a:t>
            </a:r>
            <a:r>
              <a:rPr dirty="0" sz="1350" spc="120" b="1">
                <a:solidFill>
                  <a:srgbClr val="414141"/>
                </a:solidFill>
                <a:latin typeface="Trebuchet MS"/>
                <a:cs typeface="Trebuchet MS"/>
              </a:rPr>
              <a:t>&amp;</a:t>
            </a:r>
            <a:r>
              <a:rPr dirty="0" sz="1350" spc="-120" b="1">
                <a:solidFill>
                  <a:srgbClr val="414141"/>
                </a:solidFill>
                <a:latin typeface="Trebuchet MS"/>
                <a:cs typeface="Trebuchet MS"/>
              </a:rPr>
              <a:t> </a:t>
            </a:r>
            <a:r>
              <a:rPr dirty="0" sz="1350" spc="70" b="1">
                <a:solidFill>
                  <a:srgbClr val="414141"/>
                </a:solidFill>
                <a:latin typeface="Trebuchet MS"/>
                <a:cs typeface="Trebuchet MS"/>
              </a:rPr>
              <a:t>Import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11325" y="3636515"/>
            <a:ext cx="2712085" cy="4254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4100"/>
              </a:lnSpc>
              <a:spcBef>
                <a:spcPts val="95"/>
              </a:spcBef>
            </a:pPr>
            <a:r>
              <a:rPr dirty="0" sz="1150" spc="-35">
                <a:solidFill>
                  <a:srgbClr val="747474"/>
                </a:solidFill>
                <a:latin typeface="Microsoft Sans Serif"/>
                <a:cs typeface="Microsoft Sans Serif"/>
              </a:rPr>
              <a:t>Generate</a:t>
            </a:r>
            <a:r>
              <a:rPr dirty="0" sz="1150" spc="-25">
                <a:solidFill>
                  <a:srgbClr val="747474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10">
                <a:solidFill>
                  <a:srgbClr val="747474"/>
                </a:solidFill>
                <a:latin typeface="Microsoft Sans Serif"/>
                <a:cs typeface="Microsoft Sans Serif"/>
              </a:rPr>
              <a:t>Vitest</a:t>
            </a:r>
            <a:r>
              <a:rPr dirty="0" sz="1150" spc="-25">
                <a:solidFill>
                  <a:srgbClr val="747474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55">
                <a:solidFill>
                  <a:srgbClr val="747474"/>
                </a:solidFill>
                <a:latin typeface="Microsoft Sans Serif"/>
                <a:cs typeface="Microsoft Sans Serif"/>
              </a:rPr>
              <a:t>JSON</a:t>
            </a:r>
            <a:r>
              <a:rPr dirty="0" sz="1150" spc="-20">
                <a:solidFill>
                  <a:srgbClr val="747474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747474"/>
                </a:solidFill>
                <a:latin typeface="Microsoft Sans Serif"/>
                <a:cs typeface="Microsoft Sans Serif"/>
              </a:rPr>
              <a:t>report</a:t>
            </a:r>
            <a:r>
              <a:rPr dirty="0" sz="1150" spc="-20">
                <a:solidFill>
                  <a:srgbClr val="74747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747474"/>
                </a:solidFill>
                <a:latin typeface="Arial"/>
                <a:cs typeface="Arial"/>
              </a:rPr>
              <a:t>→</a:t>
            </a:r>
            <a:r>
              <a:rPr dirty="0" sz="1050" spc="-10">
                <a:solidFill>
                  <a:srgbClr val="747474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747474"/>
                </a:solidFill>
                <a:latin typeface="Microsoft Sans Serif"/>
                <a:cs typeface="Microsoft Sans Serif"/>
              </a:rPr>
              <a:t>Import</a:t>
            </a:r>
            <a:r>
              <a:rPr dirty="0" sz="1150" spc="-20">
                <a:solidFill>
                  <a:srgbClr val="747474"/>
                </a:solidFill>
                <a:latin typeface="Microsoft Sans Serif"/>
                <a:cs typeface="Microsoft Sans Serif"/>
              </a:rPr>
              <a:t> into </a:t>
            </a:r>
            <a:r>
              <a:rPr dirty="0" sz="1150" spc="-10">
                <a:solidFill>
                  <a:srgbClr val="747474"/>
                </a:solidFill>
                <a:latin typeface="Microsoft Sans Serif"/>
                <a:cs typeface="Microsoft Sans Serif"/>
              </a:rPr>
              <a:t>Automaspec</a:t>
            </a:r>
            <a:endParaRPr sz="1150">
              <a:latin typeface="Microsoft Sans Serif"/>
              <a:cs typeface="Microsoft Sans Serif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86049" y="4457700"/>
            <a:ext cx="114299" cy="114299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761999" y="4791421"/>
            <a:ext cx="88265" cy="1332865"/>
          </a:xfrm>
          <a:custGeom>
            <a:avLst/>
            <a:gdLst/>
            <a:ahLst/>
            <a:cxnLst/>
            <a:rect l="l" t="t" r="r" b="b"/>
            <a:pathLst>
              <a:path w="88265" h="1332864">
                <a:moveTo>
                  <a:pt x="88062" y="1332805"/>
                </a:moveTo>
                <a:lnTo>
                  <a:pt x="50303" y="1321892"/>
                </a:lnTo>
                <a:lnTo>
                  <a:pt x="16037" y="1290830"/>
                </a:lnTo>
                <a:lnTo>
                  <a:pt x="453" y="1247285"/>
                </a:lnTo>
                <a:lnTo>
                  <a:pt x="0" y="1237902"/>
                </a:lnTo>
                <a:lnTo>
                  <a:pt x="0" y="94902"/>
                </a:lnTo>
                <a:lnTo>
                  <a:pt x="11259" y="49956"/>
                </a:lnTo>
                <a:lnTo>
                  <a:pt x="42321" y="15690"/>
                </a:lnTo>
                <a:lnTo>
                  <a:pt x="85866" y="105"/>
                </a:lnTo>
                <a:lnTo>
                  <a:pt x="88061" y="0"/>
                </a:lnTo>
                <a:lnTo>
                  <a:pt x="82859" y="2069"/>
                </a:lnTo>
                <a:lnTo>
                  <a:pt x="77024" y="6903"/>
                </a:lnTo>
                <a:lnTo>
                  <a:pt x="55643" y="41974"/>
                </a:lnTo>
                <a:lnTo>
                  <a:pt x="47851" y="85519"/>
                </a:lnTo>
                <a:lnTo>
                  <a:pt x="47625" y="94902"/>
                </a:lnTo>
                <a:lnTo>
                  <a:pt x="47625" y="1237902"/>
                </a:lnTo>
                <a:lnTo>
                  <a:pt x="53254" y="1282848"/>
                </a:lnTo>
                <a:lnTo>
                  <a:pt x="72776" y="1321892"/>
                </a:lnTo>
                <a:lnTo>
                  <a:pt x="82859" y="1330735"/>
                </a:lnTo>
                <a:lnTo>
                  <a:pt x="88062" y="1332805"/>
                </a:lnTo>
                <a:close/>
              </a:path>
            </a:pathLst>
          </a:custGeom>
          <a:solidFill>
            <a:srgbClr val="DFDF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063625" y="5006975"/>
            <a:ext cx="351790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25" b="1">
                <a:solidFill>
                  <a:srgbClr val="41A5F5"/>
                </a:solidFill>
                <a:latin typeface="Trebuchet MS"/>
                <a:cs typeface="Trebuchet MS"/>
              </a:rPr>
              <a:t>02</a:t>
            </a:r>
            <a:endParaRPr sz="21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711325" y="5083175"/>
            <a:ext cx="1409065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b="1">
                <a:solidFill>
                  <a:srgbClr val="414141"/>
                </a:solidFill>
                <a:latin typeface="Trebuchet MS"/>
                <a:cs typeface="Trebuchet MS"/>
              </a:rPr>
              <a:t>Explore</a:t>
            </a:r>
            <a:r>
              <a:rPr dirty="0" sz="1350" spc="10" b="1">
                <a:solidFill>
                  <a:srgbClr val="414141"/>
                </a:solidFill>
                <a:latin typeface="Trebuchet MS"/>
                <a:cs typeface="Trebuchet MS"/>
              </a:rPr>
              <a:t> </a:t>
            </a:r>
            <a:r>
              <a:rPr dirty="0" sz="1350" spc="120" b="1">
                <a:solidFill>
                  <a:srgbClr val="414141"/>
                </a:solidFill>
                <a:latin typeface="Trebuchet MS"/>
                <a:cs typeface="Trebuchet MS"/>
              </a:rPr>
              <a:t>&amp;</a:t>
            </a:r>
            <a:r>
              <a:rPr dirty="0" sz="1350" spc="10" b="1">
                <a:solidFill>
                  <a:srgbClr val="414141"/>
                </a:solidFill>
                <a:latin typeface="Trebuchet MS"/>
                <a:cs typeface="Trebuchet MS"/>
              </a:rPr>
              <a:t> </a:t>
            </a:r>
            <a:r>
              <a:rPr dirty="0" sz="1350" spc="40" b="1">
                <a:solidFill>
                  <a:srgbClr val="414141"/>
                </a:solidFill>
                <a:latin typeface="Trebuchet MS"/>
                <a:cs typeface="Trebuchet MS"/>
              </a:rPr>
              <a:t>Verify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711325" y="5490560"/>
            <a:ext cx="2694940" cy="4203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0500"/>
              </a:lnSpc>
              <a:spcBef>
                <a:spcPts val="95"/>
              </a:spcBef>
            </a:pPr>
            <a:r>
              <a:rPr dirty="0" sz="1150" spc="-40">
                <a:solidFill>
                  <a:srgbClr val="747474"/>
                </a:solidFill>
                <a:latin typeface="Microsoft Sans Serif"/>
                <a:cs typeface="Microsoft Sans Serif"/>
              </a:rPr>
              <a:t>Open</a:t>
            </a:r>
            <a:r>
              <a:rPr dirty="0" sz="1150" spc="-25">
                <a:solidFill>
                  <a:srgbClr val="747474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747474"/>
                </a:solidFill>
                <a:latin typeface="Microsoft Sans Serif"/>
                <a:cs typeface="Microsoft Sans Serif"/>
              </a:rPr>
              <a:t>a</a:t>
            </a:r>
            <a:r>
              <a:rPr dirty="0" sz="1150" spc="-20">
                <a:solidFill>
                  <a:srgbClr val="747474"/>
                </a:solidFill>
                <a:latin typeface="Microsoft Sans Serif"/>
                <a:cs typeface="Microsoft Sans Serif"/>
              </a:rPr>
              <a:t> requirement </a:t>
            </a:r>
            <a:r>
              <a:rPr dirty="0" sz="1050">
                <a:solidFill>
                  <a:srgbClr val="747474"/>
                </a:solidFill>
                <a:latin typeface="Arial"/>
                <a:cs typeface="Arial"/>
              </a:rPr>
              <a:t>→</a:t>
            </a:r>
            <a:r>
              <a:rPr dirty="0" sz="1050" spc="-5">
                <a:solidFill>
                  <a:srgbClr val="747474"/>
                </a:solidFill>
                <a:latin typeface="Arial"/>
                <a:cs typeface="Arial"/>
              </a:rPr>
              <a:t> </a:t>
            </a:r>
            <a:r>
              <a:rPr dirty="0" sz="1150" spc="-60">
                <a:solidFill>
                  <a:srgbClr val="747474"/>
                </a:solidFill>
                <a:latin typeface="Microsoft Sans Serif"/>
                <a:cs typeface="Microsoft Sans Serif"/>
              </a:rPr>
              <a:t>See</a:t>
            </a:r>
            <a:r>
              <a:rPr dirty="0" sz="1150" spc="-15">
                <a:solidFill>
                  <a:srgbClr val="747474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10">
                <a:solidFill>
                  <a:srgbClr val="747474"/>
                </a:solidFill>
                <a:latin typeface="Microsoft Sans Serif"/>
                <a:cs typeface="Microsoft Sans Serif"/>
              </a:rPr>
              <a:t>exact</a:t>
            </a:r>
            <a:r>
              <a:rPr dirty="0" sz="1150" spc="-20">
                <a:solidFill>
                  <a:srgbClr val="747474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10">
                <a:solidFill>
                  <a:srgbClr val="747474"/>
                </a:solidFill>
                <a:latin typeface="Microsoft Sans Serif"/>
                <a:cs typeface="Microsoft Sans Serif"/>
              </a:rPr>
              <a:t>verifying </a:t>
            </a:r>
            <a:r>
              <a:rPr dirty="0" sz="1150">
                <a:solidFill>
                  <a:srgbClr val="747474"/>
                </a:solidFill>
                <a:latin typeface="Microsoft Sans Serif"/>
                <a:cs typeface="Microsoft Sans Serif"/>
              </a:rPr>
              <a:t>tests</a:t>
            </a:r>
            <a:r>
              <a:rPr dirty="0" sz="1150" spc="-55">
                <a:solidFill>
                  <a:srgbClr val="747474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-120">
                <a:solidFill>
                  <a:srgbClr val="747474"/>
                </a:solidFill>
                <a:latin typeface="Garamond"/>
                <a:cs typeface="Garamond"/>
              </a:rPr>
              <a:t>+</a:t>
            </a:r>
            <a:r>
              <a:rPr dirty="0" sz="1200" spc="-5">
                <a:solidFill>
                  <a:srgbClr val="747474"/>
                </a:solidFill>
                <a:latin typeface="Garamond"/>
                <a:cs typeface="Garamond"/>
              </a:rPr>
              <a:t> </a:t>
            </a:r>
            <a:r>
              <a:rPr dirty="0" sz="1150" spc="-10">
                <a:solidFill>
                  <a:srgbClr val="747474"/>
                </a:solidFill>
                <a:latin typeface="Microsoft Sans Serif"/>
                <a:cs typeface="Microsoft Sans Serif"/>
              </a:rPr>
              <a:t>latest</a:t>
            </a:r>
            <a:r>
              <a:rPr dirty="0" sz="1150" spc="-30">
                <a:solidFill>
                  <a:srgbClr val="747474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55">
                <a:solidFill>
                  <a:srgbClr val="747474"/>
                </a:solidFill>
                <a:latin typeface="Microsoft Sans Serif"/>
                <a:cs typeface="Microsoft Sans Serif"/>
              </a:rPr>
              <a:t>CI</a:t>
            </a:r>
            <a:r>
              <a:rPr dirty="0" sz="1150" spc="-20">
                <a:solidFill>
                  <a:srgbClr val="747474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10">
                <a:solidFill>
                  <a:srgbClr val="747474"/>
                </a:solidFill>
                <a:latin typeface="Microsoft Sans Serif"/>
                <a:cs typeface="Microsoft Sans Serif"/>
              </a:rPr>
              <a:t>status</a:t>
            </a:r>
            <a:endParaRPr sz="1150">
              <a:latin typeface="Microsoft Sans Serif"/>
              <a:cs typeface="Microsoft Sans Serif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5340095" y="0"/>
            <a:ext cx="6852284" cy="6858000"/>
            <a:chOff x="5340095" y="0"/>
            <a:chExt cx="6852284" cy="6858000"/>
          </a:xfrm>
        </p:grpSpPr>
        <p:sp>
          <p:nvSpPr>
            <p:cNvPr id="15" name="object 15"/>
            <p:cNvSpPr/>
            <p:nvPr/>
          </p:nvSpPr>
          <p:spPr>
            <a:xfrm>
              <a:off x="5486399" y="0"/>
              <a:ext cx="6705600" cy="6858000"/>
            </a:xfrm>
            <a:custGeom>
              <a:avLst/>
              <a:gdLst/>
              <a:ahLst/>
              <a:cxnLst/>
              <a:rect l="l" t="t" r="r" b="b"/>
              <a:pathLst>
                <a:path w="6705600" h="6858000">
                  <a:moveTo>
                    <a:pt x="6705599" y="6857999"/>
                  </a:moveTo>
                  <a:lnTo>
                    <a:pt x="0" y="6857999"/>
                  </a:lnTo>
                  <a:lnTo>
                    <a:pt x="0" y="0"/>
                  </a:lnTo>
                  <a:lnTo>
                    <a:pt x="6705599" y="0"/>
                  </a:lnTo>
                  <a:lnTo>
                    <a:pt x="6705599" y="6857999"/>
                  </a:lnTo>
                  <a:close/>
                </a:path>
              </a:pathLst>
            </a:custGeom>
            <a:solidFill>
              <a:srgbClr val="F0F6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5340095" y="938783"/>
              <a:ext cx="6852284" cy="4581525"/>
            </a:xfrm>
            <a:custGeom>
              <a:avLst/>
              <a:gdLst/>
              <a:ahLst/>
              <a:cxnLst/>
              <a:rect l="l" t="t" r="r" b="b"/>
              <a:pathLst>
                <a:path w="6852284" h="4581525">
                  <a:moveTo>
                    <a:pt x="6851903" y="4581143"/>
                  </a:moveTo>
                  <a:lnTo>
                    <a:pt x="0" y="4581143"/>
                  </a:lnTo>
                  <a:lnTo>
                    <a:pt x="0" y="0"/>
                  </a:lnTo>
                  <a:lnTo>
                    <a:pt x="6851903" y="0"/>
                  </a:lnTo>
                  <a:lnTo>
                    <a:pt x="6851903" y="480440"/>
                  </a:lnTo>
                  <a:lnTo>
                    <a:pt x="784478" y="480440"/>
                  </a:lnTo>
                  <a:lnTo>
                    <a:pt x="773219" y="480984"/>
                  </a:lnTo>
                  <a:lnTo>
                    <a:pt x="730542" y="493952"/>
                  </a:lnTo>
                  <a:lnTo>
                    <a:pt x="696078" y="522264"/>
                  </a:lnTo>
                  <a:lnTo>
                    <a:pt x="675072" y="561610"/>
                  </a:lnTo>
                  <a:lnTo>
                    <a:pt x="670178" y="594740"/>
                  </a:lnTo>
                  <a:lnTo>
                    <a:pt x="670178" y="3604640"/>
                  </a:lnTo>
                  <a:lnTo>
                    <a:pt x="678878" y="3648380"/>
                  </a:lnTo>
                  <a:lnTo>
                    <a:pt x="703656" y="3685462"/>
                  </a:lnTo>
                  <a:lnTo>
                    <a:pt x="740737" y="3710239"/>
                  </a:lnTo>
                  <a:lnTo>
                    <a:pt x="784478" y="3718940"/>
                  </a:lnTo>
                  <a:lnTo>
                    <a:pt x="6851903" y="3718940"/>
                  </a:lnTo>
                  <a:lnTo>
                    <a:pt x="6851903" y="4581143"/>
                  </a:lnTo>
                  <a:close/>
                </a:path>
                <a:path w="6852284" h="4581525">
                  <a:moveTo>
                    <a:pt x="6851903" y="3718940"/>
                  </a:moveTo>
                  <a:lnTo>
                    <a:pt x="6213728" y="3718940"/>
                  </a:lnTo>
                  <a:lnTo>
                    <a:pt x="6224988" y="3718396"/>
                  </a:lnTo>
                  <a:lnTo>
                    <a:pt x="6236031" y="3716765"/>
                  </a:lnTo>
                  <a:lnTo>
                    <a:pt x="6277240" y="3699695"/>
                  </a:lnTo>
                  <a:lnTo>
                    <a:pt x="6308781" y="3668153"/>
                  </a:lnTo>
                  <a:lnTo>
                    <a:pt x="6325852" y="3626943"/>
                  </a:lnTo>
                  <a:lnTo>
                    <a:pt x="6328028" y="3604640"/>
                  </a:lnTo>
                  <a:lnTo>
                    <a:pt x="6328028" y="594740"/>
                  </a:lnTo>
                  <a:lnTo>
                    <a:pt x="6319326" y="551000"/>
                  </a:lnTo>
                  <a:lnTo>
                    <a:pt x="6294549" y="513918"/>
                  </a:lnTo>
                  <a:lnTo>
                    <a:pt x="6257467" y="489141"/>
                  </a:lnTo>
                  <a:lnTo>
                    <a:pt x="6213728" y="480440"/>
                  </a:lnTo>
                  <a:lnTo>
                    <a:pt x="6851903" y="480440"/>
                  </a:lnTo>
                  <a:lnTo>
                    <a:pt x="6851903" y="3718940"/>
                  </a:lnTo>
                  <a:close/>
                </a:path>
              </a:pathLst>
            </a:custGeom>
            <a:solidFill>
              <a:srgbClr val="41A5F5">
                <a:alpha val="148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6034086" y="1443037"/>
              <a:ext cx="5610225" cy="3190875"/>
            </a:xfrm>
            <a:custGeom>
              <a:avLst/>
              <a:gdLst/>
              <a:ahLst/>
              <a:cxnLst/>
              <a:rect l="l" t="t" r="r" b="b"/>
              <a:pathLst>
                <a:path w="5610225" h="3190875">
                  <a:moveTo>
                    <a:pt x="0" y="3100387"/>
                  </a:moveTo>
                  <a:lnTo>
                    <a:pt x="0" y="90487"/>
                  </a:lnTo>
                  <a:lnTo>
                    <a:pt x="0" y="84545"/>
                  </a:lnTo>
                  <a:lnTo>
                    <a:pt x="579" y="78661"/>
                  </a:lnTo>
                  <a:lnTo>
                    <a:pt x="1738" y="72834"/>
                  </a:lnTo>
                  <a:lnTo>
                    <a:pt x="2898" y="67006"/>
                  </a:lnTo>
                  <a:lnTo>
                    <a:pt x="4614" y="61348"/>
                  </a:lnTo>
                  <a:lnTo>
                    <a:pt x="26503" y="26503"/>
                  </a:lnTo>
                  <a:lnTo>
                    <a:pt x="30704" y="22301"/>
                  </a:lnTo>
                  <a:lnTo>
                    <a:pt x="35275" y="18550"/>
                  </a:lnTo>
                  <a:lnTo>
                    <a:pt x="40215" y="15249"/>
                  </a:lnTo>
                  <a:lnTo>
                    <a:pt x="45155" y="11948"/>
                  </a:lnTo>
                  <a:lnTo>
                    <a:pt x="50370" y="9161"/>
                  </a:lnTo>
                  <a:lnTo>
                    <a:pt x="55859" y="6887"/>
                  </a:lnTo>
                  <a:lnTo>
                    <a:pt x="61348" y="4614"/>
                  </a:lnTo>
                  <a:lnTo>
                    <a:pt x="67006" y="2897"/>
                  </a:lnTo>
                  <a:lnTo>
                    <a:pt x="72834" y="1738"/>
                  </a:lnTo>
                  <a:lnTo>
                    <a:pt x="78661" y="579"/>
                  </a:lnTo>
                  <a:lnTo>
                    <a:pt x="84545" y="0"/>
                  </a:lnTo>
                  <a:lnTo>
                    <a:pt x="90488" y="0"/>
                  </a:lnTo>
                  <a:lnTo>
                    <a:pt x="5519737" y="0"/>
                  </a:lnTo>
                  <a:lnTo>
                    <a:pt x="5525679" y="0"/>
                  </a:lnTo>
                  <a:lnTo>
                    <a:pt x="5531562" y="579"/>
                  </a:lnTo>
                  <a:lnTo>
                    <a:pt x="5537388" y="1738"/>
                  </a:lnTo>
                  <a:lnTo>
                    <a:pt x="5543216" y="2897"/>
                  </a:lnTo>
                  <a:lnTo>
                    <a:pt x="5548874" y="4614"/>
                  </a:lnTo>
                  <a:lnTo>
                    <a:pt x="5554363" y="6887"/>
                  </a:lnTo>
                  <a:lnTo>
                    <a:pt x="5559852" y="9161"/>
                  </a:lnTo>
                  <a:lnTo>
                    <a:pt x="5583720" y="26503"/>
                  </a:lnTo>
                  <a:lnTo>
                    <a:pt x="5587921" y="30704"/>
                  </a:lnTo>
                  <a:lnTo>
                    <a:pt x="5591672" y="35274"/>
                  </a:lnTo>
                  <a:lnTo>
                    <a:pt x="5594973" y="40215"/>
                  </a:lnTo>
                  <a:lnTo>
                    <a:pt x="5598274" y="45155"/>
                  </a:lnTo>
                  <a:lnTo>
                    <a:pt x="5601061" y="50370"/>
                  </a:lnTo>
                  <a:lnTo>
                    <a:pt x="5603334" y="55859"/>
                  </a:lnTo>
                  <a:lnTo>
                    <a:pt x="5605609" y="61348"/>
                  </a:lnTo>
                  <a:lnTo>
                    <a:pt x="5610225" y="90487"/>
                  </a:lnTo>
                  <a:lnTo>
                    <a:pt x="5610225" y="3100387"/>
                  </a:lnTo>
                  <a:lnTo>
                    <a:pt x="5610223" y="3106328"/>
                  </a:lnTo>
                  <a:lnTo>
                    <a:pt x="5609643" y="3112213"/>
                  </a:lnTo>
                  <a:lnTo>
                    <a:pt x="5608484" y="3118040"/>
                  </a:lnTo>
                  <a:lnTo>
                    <a:pt x="5607325" y="3123867"/>
                  </a:lnTo>
                  <a:lnTo>
                    <a:pt x="5605609" y="3129525"/>
                  </a:lnTo>
                  <a:lnTo>
                    <a:pt x="5603334" y="3135015"/>
                  </a:lnTo>
                  <a:lnTo>
                    <a:pt x="5601061" y="3140504"/>
                  </a:lnTo>
                  <a:lnTo>
                    <a:pt x="5598274" y="3145719"/>
                  </a:lnTo>
                  <a:lnTo>
                    <a:pt x="5594973" y="3150659"/>
                  </a:lnTo>
                  <a:lnTo>
                    <a:pt x="5591672" y="3155599"/>
                  </a:lnTo>
                  <a:lnTo>
                    <a:pt x="5559852" y="3181712"/>
                  </a:lnTo>
                  <a:lnTo>
                    <a:pt x="5554363" y="3183986"/>
                  </a:lnTo>
                  <a:lnTo>
                    <a:pt x="5548874" y="3186260"/>
                  </a:lnTo>
                  <a:lnTo>
                    <a:pt x="5543216" y="3187976"/>
                  </a:lnTo>
                  <a:lnTo>
                    <a:pt x="5537388" y="3189135"/>
                  </a:lnTo>
                  <a:lnTo>
                    <a:pt x="5531562" y="3190295"/>
                  </a:lnTo>
                  <a:lnTo>
                    <a:pt x="5525679" y="3190874"/>
                  </a:lnTo>
                  <a:lnTo>
                    <a:pt x="5519737" y="3190874"/>
                  </a:lnTo>
                  <a:lnTo>
                    <a:pt x="90488" y="3190874"/>
                  </a:lnTo>
                  <a:lnTo>
                    <a:pt x="84545" y="3190874"/>
                  </a:lnTo>
                  <a:lnTo>
                    <a:pt x="78661" y="3190295"/>
                  </a:lnTo>
                  <a:lnTo>
                    <a:pt x="72834" y="3189135"/>
                  </a:lnTo>
                  <a:lnTo>
                    <a:pt x="67006" y="3187976"/>
                  </a:lnTo>
                  <a:lnTo>
                    <a:pt x="40215" y="3175624"/>
                  </a:lnTo>
                  <a:lnTo>
                    <a:pt x="35275" y="3172323"/>
                  </a:lnTo>
                  <a:lnTo>
                    <a:pt x="30704" y="3168572"/>
                  </a:lnTo>
                  <a:lnTo>
                    <a:pt x="26503" y="3164371"/>
                  </a:lnTo>
                  <a:lnTo>
                    <a:pt x="22302" y="3160169"/>
                  </a:lnTo>
                  <a:lnTo>
                    <a:pt x="18550" y="3155599"/>
                  </a:lnTo>
                  <a:lnTo>
                    <a:pt x="15249" y="3150659"/>
                  </a:lnTo>
                  <a:lnTo>
                    <a:pt x="11948" y="3145719"/>
                  </a:lnTo>
                  <a:lnTo>
                    <a:pt x="1738" y="3118039"/>
                  </a:lnTo>
                  <a:lnTo>
                    <a:pt x="579" y="3112213"/>
                  </a:lnTo>
                  <a:lnTo>
                    <a:pt x="0" y="3106328"/>
                  </a:lnTo>
                  <a:lnTo>
                    <a:pt x="0" y="3100387"/>
                  </a:lnTo>
                  <a:close/>
                </a:path>
              </a:pathLst>
            </a:custGeom>
            <a:ln w="476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57899" y="1466850"/>
              <a:ext cx="5562599" cy="3143249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5498591" y="4639055"/>
              <a:ext cx="6681470" cy="1207135"/>
            </a:xfrm>
            <a:custGeom>
              <a:avLst/>
              <a:gdLst/>
              <a:ahLst/>
              <a:cxnLst/>
              <a:rect l="l" t="t" r="r" b="b"/>
              <a:pathLst>
                <a:path w="6681470" h="1207135">
                  <a:moveTo>
                    <a:pt x="6681215" y="1207007"/>
                  </a:moveTo>
                  <a:lnTo>
                    <a:pt x="0" y="1207007"/>
                  </a:lnTo>
                  <a:lnTo>
                    <a:pt x="0" y="0"/>
                  </a:lnTo>
                  <a:lnTo>
                    <a:pt x="6681215" y="0"/>
                  </a:lnTo>
                  <a:lnTo>
                    <a:pt x="6681215" y="266318"/>
                  </a:lnTo>
                  <a:lnTo>
                    <a:pt x="425957" y="266318"/>
                  </a:lnTo>
                  <a:lnTo>
                    <a:pt x="417512" y="266726"/>
                  </a:lnTo>
                  <a:lnTo>
                    <a:pt x="378321" y="280752"/>
                  </a:lnTo>
                  <a:lnTo>
                    <a:pt x="350365" y="311592"/>
                  </a:lnTo>
                  <a:lnTo>
                    <a:pt x="340232" y="352043"/>
                  </a:lnTo>
                  <a:lnTo>
                    <a:pt x="340232" y="704468"/>
                  </a:lnTo>
                  <a:lnTo>
                    <a:pt x="350365" y="744919"/>
                  </a:lnTo>
                  <a:lnTo>
                    <a:pt x="378321" y="775759"/>
                  </a:lnTo>
                  <a:lnTo>
                    <a:pt x="417512" y="789785"/>
                  </a:lnTo>
                  <a:lnTo>
                    <a:pt x="425957" y="790193"/>
                  </a:lnTo>
                  <a:lnTo>
                    <a:pt x="6681215" y="790193"/>
                  </a:lnTo>
                  <a:lnTo>
                    <a:pt x="6681215" y="1207007"/>
                  </a:lnTo>
                  <a:close/>
                </a:path>
                <a:path w="6681470" h="1207135">
                  <a:moveTo>
                    <a:pt x="6681215" y="790193"/>
                  </a:moveTo>
                  <a:lnTo>
                    <a:pt x="6255257" y="790193"/>
                  </a:lnTo>
                  <a:lnTo>
                    <a:pt x="6263702" y="789785"/>
                  </a:lnTo>
                  <a:lnTo>
                    <a:pt x="6271984" y="788562"/>
                  </a:lnTo>
                  <a:lnTo>
                    <a:pt x="6309613" y="770768"/>
                  </a:lnTo>
                  <a:lnTo>
                    <a:pt x="6334455" y="737273"/>
                  </a:lnTo>
                  <a:lnTo>
                    <a:pt x="6340982" y="704468"/>
                  </a:lnTo>
                  <a:lnTo>
                    <a:pt x="6340982" y="352043"/>
                  </a:lnTo>
                  <a:lnTo>
                    <a:pt x="6330847" y="311592"/>
                  </a:lnTo>
                  <a:lnTo>
                    <a:pt x="6302892" y="280752"/>
                  </a:lnTo>
                  <a:lnTo>
                    <a:pt x="6263702" y="266726"/>
                  </a:lnTo>
                  <a:lnTo>
                    <a:pt x="6255257" y="266318"/>
                  </a:lnTo>
                  <a:lnTo>
                    <a:pt x="6681215" y="266318"/>
                  </a:lnTo>
                  <a:lnTo>
                    <a:pt x="6681215" y="790193"/>
                  </a:lnTo>
                  <a:close/>
                </a:path>
              </a:pathLst>
            </a:custGeom>
            <a:solidFill>
              <a:srgbClr val="000000">
                <a:alpha val="587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5848349" y="4895849"/>
              <a:ext cx="6000750" cy="542925"/>
            </a:xfrm>
            <a:custGeom>
              <a:avLst/>
              <a:gdLst/>
              <a:ahLst/>
              <a:cxnLst/>
              <a:rect l="l" t="t" r="r" b="b"/>
              <a:pathLst>
                <a:path w="6000750" h="542925">
                  <a:moveTo>
                    <a:pt x="5911752" y="542924"/>
                  </a:moveTo>
                  <a:lnTo>
                    <a:pt x="71196" y="542924"/>
                  </a:lnTo>
                  <a:lnTo>
                    <a:pt x="66240" y="542314"/>
                  </a:lnTo>
                  <a:lnTo>
                    <a:pt x="29705" y="523397"/>
                  </a:lnTo>
                  <a:lnTo>
                    <a:pt x="7714" y="489902"/>
                  </a:lnTo>
                  <a:lnTo>
                    <a:pt x="0" y="453928"/>
                  </a:lnTo>
                  <a:lnTo>
                    <a:pt x="0" y="447674"/>
                  </a:lnTo>
                  <a:lnTo>
                    <a:pt x="0" y="88995"/>
                  </a:lnTo>
                  <a:lnTo>
                    <a:pt x="10062" y="47531"/>
                  </a:lnTo>
                  <a:lnTo>
                    <a:pt x="38025" y="12577"/>
                  </a:lnTo>
                  <a:lnTo>
                    <a:pt x="71196" y="0"/>
                  </a:lnTo>
                  <a:lnTo>
                    <a:pt x="5911752" y="0"/>
                  </a:lnTo>
                  <a:lnTo>
                    <a:pt x="5953216" y="12577"/>
                  </a:lnTo>
                  <a:lnTo>
                    <a:pt x="5988171" y="47531"/>
                  </a:lnTo>
                  <a:lnTo>
                    <a:pt x="6000748" y="88995"/>
                  </a:lnTo>
                  <a:lnTo>
                    <a:pt x="6000748" y="453928"/>
                  </a:lnTo>
                  <a:lnTo>
                    <a:pt x="5988171" y="495391"/>
                  </a:lnTo>
                  <a:lnTo>
                    <a:pt x="5953216" y="530346"/>
                  </a:lnTo>
                  <a:lnTo>
                    <a:pt x="5917946" y="542314"/>
                  </a:lnTo>
                  <a:lnTo>
                    <a:pt x="5911752" y="5429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5829299" y="4896277"/>
              <a:ext cx="86995" cy="542290"/>
            </a:xfrm>
            <a:custGeom>
              <a:avLst/>
              <a:gdLst/>
              <a:ahLst/>
              <a:cxnLst/>
              <a:rect l="l" t="t" r="r" b="b"/>
              <a:pathLst>
                <a:path w="86995" h="542289">
                  <a:moveTo>
                    <a:pt x="86379" y="542067"/>
                  </a:moveTo>
                  <a:lnTo>
                    <a:pt x="42321" y="526458"/>
                  </a:lnTo>
                  <a:lnTo>
                    <a:pt x="11259" y="492191"/>
                  </a:lnTo>
                  <a:lnTo>
                    <a:pt x="0" y="447246"/>
                  </a:lnTo>
                  <a:lnTo>
                    <a:pt x="0" y="94821"/>
                  </a:lnTo>
                  <a:lnTo>
                    <a:pt x="11259" y="49875"/>
                  </a:lnTo>
                  <a:lnTo>
                    <a:pt x="42321" y="15608"/>
                  </a:lnTo>
                  <a:lnTo>
                    <a:pt x="86378" y="0"/>
                  </a:lnTo>
                  <a:lnTo>
                    <a:pt x="80380" y="1988"/>
                  </a:lnTo>
                  <a:lnTo>
                    <a:pt x="73379" y="6821"/>
                  </a:lnTo>
                  <a:lnTo>
                    <a:pt x="47722" y="41893"/>
                  </a:lnTo>
                  <a:lnTo>
                    <a:pt x="38372" y="85438"/>
                  </a:lnTo>
                  <a:lnTo>
                    <a:pt x="38100" y="94821"/>
                  </a:lnTo>
                  <a:lnTo>
                    <a:pt x="38100" y="447246"/>
                  </a:lnTo>
                  <a:lnTo>
                    <a:pt x="44855" y="492191"/>
                  </a:lnTo>
                  <a:lnTo>
                    <a:pt x="63493" y="526458"/>
                  </a:lnTo>
                  <a:lnTo>
                    <a:pt x="80380" y="540078"/>
                  </a:lnTo>
                  <a:lnTo>
                    <a:pt x="86379" y="542067"/>
                  </a:lnTo>
                  <a:close/>
                </a:path>
              </a:pathLst>
            </a:custGeom>
            <a:solidFill>
              <a:srgbClr val="4DB5A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6064249" y="5052814"/>
            <a:ext cx="4523740" cy="21082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150" spc="-70" b="1">
                <a:solidFill>
                  <a:srgbClr val="41A5F5"/>
                </a:solidFill>
                <a:latin typeface="Arial"/>
                <a:cs typeface="Arial"/>
              </a:rPr>
              <a:t>Real</a:t>
            </a:r>
            <a:r>
              <a:rPr dirty="0" sz="1200" spc="-70" b="1">
                <a:solidFill>
                  <a:srgbClr val="41A5F5"/>
                </a:solidFill>
                <a:latin typeface="Berlin Sans FB"/>
                <a:cs typeface="Berlin Sans FB"/>
              </a:rPr>
              <a:t>-</a:t>
            </a:r>
            <a:r>
              <a:rPr dirty="0" sz="1150" spc="-35" b="1">
                <a:solidFill>
                  <a:srgbClr val="41A5F5"/>
                </a:solidFill>
                <a:latin typeface="Arial"/>
                <a:cs typeface="Arial"/>
              </a:rPr>
              <a:t>time</a:t>
            </a:r>
            <a:r>
              <a:rPr dirty="0" sz="1150" spc="-75" b="1">
                <a:solidFill>
                  <a:srgbClr val="41A5F5"/>
                </a:solidFill>
                <a:latin typeface="Arial"/>
                <a:cs typeface="Arial"/>
              </a:rPr>
              <a:t> </a:t>
            </a:r>
            <a:r>
              <a:rPr dirty="0" sz="1150" spc="-30" b="1">
                <a:solidFill>
                  <a:srgbClr val="41A5F5"/>
                </a:solidFill>
                <a:latin typeface="Arial"/>
                <a:cs typeface="Arial"/>
              </a:rPr>
              <a:t>visibility</a:t>
            </a:r>
            <a:r>
              <a:rPr dirty="0" sz="1150" spc="-35" b="1">
                <a:solidFill>
                  <a:srgbClr val="41A5F5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616161"/>
                </a:solidFill>
                <a:latin typeface="Microsoft Sans Serif"/>
                <a:cs typeface="Microsoft Sans Serif"/>
              </a:rPr>
              <a:t>into</a:t>
            </a:r>
            <a:r>
              <a:rPr dirty="0" sz="1150" spc="-20">
                <a:solidFill>
                  <a:srgbClr val="616161"/>
                </a:solidFill>
                <a:latin typeface="Microsoft Sans Serif"/>
                <a:cs typeface="Microsoft Sans Serif"/>
              </a:rPr>
              <a:t> requirement</a:t>
            </a:r>
            <a:r>
              <a:rPr dirty="0" sz="1150" spc="-15">
                <a:solidFill>
                  <a:srgbClr val="616161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20">
                <a:solidFill>
                  <a:srgbClr val="616161"/>
                </a:solidFill>
                <a:latin typeface="Microsoft Sans Serif"/>
                <a:cs typeface="Microsoft Sans Serif"/>
              </a:rPr>
              <a:t>coverage and </a:t>
            </a:r>
            <a:r>
              <a:rPr dirty="0" sz="1150" spc="-55">
                <a:solidFill>
                  <a:srgbClr val="616161"/>
                </a:solidFill>
                <a:latin typeface="Microsoft Sans Serif"/>
                <a:cs typeface="Microsoft Sans Serif"/>
              </a:rPr>
              <a:t>CI</a:t>
            </a:r>
            <a:r>
              <a:rPr dirty="0" sz="1150" spc="-20">
                <a:solidFill>
                  <a:srgbClr val="616161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10">
                <a:solidFill>
                  <a:srgbClr val="616161"/>
                </a:solidFill>
                <a:latin typeface="Microsoft Sans Serif"/>
                <a:cs typeface="Microsoft Sans Serif"/>
              </a:rPr>
              <a:t>status</a:t>
            </a:r>
            <a:r>
              <a:rPr dirty="0" sz="1150" spc="-15">
                <a:solidFill>
                  <a:srgbClr val="616161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616161"/>
                </a:solidFill>
                <a:latin typeface="Microsoft Sans Serif"/>
                <a:cs typeface="Microsoft Sans Serif"/>
              </a:rPr>
              <a:t>at</a:t>
            </a:r>
            <a:r>
              <a:rPr dirty="0" sz="1150" spc="-20">
                <a:solidFill>
                  <a:srgbClr val="616161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616161"/>
                </a:solidFill>
                <a:latin typeface="Microsoft Sans Serif"/>
                <a:cs typeface="Microsoft Sans Serif"/>
              </a:rPr>
              <a:t>a</a:t>
            </a:r>
            <a:r>
              <a:rPr dirty="0" sz="1150" spc="-20">
                <a:solidFill>
                  <a:srgbClr val="616161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10">
                <a:solidFill>
                  <a:srgbClr val="616161"/>
                </a:solidFill>
                <a:latin typeface="Microsoft Sans Serif"/>
                <a:cs typeface="Microsoft Sans Serif"/>
              </a:rPr>
              <a:t>glance</a:t>
            </a:r>
            <a:endParaRPr sz="1150">
              <a:latin typeface="Microsoft Sans Serif"/>
              <a:cs typeface="Microsoft Sans Serif"/>
            </a:endParaRPr>
          </a:p>
        </p:txBody>
      </p:sp>
      <p:pic>
        <p:nvPicPr>
          <p:cNvPr id="23" name="object 2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706099" y="6429374"/>
            <a:ext cx="114300" cy="114300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10901014" y="6391909"/>
            <a:ext cx="913130" cy="185420"/>
          </a:xfrm>
          <a:prstGeom prst="rect">
            <a:avLst/>
          </a:prstGeom>
        </p:spPr>
        <p:txBody>
          <a:bodyPr wrap="square" lIns="0" tIns="184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z="900" spc="114" b="1">
                <a:solidFill>
                  <a:srgbClr val="747474"/>
                </a:solidFill>
                <a:latin typeface="Trebuchet MS"/>
                <a:cs typeface="Trebuchet MS"/>
              </a:rPr>
              <a:t>AUTOMASPEC</a:t>
            </a:r>
            <a:endParaRPr sz="9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999" y="771524"/>
            <a:ext cx="57150" cy="666750"/>
          </a:xfrm>
          <a:custGeom>
            <a:avLst/>
            <a:gdLst/>
            <a:ahLst/>
            <a:cxnLst/>
            <a:rect l="l" t="t" r="r" b="b"/>
            <a:pathLst>
              <a:path w="57150" h="666750">
                <a:moveTo>
                  <a:pt x="32364" y="666749"/>
                </a:moveTo>
                <a:lnTo>
                  <a:pt x="24785" y="666749"/>
                </a:lnTo>
                <a:lnTo>
                  <a:pt x="21140" y="666024"/>
                </a:lnTo>
                <a:lnTo>
                  <a:pt x="0" y="641964"/>
                </a:lnTo>
                <a:lnTo>
                  <a:pt x="0" y="63817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49" y="24785"/>
                </a:lnTo>
                <a:lnTo>
                  <a:pt x="57149" y="641964"/>
                </a:lnTo>
                <a:lnTo>
                  <a:pt x="36009" y="666024"/>
                </a:lnTo>
                <a:lnTo>
                  <a:pt x="32364" y="666749"/>
                </a:lnTo>
                <a:close/>
              </a:path>
            </a:pathLst>
          </a:custGeom>
          <a:solidFill>
            <a:srgbClr val="41A5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044575" y="949325"/>
            <a:ext cx="2335530" cy="2311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250">
                <a:solidFill>
                  <a:srgbClr val="4DB5AB"/>
                </a:solidFill>
                <a:latin typeface="Arial Narrow"/>
                <a:cs typeface="Arial Narrow"/>
              </a:rPr>
              <a:t>TECHNICAL</a:t>
            </a:r>
            <a:r>
              <a:rPr dirty="0" sz="1350" spc="320">
                <a:solidFill>
                  <a:srgbClr val="4DB5AB"/>
                </a:solidFill>
                <a:latin typeface="Arial Narrow"/>
                <a:cs typeface="Arial Narrow"/>
              </a:rPr>
              <a:t> </a:t>
            </a:r>
            <a:r>
              <a:rPr dirty="0" sz="1350" spc="204">
                <a:solidFill>
                  <a:srgbClr val="4DB5AB"/>
                </a:solidFill>
                <a:latin typeface="Arial Narrow"/>
                <a:cs typeface="Arial Narrow"/>
              </a:rPr>
              <a:t>CHALLENGE</a:t>
            </a:r>
            <a:endParaRPr sz="135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44575" y="1454150"/>
            <a:ext cx="2952115" cy="5054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150" b="1">
                <a:solidFill>
                  <a:srgbClr val="202020"/>
                </a:solidFill>
                <a:latin typeface="Trebuchet MS"/>
                <a:cs typeface="Trebuchet MS"/>
              </a:rPr>
              <a:t>Tree</a:t>
            </a:r>
            <a:r>
              <a:rPr dirty="0" sz="3150" spc="-125" b="1">
                <a:solidFill>
                  <a:srgbClr val="202020"/>
                </a:solidFill>
                <a:latin typeface="Trebuchet MS"/>
                <a:cs typeface="Trebuchet MS"/>
              </a:rPr>
              <a:t> </a:t>
            </a:r>
            <a:r>
              <a:rPr dirty="0" sz="3150" spc="125" b="1">
                <a:solidFill>
                  <a:srgbClr val="202020"/>
                </a:solidFill>
                <a:latin typeface="Trebuchet MS"/>
                <a:cs typeface="Trebuchet MS"/>
              </a:rPr>
              <a:t>Structure</a:t>
            </a:r>
            <a:endParaRPr sz="315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49299" y="2997200"/>
            <a:ext cx="454659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b="1">
                <a:solidFill>
                  <a:srgbClr val="747474"/>
                </a:solidFill>
                <a:latin typeface="Trebuchet MS"/>
                <a:cs typeface="Trebuchet MS"/>
              </a:rPr>
              <a:t>Level</a:t>
            </a:r>
            <a:r>
              <a:rPr dirty="0" sz="1050" spc="15" b="1">
                <a:solidFill>
                  <a:srgbClr val="747474"/>
                </a:solidFill>
                <a:latin typeface="Trebuchet MS"/>
                <a:cs typeface="Trebuchet MS"/>
              </a:rPr>
              <a:t> </a:t>
            </a:r>
            <a:r>
              <a:rPr dirty="0" sz="1050" spc="-155" b="1">
                <a:solidFill>
                  <a:srgbClr val="747474"/>
                </a:solidFill>
                <a:latin typeface="Trebuchet MS"/>
                <a:cs typeface="Trebuchet MS"/>
              </a:rPr>
              <a:t>1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381124" y="2886352"/>
            <a:ext cx="70485" cy="428625"/>
          </a:xfrm>
          <a:custGeom>
            <a:avLst/>
            <a:gdLst/>
            <a:ahLst/>
            <a:cxnLst/>
            <a:rect l="l" t="t" r="r" b="b"/>
            <a:pathLst>
              <a:path w="70484" h="428625">
                <a:moveTo>
                  <a:pt x="70450" y="428069"/>
                </a:moveTo>
                <a:lnTo>
                  <a:pt x="33857" y="415517"/>
                </a:lnTo>
                <a:lnTo>
                  <a:pt x="5800" y="381307"/>
                </a:lnTo>
                <a:lnTo>
                  <a:pt x="0" y="352147"/>
                </a:lnTo>
                <a:lnTo>
                  <a:pt x="0" y="75922"/>
                </a:lnTo>
                <a:lnTo>
                  <a:pt x="12829" y="33579"/>
                </a:lnTo>
                <a:lnTo>
                  <a:pt x="47039" y="5522"/>
                </a:lnTo>
                <a:lnTo>
                  <a:pt x="70449" y="0"/>
                </a:lnTo>
                <a:lnTo>
                  <a:pt x="66287" y="1655"/>
                </a:lnTo>
                <a:lnTo>
                  <a:pt x="56951" y="9389"/>
                </a:lnTo>
                <a:lnTo>
                  <a:pt x="41000" y="46761"/>
                </a:lnTo>
                <a:lnTo>
                  <a:pt x="38100" y="75922"/>
                </a:lnTo>
                <a:lnTo>
                  <a:pt x="38100" y="352147"/>
                </a:lnTo>
                <a:lnTo>
                  <a:pt x="44514" y="394489"/>
                </a:lnTo>
                <a:lnTo>
                  <a:pt x="66287" y="426413"/>
                </a:lnTo>
                <a:lnTo>
                  <a:pt x="70450" y="428069"/>
                </a:lnTo>
                <a:close/>
              </a:path>
            </a:pathLst>
          </a:custGeom>
          <a:solidFill>
            <a:srgbClr val="DFDFD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22424" y="3054349"/>
            <a:ext cx="127000" cy="10160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863725" y="2989032"/>
            <a:ext cx="510540" cy="20701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150" spc="-40" b="1">
                <a:solidFill>
                  <a:srgbClr val="414141"/>
                </a:solidFill>
                <a:latin typeface="Arial"/>
                <a:cs typeface="Arial"/>
              </a:rPr>
              <a:t>Folders</a:t>
            </a:r>
            <a:endParaRPr sz="1150">
              <a:latin typeface="Arial"/>
              <a:cs typeface="Arial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09662" y="3486150"/>
            <a:ext cx="85725" cy="85725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749299" y="3921125"/>
            <a:ext cx="48069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b="1">
                <a:solidFill>
                  <a:srgbClr val="747474"/>
                </a:solidFill>
                <a:latin typeface="Trebuchet MS"/>
                <a:cs typeface="Trebuchet MS"/>
              </a:rPr>
              <a:t>Level</a:t>
            </a:r>
            <a:r>
              <a:rPr dirty="0" sz="1050" spc="15" b="1">
                <a:solidFill>
                  <a:srgbClr val="747474"/>
                </a:solidFill>
                <a:latin typeface="Trebuchet MS"/>
                <a:cs typeface="Trebuchet MS"/>
              </a:rPr>
              <a:t> </a:t>
            </a:r>
            <a:r>
              <a:rPr dirty="0" sz="1050" spc="-50" b="1">
                <a:solidFill>
                  <a:srgbClr val="747474"/>
                </a:solidFill>
                <a:latin typeface="Trebuchet MS"/>
                <a:cs typeface="Trebuchet MS"/>
              </a:rPr>
              <a:t>2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381124" y="3810277"/>
            <a:ext cx="70485" cy="428625"/>
          </a:xfrm>
          <a:custGeom>
            <a:avLst/>
            <a:gdLst/>
            <a:ahLst/>
            <a:cxnLst/>
            <a:rect l="l" t="t" r="r" b="b"/>
            <a:pathLst>
              <a:path w="70484" h="428625">
                <a:moveTo>
                  <a:pt x="70450" y="428069"/>
                </a:moveTo>
                <a:lnTo>
                  <a:pt x="33857" y="415516"/>
                </a:lnTo>
                <a:lnTo>
                  <a:pt x="5800" y="381307"/>
                </a:lnTo>
                <a:lnTo>
                  <a:pt x="0" y="352147"/>
                </a:lnTo>
                <a:lnTo>
                  <a:pt x="0" y="75922"/>
                </a:lnTo>
                <a:lnTo>
                  <a:pt x="12829" y="33579"/>
                </a:lnTo>
                <a:lnTo>
                  <a:pt x="47039" y="5522"/>
                </a:lnTo>
                <a:lnTo>
                  <a:pt x="70449" y="0"/>
                </a:lnTo>
                <a:lnTo>
                  <a:pt x="66287" y="1655"/>
                </a:lnTo>
                <a:lnTo>
                  <a:pt x="56951" y="9389"/>
                </a:lnTo>
                <a:lnTo>
                  <a:pt x="41000" y="46761"/>
                </a:lnTo>
                <a:lnTo>
                  <a:pt x="38100" y="75922"/>
                </a:lnTo>
                <a:lnTo>
                  <a:pt x="38100" y="352147"/>
                </a:lnTo>
                <a:lnTo>
                  <a:pt x="44514" y="394489"/>
                </a:lnTo>
                <a:lnTo>
                  <a:pt x="66287" y="426413"/>
                </a:lnTo>
                <a:lnTo>
                  <a:pt x="70450" y="428069"/>
                </a:lnTo>
                <a:close/>
              </a:path>
            </a:pathLst>
          </a:custGeom>
          <a:solidFill>
            <a:srgbClr val="DFDFD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28775" y="3971925"/>
            <a:ext cx="114300" cy="114300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863725" y="3912956"/>
            <a:ext cx="594995" cy="20701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150" spc="-40" b="1">
                <a:solidFill>
                  <a:srgbClr val="414141"/>
                </a:solidFill>
                <a:latin typeface="Arial"/>
                <a:cs typeface="Arial"/>
              </a:rPr>
              <a:t>Features</a:t>
            </a:r>
            <a:endParaRPr sz="1150">
              <a:latin typeface="Arial"/>
              <a:cs typeface="Arial"/>
            </a:endParaRPr>
          </a:p>
        </p:txBody>
      </p:sp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09662" y="4410075"/>
            <a:ext cx="85725" cy="85725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749299" y="4845050"/>
            <a:ext cx="48514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b="1">
                <a:solidFill>
                  <a:srgbClr val="747474"/>
                </a:solidFill>
                <a:latin typeface="Trebuchet MS"/>
                <a:cs typeface="Trebuchet MS"/>
              </a:rPr>
              <a:t>Level</a:t>
            </a:r>
            <a:r>
              <a:rPr dirty="0" sz="1050" spc="15" b="1">
                <a:solidFill>
                  <a:srgbClr val="747474"/>
                </a:solidFill>
                <a:latin typeface="Trebuchet MS"/>
                <a:cs typeface="Trebuchet MS"/>
              </a:rPr>
              <a:t> </a:t>
            </a:r>
            <a:r>
              <a:rPr dirty="0" sz="1050" spc="-50" b="1">
                <a:solidFill>
                  <a:srgbClr val="747474"/>
                </a:solidFill>
                <a:latin typeface="Trebuchet MS"/>
                <a:cs typeface="Trebuchet MS"/>
              </a:rPr>
              <a:t>3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381124" y="4734202"/>
            <a:ext cx="70485" cy="428625"/>
          </a:xfrm>
          <a:custGeom>
            <a:avLst/>
            <a:gdLst/>
            <a:ahLst/>
            <a:cxnLst/>
            <a:rect l="l" t="t" r="r" b="b"/>
            <a:pathLst>
              <a:path w="70484" h="428625">
                <a:moveTo>
                  <a:pt x="70450" y="428069"/>
                </a:moveTo>
                <a:lnTo>
                  <a:pt x="33857" y="415516"/>
                </a:lnTo>
                <a:lnTo>
                  <a:pt x="5800" y="381307"/>
                </a:lnTo>
                <a:lnTo>
                  <a:pt x="0" y="352147"/>
                </a:lnTo>
                <a:lnTo>
                  <a:pt x="0" y="75922"/>
                </a:lnTo>
                <a:lnTo>
                  <a:pt x="12829" y="33579"/>
                </a:lnTo>
                <a:lnTo>
                  <a:pt x="47039" y="5522"/>
                </a:lnTo>
                <a:lnTo>
                  <a:pt x="70449" y="0"/>
                </a:lnTo>
                <a:lnTo>
                  <a:pt x="66287" y="1655"/>
                </a:lnTo>
                <a:lnTo>
                  <a:pt x="56951" y="9389"/>
                </a:lnTo>
                <a:lnTo>
                  <a:pt x="41000" y="46761"/>
                </a:lnTo>
                <a:lnTo>
                  <a:pt x="38100" y="75922"/>
                </a:lnTo>
                <a:lnTo>
                  <a:pt x="38100" y="352147"/>
                </a:lnTo>
                <a:lnTo>
                  <a:pt x="44514" y="394489"/>
                </a:lnTo>
                <a:lnTo>
                  <a:pt x="66287" y="426413"/>
                </a:lnTo>
                <a:lnTo>
                  <a:pt x="70450" y="428069"/>
                </a:lnTo>
                <a:close/>
              </a:path>
            </a:pathLst>
          </a:custGeom>
          <a:solidFill>
            <a:srgbClr val="DFDFD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object 1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41475" y="4889500"/>
            <a:ext cx="88900" cy="127000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1863725" y="4836881"/>
            <a:ext cx="931544" cy="20701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150" spc="-45" b="1">
                <a:solidFill>
                  <a:srgbClr val="414141"/>
                </a:solidFill>
                <a:latin typeface="Arial"/>
                <a:cs typeface="Arial"/>
              </a:rPr>
              <a:t>Requirements</a:t>
            </a:r>
            <a:endParaRPr sz="1150">
              <a:latin typeface="Arial"/>
              <a:cs typeface="Arial"/>
            </a:endParaRPr>
          </a:p>
        </p:txBody>
      </p:sp>
      <p:pic>
        <p:nvPicPr>
          <p:cNvPr id="19" name="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09662" y="5333999"/>
            <a:ext cx="85725" cy="85725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749299" y="5768975"/>
            <a:ext cx="49466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b="1">
                <a:solidFill>
                  <a:srgbClr val="747474"/>
                </a:solidFill>
                <a:latin typeface="Trebuchet MS"/>
                <a:cs typeface="Trebuchet MS"/>
              </a:rPr>
              <a:t>Level</a:t>
            </a:r>
            <a:r>
              <a:rPr dirty="0" sz="1050" spc="15" b="1">
                <a:solidFill>
                  <a:srgbClr val="747474"/>
                </a:solidFill>
                <a:latin typeface="Trebuchet MS"/>
                <a:cs typeface="Trebuchet MS"/>
              </a:rPr>
              <a:t> </a:t>
            </a:r>
            <a:r>
              <a:rPr dirty="0" sz="1050" spc="45" b="1">
                <a:solidFill>
                  <a:srgbClr val="747474"/>
                </a:solidFill>
                <a:latin typeface="Trebuchet MS"/>
                <a:cs typeface="Trebuchet MS"/>
              </a:rPr>
              <a:t>4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381124" y="5658127"/>
            <a:ext cx="70485" cy="428625"/>
          </a:xfrm>
          <a:custGeom>
            <a:avLst/>
            <a:gdLst/>
            <a:ahLst/>
            <a:cxnLst/>
            <a:rect l="l" t="t" r="r" b="b"/>
            <a:pathLst>
              <a:path w="70484" h="428625">
                <a:moveTo>
                  <a:pt x="70450" y="428069"/>
                </a:moveTo>
                <a:lnTo>
                  <a:pt x="33857" y="415516"/>
                </a:lnTo>
                <a:lnTo>
                  <a:pt x="5800" y="381307"/>
                </a:lnTo>
                <a:lnTo>
                  <a:pt x="0" y="352147"/>
                </a:lnTo>
                <a:lnTo>
                  <a:pt x="0" y="75922"/>
                </a:lnTo>
                <a:lnTo>
                  <a:pt x="12829" y="33579"/>
                </a:lnTo>
                <a:lnTo>
                  <a:pt x="47039" y="5522"/>
                </a:lnTo>
                <a:lnTo>
                  <a:pt x="70449" y="0"/>
                </a:lnTo>
                <a:lnTo>
                  <a:pt x="66287" y="1655"/>
                </a:lnTo>
                <a:lnTo>
                  <a:pt x="56951" y="9388"/>
                </a:lnTo>
                <a:lnTo>
                  <a:pt x="41000" y="46761"/>
                </a:lnTo>
                <a:lnTo>
                  <a:pt x="38100" y="75922"/>
                </a:lnTo>
                <a:lnTo>
                  <a:pt x="38100" y="352147"/>
                </a:lnTo>
                <a:lnTo>
                  <a:pt x="44514" y="394489"/>
                </a:lnTo>
                <a:lnTo>
                  <a:pt x="66287" y="426413"/>
                </a:lnTo>
                <a:lnTo>
                  <a:pt x="70450" y="428069"/>
                </a:lnTo>
                <a:close/>
              </a:path>
            </a:pathLst>
          </a:custGeom>
          <a:solidFill>
            <a:srgbClr val="DFDFD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2" name="object 2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31378" y="5836221"/>
            <a:ext cx="111696" cy="85153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1863725" y="5760806"/>
            <a:ext cx="381000" cy="20701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150" spc="-30" b="1">
                <a:solidFill>
                  <a:srgbClr val="414141"/>
                </a:solidFill>
                <a:latin typeface="Arial"/>
                <a:cs typeface="Arial"/>
              </a:rPr>
              <a:t>Tests</a:t>
            </a:r>
            <a:endParaRPr sz="1150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5388863" y="0"/>
            <a:ext cx="6803390" cy="6858000"/>
            <a:chOff x="5388863" y="0"/>
            <a:chExt cx="6803390" cy="6858000"/>
          </a:xfrm>
        </p:grpSpPr>
        <p:sp>
          <p:nvSpPr>
            <p:cNvPr id="25" name="object 25"/>
            <p:cNvSpPr/>
            <p:nvPr/>
          </p:nvSpPr>
          <p:spPr>
            <a:xfrm>
              <a:off x="5486399" y="0"/>
              <a:ext cx="6705600" cy="6858000"/>
            </a:xfrm>
            <a:custGeom>
              <a:avLst/>
              <a:gdLst/>
              <a:ahLst/>
              <a:cxnLst/>
              <a:rect l="l" t="t" r="r" b="b"/>
              <a:pathLst>
                <a:path w="6705600" h="6858000">
                  <a:moveTo>
                    <a:pt x="6705599" y="6857999"/>
                  </a:moveTo>
                  <a:lnTo>
                    <a:pt x="0" y="6857999"/>
                  </a:lnTo>
                  <a:lnTo>
                    <a:pt x="0" y="0"/>
                  </a:lnTo>
                  <a:lnTo>
                    <a:pt x="6705599" y="0"/>
                  </a:lnTo>
                  <a:lnTo>
                    <a:pt x="6705599" y="6857999"/>
                  </a:lnTo>
                  <a:close/>
                </a:path>
              </a:pathLst>
            </a:custGeom>
            <a:solidFill>
              <a:srgbClr val="F0F6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5388863" y="2023872"/>
              <a:ext cx="3941445" cy="3191510"/>
            </a:xfrm>
            <a:custGeom>
              <a:avLst/>
              <a:gdLst/>
              <a:ahLst/>
              <a:cxnLst/>
              <a:rect l="l" t="t" r="r" b="b"/>
              <a:pathLst>
                <a:path w="3941445" h="3191510">
                  <a:moveTo>
                    <a:pt x="3941063" y="3191255"/>
                  </a:moveTo>
                  <a:lnTo>
                    <a:pt x="0" y="3191255"/>
                  </a:lnTo>
                  <a:lnTo>
                    <a:pt x="0" y="0"/>
                  </a:lnTo>
                  <a:lnTo>
                    <a:pt x="3941063" y="0"/>
                  </a:lnTo>
                  <a:lnTo>
                    <a:pt x="3941063" y="481202"/>
                  </a:lnTo>
                  <a:lnTo>
                    <a:pt x="783335" y="481202"/>
                  </a:lnTo>
                  <a:lnTo>
                    <a:pt x="772075" y="481746"/>
                  </a:lnTo>
                  <a:lnTo>
                    <a:pt x="729400" y="494714"/>
                  </a:lnTo>
                  <a:lnTo>
                    <a:pt x="694935" y="523026"/>
                  </a:lnTo>
                  <a:lnTo>
                    <a:pt x="673929" y="562372"/>
                  </a:lnTo>
                  <a:lnTo>
                    <a:pt x="669035" y="595502"/>
                  </a:lnTo>
                  <a:lnTo>
                    <a:pt x="669035" y="2214752"/>
                  </a:lnTo>
                  <a:lnTo>
                    <a:pt x="677735" y="2258493"/>
                  </a:lnTo>
                  <a:lnTo>
                    <a:pt x="702513" y="2295575"/>
                  </a:lnTo>
                  <a:lnTo>
                    <a:pt x="739594" y="2320351"/>
                  </a:lnTo>
                  <a:lnTo>
                    <a:pt x="783335" y="2329052"/>
                  </a:lnTo>
                  <a:lnTo>
                    <a:pt x="3941063" y="2329052"/>
                  </a:lnTo>
                  <a:lnTo>
                    <a:pt x="3941063" y="3191255"/>
                  </a:lnTo>
                  <a:close/>
                </a:path>
                <a:path w="3941445" h="3191510">
                  <a:moveTo>
                    <a:pt x="3941063" y="2329052"/>
                  </a:moveTo>
                  <a:lnTo>
                    <a:pt x="3155060" y="2329052"/>
                  </a:lnTo>
                  <a:lnTo>
                    <a:pt x="3166320" y="2328508"/>
                  </a:lnTo>
                  <a:lnTo>
                    <a:pt x="3177363" y="2326877"/>
                  </a:lnTo>
                  <a:lnTo>
                    <a:pt x="3218573" y="2309807"/>
                  </a:lnTo>
                  <a:lnTo>
                    <a:pt x="3250114" y="2278266"/>
                  </a:lnTo>
                  <a:lnTo>
                    <a:pt x="3267184" y="2237055"/>
                  </a:lnTo>
                  <a:lnTo>
                    <a:pt x="3269360" y="2214752"/>
                  </a:lnTo>
                  <a:lnTo>
                    <a:pt x="3269360" y="595502"/>
                  </a:lnTo>
                  <a:lnTo>
                    <a:pt x="3260658" y="551761"/>
                  </a:lnTo>
                  <a:lnTo>
                    <a:pt x="3235881" y="514680"/>
                  </a:lnTo>
                  <a:lnTo>
                    <a:pt x="3198800" y="489903"/>
                  </a:lnTo>
                  <a:lnTo>
                    <a:pt x="3155060" y="481202"/>
                  </a:lnTo>
                  <a:lnTo>
                    <a:pt x="3941063" y="481202"/>
                  </a:lnTo>
                  <a:lnTo>
                    <a:pt x="3941063" y="2329052"/>
                  </a:lnTo>
                  <a:close/>
                </a:path>
              </a:pathLst>
            </a:custGeom>
            <a:solidFill>
              <a:srgbClr val="41A5F5">
                <a:alpha val="148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6081711" y="2528887"/>
              <a:ext cx="2552700" cy="1800225"/>
            </a:xfrm>
            <a:custGeom>
              <a:avLst/>
              <a:gdLst/>
              <a:ahLst/>
              <a:cxnLst/>
              <a:rect l="l" t="t" r="r" b="b"/>
              <a:pathLst>
                <a:path w="2552700" h="1800225">
                  <a:moveTo>
                    <a:pt x="0" y="1709737"/>
                  </a:moveTo>
                  <a:lnTo>
                    <a:pt x="0" y="90487"/>
                  </a:lnTo>
                  <a:lnTo>
                    <a:pt x="0" y="84545"/>
                  </a:lnTo>
                  <a:lnTo>
                    <a:pt x="579" y="78661"/>
                  </a:lnTo>
                  <a:lnTo>
                    <a:pt x="1738" y="72833"/>
                  </a:lnTo>
                  <a:lnTo>
                    <a:pt x="2897" y="67006"/>
                  </a:lnTo>
                  <a:lnTo>
                    <a:pt x="4614" y="61348"/>
                  </a:lnTo>
                  <a:lnTo>
                    <a:pt x="6887" y="55859"/>
                  </a:lnTo>
                  <a:lnTo>
                    <a:pt x="9161" y="50369"/>
                  </a:lnTo>
                  <a:lnTo>
                    <a:pt x="11948" y="45155"/>
                  </a:lnTo>
                  <a:lnTo>
                    <a:pt x="15249" y="40215"/>
                  </a:lnTo>
                  <a:lnTo>
                    <a:pt x="18550" y="35274"/>
                  </a:lnTo>
                  <a:lnTo>
                    <a:pt x="22302" y="30704"/>
                  </a:lnTo>
                  <a:lnTo>
                    <a:pt x="55859" y="6887"/>
                  </a:lnTo>
                  <a:lnTo>
                    <a:pt x="61348" y="4614"/>
                  </a:lnTo>
                  <a:lnTo>
                    <a:pt x="67006" y="2897"/>
                  </a:lnTo>
                  <a:lnTo>
                    <a:pt x="72834" y="1738"/>
                  </a:lnTo>
                  <a:lnTo>
                    <a:pt x="78662" y="579"/>
                  </a:lnTo>
                  <a:lnTo>
                    <a:pt x="84546" y="0"/>
                  </a:lnTo>
                  <a:lnTo>
                    <a:pt x="90488" y="0"/>
                  </a:lnTo>
                  <a:lnTo>
                    <a:pt x="2462212" y="0"/>
                  </a:lnTo>
                  <a:lnTo>
                    <a:pt x="2468153" y="0"/>
                  </a:lnTo>
                  <a:lnTo>
                    <a:pt x="2474038" y="579"/>
                  </a:lnTo>
                  <a:lnTo>
                    <a:pt x="2479865" y="1738"/>
                  </a:lnTo>
                  <a:lnTo>
                    <a:pt x="2485692" y="2897"/>
                  </a:lnTo>
                  <a:lnTo>
                    <a:pt x="2491351" y="4614"/>
                  </a:lnTo>
                  <a:lnTo>
                    <a:pt x="2496840" y="6887"/>
                  </a:lnTo>
                  <a:lnTo>
                    <a:pt x="2502329" y="9161"/>
                  </a:lnTo>
                  <a:lnTo>
                    <a:pt x="2534148" y="35274"/>
                  </a:lnTo>
                  <a:lnTo>
                    <a:pt x="2545811" y="55859"/>
                  </a:lnTo>
                  <a:lnTo>
                    <a:pt x="2548085" y="61348"/>
                  </a:lnTo>
                  <a:lnTo>
                    <a:pt x="2549802" y="67006"/>
                  </a:lnTo>
                  <a:lnTo>
                    <a:pt x="2550960" y="72833"/>
                  </a:lnTo>
                  <a:lnTo>
                    <a:pt x="2552120" y="78661"/>
                  </a:lnTo>
                  <a:lnTo>
                    <a:pt x="2552699" y="84545"/>
                  </a:lnTo>
                  <a:lnTo>
                    <a:pt x="2552700" y="90487"/>
                  </a:lnTo>
                  <a:lnTo>
                    <a:pt x="2552700" y="1709737"/>
                  </a:lnTo>
                  <a:lnTo>
                    <a:pt x="2552699" y="1715678"/>
                  </a:lnTo>
                  <a:lnTo>
                    <a:pt x="2552120" y="1721562"/>
                  </a:lnTo>
                  <a:lnTo>
                    <a:pt x="2550960" y="1727390"/>
                  </a:lnTo>
                  <a:lnTo>
                    <a:pt x="2549802" y="1733217"/>
                  </a:lnTo>
                  <a:lnTo>
                    <a:pt x="2548085" y="1738875"/>
                  </a:lnTo>
                  <a:lnTo>
                    <a:pt x="2545811" y="1744364"/>
                  </a:lnTo>
                  <a:lnTo>
                    <a:pt x="2543538" y="1749854"/>
                  </a:lnTo>
                  <a:lnTo>
                    <a:pt x="2540750" y="1755068"/>
                  </a:lnTo>
                  <a:lnTo>
                    <a:pt x="2537449" y="1760008"/>
                  </a:lnTo>
                  <a:lnTo>
                    <a:pt x="2534148" y="1764949"/>
                  </a:lnTo>
                  <a:lnTo>
                    <a:pt x="2502329" y="1791062"/>
                  </a:lnTo>
                  <a:lnTo>
                    <a:pt x="2496839" y="1793336"/>
                  </a:lnTo>
                  <a:lnTo>
                    <a:pt x="2491350" y="1795610"/>
                  </a:lnTo>
                  <a:lnTo>
                    <a:pt x="2485692" y="1797326"/>
                  </a:lnTo>
                  <a:lnTo>
                    <a:pt x="2479864" y="1798485"/>
                  </a:lnTo>
                  <a:lnTo>
                    <a:pt x="2474037" y="1799644"/>
                  </a:lnTo>
                  <a:lnTo>
                    <a:pt x="2468153" y="1800224"/>
                  </a:lnTo>
                  <a:lnTo>
                    <a:pt x="2462212" y="1800224"/>
                  </a:lnTo>
                  <a:lnTo>
                    <a:pt x="90488" y="1800224"/>
                  </a:lnTo>
                  <a:lnTo>
                    <a:pt x="84546" y="1800224"/>
                  </a:lnTo>
                  <a:lnTo>
                    <a:pt x="78662" y="1799644"/>
                  </a:lnTo>
                  <a:lnTo>
                    <a:pt x="72834" y="1798485"/>
                  </a:lnTo>
                  <a:lnTo>
                    <a:pt x="67006" y="1797326"/>
                  </a:lnTo>
                  <a:lnTo>
                    <a:pt x="61348" y="1795610"/>
                  </a:lnTo>
                  <a:lnTo>
                    <a:pt x="55859" y="1793336"/>
                  </a:lnTo>
                  <a:lnTo>
                    <a:pt x="50370" y="1791062"/>
                  </a:lnTo>
                  <a:lnTo>
                    <a:pt x="26503" y="1773721"/>
                  </a:lnTo>
                  <a:lnTo>
                    <a:pt x="22302" y="1769520"/>
                  </a:lnTo>
                  <a:lnTo>
                    <a:pt x="18550" y="1764949"/>
                  </a:lnTo>
                  <a:lnTo>
                    <a:pt x="15249" y="1760008"/>
                  </a:lnTo>
                  <a:lnTo>
                    <a:pt x="11948" y="1755068"/>
                  </a:lnTo>
                  <a:lnTo>
                    <a:pt x="9161" y="1749854"/>
                  </a:lnTo>
                  <a:lnTo>
                    <a:pt x="6887" y="1744364"/>
                  </a:lnTo>
                  <a:lnTo>
                    <a:pt x="4614" y="1738875"/>
                  </a:lnTo>
                  <a:lnTo>
                    <a:pt x="2897" y="1733217"/>
                  </a:lnTo>
                  <a:lnTo>
                    <a:pt x="1738" y="1727390"/>
                  </a:lnTo>
                  <a:lnTo>
                    <a:pt x="579" y="1721562"/>
                  </a:lnTo>
                  <a:lnTo>
                    <a:pt x="0" y="1715678"/>
                  </a:lnTo>
                  <a:lnTo>
                    <a:pt x="0" y="1709737"/>
                  </a:lnTo>
                  <a:close/>
                </a:path>
              </a:pathLst>
            </a:custGeom>
            <a:ln w="476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105524" y="2552700"/>
              <a:ext cx="2505074" cy="1752599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8327135" y="2819400"/>
              <a:ext cx="3624579" cy="1609725"/>
            </a:xfrm>
            <a:custGeom>
              <a:avLst/>
              <a:gdLst/>
              <a:ahLst/>
              <a:cxnLst/>
              <a:rect l="l" t="t" r="r" b="b"/>
              <a:pathLst>
                <a:path w="3624579" h="1609725">
                  <a:moveTo>
                    <a:pt x="3624071" y="1609343"/>
                  </a:moveTo>
                  <a:lnTo>
                    <a:pt x="0" y="1609343"/>
                  </a:lnTo>
                  <a:lnTo>
                    <a:pt x="0" y="0"/>
                  </a:lnTo>
                  <a:lnTo>
                    <a:pt x="3624071" y="0"/>
                  </a:lnTo>
                  <a:lnTo>
                    <a:pt x="3624071" y="266699"/>
                  </a:lnTo>
                  <a:lnTo>
                    <a:pt x="426338" y="266699"/>
                  </a:lnTo>
                  <a:lnTo>
                    <a:pt x="417893" y="267107"/>
                  </a:lnTo>
                  <a:lnTo>
                    <a:pt x="378702" y="281133"/>
                  </a:lnTo>
                  <a:lnTo>
                    <a:pt x="350746" y="311973"/>
                  </a:lnTo>
                  <a:lnTo>
                    <a:pt x="340613" y="352424"/>
                  </a:lnTo>
                  <a:lnTo>
                    <a:pt x="340613" y="1104899"/>
                  </a:lnTo>
                  <a:lnTo>
                    <a:pt x="350746" y="1145350"/>
                  </a:lnTo>
                  <a:lnTo>
                    <a:pt x="378702" y="1176190"/>
                  </a:lnTo>
                  <a:lnTo>
                    <a:pt x="417893" y="1190216"/>
                  </a:lnTo>
                  <a:lnTo>
                    <a:pt x="426338" y="1190624"/>
                  </a:lnTo>
                  <a:lnTo>
                    <a:pt x="3624071" y="1190624"/>
                  </a:lnTo>
                  <a:lnTo>
                    <a:pt x="3624071" y="1609343"/>
                  </a:lnTo>
                  <a:close/>
                </a:path>
                <a:path w="3624579" h="1609725">
                  <a:moveTo>
                    <a:pt x="3624071" y="1190624"/>
                  </a:moveTo>
                  <a:lnTo>
                    <a:pt x="3198113" y="1190624"/>
                  </a:lnTo>
                  <a:lnTo>
                    <a:pt x="3206558" y="1190216"/>
                  </a:lnTo>
                  <a:lnTo>
                    <a:pt x="3214840" y="1188993"/>
                  </a:lnTo>
                  <a:lnTo>
                    <a:pt x="3252469" y="1171199"/>
                  </a:lnTo>
                  <a:lnTo>
                    <a:pt x="3277311" y="1137705"/>
                  </a:lnTo>
                  <a:lnTo>
                    <a:pt x="3283838" y="1104899"/>
                  </a:lnTo>
                  <a:lnTo>
                    <a:pt x="3283838" y="352424"/>
                  </a:lnTo>
                  <a:lnTo>
                    <a:pt x="3273703" y="311973"/>
                  </a:lnTo>
                  <a:lnTo>
                    <a:pt x="3245747" y="281133"/>
                  </a:lnTo>
                  <a:lnTo>
                    <a:pt x="3206558" y="267107"/>
                  </a:lnTo>
                  <a:lnTo>
                    <a:pt x="3198113" y="266699"/>
                  </a:lnTo>
                  <a:lnTo>
                    <a:pt x="3624071" y="266699"/>
                  </a:lnTo>
                  <a:lnTo>
                    <a:pt x="3624071" y="1190624"/>
                  </a:lnTo>
                  <a:close/>
                </a:path>
              </a:pathLst>
            </a:custGeom>
            <a:solidFill>
              <a:srgbClr val="000000">
                <a:alpha val="587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8677273" y="3076574"/>
              <a:ext cx="2943225" cy="942975"/>
            </a:xfrm>
            <a:custGeom>
              <a:avLst/>
              <a:gdLst/>
              <a:ahLst/>
              <a:cxnLst/>
              <a:rect l="l" t="t" r="r" b="b"/>
              <a:pathLst>
                <a:path w="2943225" h="942975">
                  <a:moveTo>
                    <a:pt x="2854229" y="942974"/>
                  </a:moveTo>
                  <a:lnTo>
                    <a:pt x="71196" y="942974"/>
                  </a:lnTo>
                  <a:lnTo>
                    <a:pt x="66241" y="942364"/>
                  </a:lnTo>
                  <a:lnTo>
                    <a:pt x="29705" y="923447"/>
                  </a:lnTo>
                  <a:lnTo>
                    <a:pt x="7715" y="889952"/>
                  </a:lnTo>
                  <a:lnTo>
                    <a:pt x="0" y="853978"/>
                  </a:lnTo>
                  <a:lnTo>
                    <a:pt x="0" y="847724"/>
                  </a:lnTo>
                  <a:lnTo>
                    <a:pt x="0" y="88995"/>
                  </a:lnTo>
                  <a:lnTo>
                    <a:pt x="10062" y="47531"/>
                  </a:lnTo>
                  <a:lnTo>
                    <a:pt x="38025" y="12577"/>
                  </a:lnTo>
                  <a:lnTo>
                    <a:pt x="71196" y="0"/>
                  </a:lnTo>
                  <a:lnTo>
                    <a:pt x="2854229" y="0"/>
                  </a:lnTo>
                  <a:lnTo>
                    <a:pt x="2895691" y="12577"/>
                  </a:lnTo>
                  <a:lnTo>
                    <a:pt x="2930645" y="47531"/>
                  </a:lnTo>
                  <a:lnTo>
                    <a:pt x="2943225" y="88995"/>
                  </a:lnTo>
                  <a:lnTo>
                    <a:pt x="2943225" y="853978"/>
                  </a:lnTo>
                  <a:lnTo>
                    <a:pt x="2930645" y="895442"/>
                  </a:lnTo>
                  <a:lnTo>
                    <a:pt x="2895691" y="930396"/>
                  </a:lnTo>
                  <a:lnTo>
                    <a:pt x="2860424" y="942364"/>
                  </a:lnTo>
                  <a:lnTo>
                    <a:pt x="2854229" y="9429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8658223" y="3077003"/>
              <a:ext cx="86995" cy="942340"/>
            </a:xfrm>
            <a:custGeom>
              <a:avLst/>
              <a:gdLst/>
              <a:ahLst/>
              <a:cxnLst/>
              <a:rect l="l" t="t" r="r" b="b"/>
              <a:pathLst>
                <a:path w="86995" h="942339">
                  <a:moveTo>
                    <a:pt x="86379" y="942117"/>
                  </a:moveTo>
                  <a:lnTo>
                    <a:pt x="42320" y="926508"/>
                  </a:lnTo>
                  <a:lnTo>
                    <a:pt x="11259" y="892242"/>
                  </a:lnTo>
                  <a:lnTo>
                    <a:pt x="0" y="847296"/>
                  </a:lnTo>
                  <a:lnTo>
                    <a:pt x="0" y="94821"/>
                  </a:lnTo>
                  <a:lnTo>
                    <a:pt x="11259" y="49874"/>
                  </a:lnTo>
                  <a:lnTo>
                    <a:pt x="42320" y="15609"/>
                  </a:lnTo>
                  <a:lnTo>
                    <a:pt x="86379" y="0"/>
                  </a:lnTo>
                  <a:lnTo>
                    <a:pt x="80381" y="1988"/>
                  </a:lnTo>
                  <a:lnTo>
                    <a:pt x="73379" y="6821"/>
                  </a:lnTo>
                  <a:lnTo>
                    <a:pt x="47721" y="41893"/>
                  </a:lnTo>
                  <a:lnTo>
                    <a:pt x="38371" y="85438"/>
                  </a:lnTo>
                  <a:lnTo>
                    <a:pt x="38100" y="94821"/>
                  </a:lnTo>
                  <a:lnTo>
                    <a:pt x="38100" y="847296"/>
                  </a:lnTo>
                  <a:lnTo>
                    <a:pt x="44855" y="892242"/>
                  </a:lnTo>
                  <a:lnTo>
                    <a:pt x="63492" y="926508"/>
                  </a:lnTo>
                  <a:lnTo>
                    <a:pt x="80381" y="940129"/>
                  </a:lnTo>
                  <a:lnTo>
                    <a:pt x="86379" y="942117"/>
                  </a:lnTo>
                  <a:close/>
                </a:path>
              </a:pathLst>
            </a:custGeom>
            <a:solidFill>
              <a:srgbClr val="41A5F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 txBox="1"/>
          <p:nvPr/>
        </p:nvSpPr>
        <p:spPr>
          <a:xfrm>
            <a:off x="8893175" y="3215089"/>
            <a:ext cx="2467610" cy="628015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 marR="5080">
              <a:lnSpc>
                <a:spcPct val="114100"/>
              </a:lnSpc>
              <a:spcBef>
                <a:spcPts val="115"/>
              </a:spcBef>
            </a:pPr>
            <a:r>
              <a:rPr dirty="0" sz="1150" spc="-45" b="1">
                <a:solidFill>
                  <a:srgbClr val="41A5F5"/>
                </a:solidFill>
                <a:latin typeface="Arial"/>
                <a:cs typeface="Arial"/>
              </a:rPr>
              <a:t>Hierarchical</a:t>
            </a:r>
            <a:r>
              <a:rPr dirty="0" sz="1150" spc="-20" b="1">
                <a:solidFill>
                  <a:srgbClr val="41A5F5"/>
                </a:solidFill>
                <a:latin typeface="Arial"/>
                <a:cs typeface="Arial"/>
              </a:rPr>
              <a:t> </a:t>
            </a:r>
            <a:r>
              <a:rPr dirty="0" sz="1150" spc="-50" b="1">
                <a:solidFill>
                  <a:srgbClr val="41A5F5"/>
                </a:solidFill>
                <a:latin typeface="Arial"/>
                <a:cs typeface="Arial"/>
              </a:rPr>
              <a:t>model</a:t>
            </a:r>
            <a:r>
              <a:rPr dirty="0" sz="1150" spc="45" b="1">
                <a:solidFill>
                  <a:srgbClr val="41A5F5"/>
                </a:solidFill>
                <a:latin typeface="Arial"/>
                <a:cs typeface="Arial"/>
              </a:rPr>
              <a:t> </a:t>
            </a:r>
            <a:r>
              <a:rPr dirty="0" sz="1150" spc="-10">
                <a:solidFill>
                  <a:srgbClr val="616161"/>
                </a:solidFill>
                <a:latin typeface="Microsoft Sans Serif"/>
                <a:cs typeface="Microsoft Sans Serif"/>
              </a:rPr>
              <a:t>enables </a:t>
            </a:r>
            <a:r>
              <a:rPr dirty="0" sz="1150" spc="-20">
                <a:solidFill>
                  <a:srgbClr val="616161"/>
                </a:solidFill>
                <a:latin typeface="Microsoft Sans Serif"/>
                <a:cs typeface="Microsoft Sans Serif"/>
              </a:rPr>
              <a:t>aggregated </a:t>
            </a:r>
            <a:r>
              <a:rPr dirty="0" sz="1150" spc="-55">
                <a:solidFill>
                  <a:srgbClr val="616161"/>
                </a:solidFill>
                <a:latin typeface="Microsoft Sans Serif"/>
                <a:cs typeface="Microsoft Sans Serif"/>
              </a:rPr>
              <a:t>CI</a:t>
            </a:r>
            <a:r>
              <a:rPr dirty="0" sz="1150" spc="-15">
                <a:solidFill>
                  <a:srgbClr val="616161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10">
                <a:solidFill>
                  <a:srgbClr val="616161"/>
                </a:solidFill>
                <a:latin typeface="Microsoft Sans Serif"/>
                <a:cs typeface="Microsoft Sans Serif"/>
              </a:rPr>
              <a:t>status</a:t>
            </a:r>
            <a:r>
              <a:rPr dirty="0" sz="1150" spc="-20">
                <a:solidFill>
                  <a:srgbClr val="616161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616161"/>
                </a:solidFill>
                <a:latin typeface="Microsoft Sans Serif"/>
                <a:cs typeface="Microsoft Sans Serif"/>
              </a:rPr>
              <a:t>from</a:t>
            </a:r>
            <a:r>
              <a:rPr dirty="0" sz="1150" spc="-15">
                <a:solidFill>
                  <a:srgbClr val="616161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616161"/>
                </a:solidFill>
                <a:latin typeface="Microsoft Sans Serif"/>
                <a:cs typeface="Microsoft Sans Serif"/>
              </a:rPr>
              <a:t>test</a:t>
            </a:r>
            <a:r>
              <a:rPr dirty="0" sz="1150" spc="-20">
                <a:solidFill>
                  <a:srgbClr val="616161"/>
                </a:solidFill>
                <a:latin typeface="Microsoft Sans Serif"/>
                <a:cs typeface="Microsoft Sans Serif"/>
              </a:rPr>
              <a:t> level</a:t>
            </a:r>
            <a:r>
              <a:rPr dirty="0" sz="1150" spc="-15">
                <a:solidFill>
                  <a:srgbClr val="616161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25">
                <a:solidFill>
                  <a:srgbClr val="616161"/>
                </a:solidFill>
                <a:latin typeface="Microsoft Sans Serif"/>
                <a:cs typeface="Microsoft Sans Serif"/>
              </a:rPr>
              <a:t>up </a:t>
            </a:r>
            <a:r>
              <a:rPr dirty="0" sz="1150">
                <a:solidFill>
                  <a:srgbClr val="616161"/>
                </a:solidFill>
                <a:latin typeface="Microsoft Sans Serif"/>
                <a:cs typeface="Microsoft Sans Serif"/>
              </a:rPr>
              <a:t>to</a:t>
            </a:r>
            <a:r>
              <a:rPr dirty="0" sz="1150" spc="-20">
                <a:solidFill>
                  <a:srgbClr val="616161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10">
                <a:solidFill>
                  <a:srgbClr val="616161"/>
                </a:solidFill>
                <a:latin typeface="Microsoft Sans Serif"/>
                <a:cs typeface="Microsoft Sans Serif"/>
              </a:rPr>
              <a:t>requirements</a:t>
            </a:r>
            <a:endParaRPr sz="1150">
              <a:latin typeface="Microsoft Sans Serif"/>
              <a:cs typeface="Microsoft Sans Serif"/>
            </a:endParaRPr>
          </a:p>
        </p:txBody>
      </p:sp>
      <p:pic>
        <p:nvPicPr>
          <p:cNvPr id="33" name="object 3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706099" y="6429374"/>
            <a:ext cx="114300" cy="114300"/>
          </a:xfrm>
          <a:prstGeom prst="rect">
            <a:avLst/>
          </a:prstGeom>
        </p:spPr>
      </p:pic>
      <p:sp>
        <p:nvSpPr>
          <p:cNvPr id="34" name="object 34"/>
          <p:cNvSpPr txBox="1"/>
          <p:nvPr/>
        </p:nvSpPr>
        <p:spPr>
          <a:xfrm>
            <a:off x="10901014" y="6391909"/>
            <a:ext cx="913130" cy="185420"/>
          </a:xfrm>
          <a:prstGeom prst="rect">
            <a:avLst/>
          </a:prstGeom>
        </p:spPr>
        <p:txBody>
          <a:bodyPr wrap="square" lIns="0" tIns="184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z="900" spc="114" b="1">
                <a:solidFill>
                  <a:srgbClr val="747474"/>
                </a:solidFill>
                <a:latin typeface="Trebuchet MS"/>
                <a:cs typeface="Trebuchet MS"/>
              </a:rPr>
              <a:t>AUTOMASPEC</a:t>
            </a:r>
            <a:endParaRPr sz="9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999" y="1038224"/>
            <a:ext cx="57150" cy="666750"/>
          </a:xfrm>
          <a:custGeom>
            <a:avLst/>
            <a:gdLst/>
            <a:ahLst/>
            <a:cxnLst/>
            <a:rect l="l" t="t" r="r" b="b"/>
            <a:pathLst>
              <a:path w="57150" h="666750">
                <a:moveTo>
                  <a:pt x="32364" y="666749"/>
                </a:moveTo>
                <a:lnTo>
                  <a:pt x="24785" y="666749"/>
                </a:lnTo>
                <a:lnTo>
                  <a:pt x="21140" y="666024"/>
                </a:lnTo>
                <a:lnTo>
                  <a:pt x="0" y="641964"/>
                </a:lnTo>
                <a:lnTo>
                  <a:pt x="0" y="63817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49" y="24785"/>
                </a:lnTo>
                <a:lnTo>
                  <a:pt x="57149" y="641964"/>
                </a:lnTo>
                <a:lnTo>
                  <a:pt x="36009" y="666024"/>
                </a:lnTo>
                <a:lnTo>
                  <a:pt x="32364" y="666749"/>
                </a:lnTo>
                <a:close/>
              </a:path>
            </a:pathLst>
          </a:custGeom>
          <a:solidFill>
            <a:srgbClr val="41A5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044575" y="1216025"/>
            <a:ext cx="1120140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235" b="1">
                <a:solidFill>
                  <a:srgbClr val="4DB5AB"/>
                </a:solidFill>
                <a:latin typeface="Arial Narrow"/>
                <a:cs typeface="Arial Narrow"/>
              </a:rPr>
              <a:t>ANALYTICS</a:t>
            </a:r>
            <a:endParaRPr sz="1350">
              <a:latin typeface="Arial Narrow"/>
              <a:cs typeface="Arial Narrow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044575" y="1749425"/>
            <a:ext cx="264985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325"/>
              <a:t>Dashboard</a:t>
            </a:r>
          </a:p>
        </p:txBody>
      </p:sp>
      <p:sp>
        <p:nvSpPr>
          <p:cNvPr id="5" name="object 5"/>
          <p:cNvSpPr/>
          <p:nvPr/>
        </p:nvSpPr>
        <p:spPr>
          <a:xfrm>
            <a:off x="761999" y="3010328"/>
            <a:ext cx="86995" cy="808990"/>
          </a:xfrm>
          <a:custGeom>
            <a:avLst/>
            <a:gdLst/>
            <a:ahLst/>
            <a:cxnLst/>
            <a:rect l="l" t="t" r="r" b="b"/>
            <a:pathLst>
              <a:path w="86994" h="808989">
                <a:moveTo>
                  <a:pt x="86379" y="808767"/>
                </a:moveTo>
                <a:lnTo>
                  <a:pt x="42321" y="793158"/>
                </a:lnTo>
                <a:lnTo>
                  <a:pt x="11259" y="758891"/>
                </a:lnTo>
                <a:lnTo>
                  <a:pt x="0" y="713946"/>
                </a:lnTo>
                <a:lnTo>
                  <a:pt x="0" y="94821"/>
                </a:lnTo>
                <a:lnTo>
                  <a:pt x="11259" y="49875"/>
                </a:lnTo>
                <a:lnTo>
                  <a:pt x="42321" y="15608"/>
                </a:lnTo>
                <a:lnTo>
                  <a:pt x="86379" y="0"/>
                </a:lnTo>
                <a:lnTo>
                  <a:pt x="80381" y="1988"/>
                </a:lnTo>
                <a:lnTo>
                  <a:pt x="73379" y="6821"/>
                </a:lnTo>
                <a:lnTo>
                  <a:pt x="47722" y="41893"/>
                </a:lnTo>
                <a:lnTo>
                  <a:pt x="38371" y="85438"/>
                </a:lnTo>
                <a:lnTo>
                  <a:pt x="38100" y="94821"/>
                </a:lnTo>
                <a:lnTo>
                  <a:pt x="38100" y="713946"/>
                </a:lnTo>
                <a:lnTo>
                  <a:pt x="44855" y="758891"/>
                </a:lnTo>
                <a:lnTo>
                  <a:pt x="63493" y="793158"/>
                </a:lnTo>
                <a:lnTo>
                  <a:pt x="80381" y="806779"/>
                </a:lnTo>
                <a:lnTo>
                  <a:pt x="86379" y="808767"/>
                </a:lnTo>
                <a:close/>
              </a:path>
            </a:pathLst>
          </a:custGeom>
          <a:solidFill>
            <a:srgbClr val="DFDFD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" name="object 6"/>
          <p:cNvGrpSpPr/>
          <p:nvPr/>
        </p:nvGrpSpPr>
        <p:grpSpPr>
          <a:xfrm>
            <a:off x="1028699" y="3200399"/>
            <a:ext cx="428625" cy="428625"/>
            <a:chOff x="1028699" y="3200399"/>
            <a:chExt cx="428625" cy="428625"/>
          </a:xfrm>
        </p:grpSpPr>
        <p:sp>
          <p:nvSpPr>
            <p:cNvPr id="7" name="object 7"/>
            <p:cNvSpPr/>
            <p:nvPr/>
          </p:nvSpPr>
          <p:spPr>
            <a:xfrm>
              <a:off x="1028699" y="3200399"/>
              <a:ext cx="428625" cy="428625"/>
            </a:xfrm>
            <a:custGeom>
              <a:avLst/>
              <a:gdLst/>
              <a:ahLst/>
              <a:cxnLst/>
              <a:rect l="l" t="t" r="r" b="b"/>
              <a:pathLst>
                <a:path w="428625" h="428625">
                  <a:moveTo>
                    <a:pt x="357428" y="428624"/>
                  </a:moveTo>
                  <a:lnTo>
                    <a:pt x="71196" y="428624"/>
                  </a:lnTo>
                  <a:lnTo>
                    <a:pt x="66241" y="428136"/>
                  </a:lnTo>
                  <a:lnTo>
                    <a:pt x="29705" y="413002"/>
                  </a:lnTo>
                  <a:lnTo>
                    <a:pt x="3885" y="376962"/>
                  </a:lnTo>
                  <a:lnTo>
                    <a:pt x="0" y="357427"/>
                  </a:lnTo>
                  <a:lnTo>
                    <a:pt x="0" y="352424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357428" y="0"/>
                  </a:lnTo>
                  <a:lnTo>
                    <a:pt x="398919" y="15621"/>
                  </a:lnTo>
                  <a:lnTo>
                    <a:pt x="424739" y="51661"/>
                  </a:lnTo>
                  <a:lnTo>
                    <a:pt x="428624" y="71196"/>
                  </a:lnTo>
                  <a:lnTo>
                    <a:pt x="428624" y="357427"/>
                  </a:lnTo>
                  <a:lnTo>
                    <a:pt x="413002" y="398919"/>
                  </a:lnTo>
                  <a:lnTo>
                    <a:pt x="376962" y="424739"/>
                  </a:lnTo>
                  <a:lnTo>
                    <a:pt x="362383" y="428136"/>
                  </a:lnTo>
                  <a:lnTo>
                    <a:pt x="357428" y="428624"/>
                  </a:lnTo>
                  <a:close/>
                </a:path>
              </a:pathLst>
            </a:custGeom>
            <a:solidFill>
              <a:srgbClr val="E3F1F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76337" y="3348037"/>
              <a:ext cx="142874" cy="142874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1597024" y="3167925"/>
            <a:ext cx="2082164" cy="474345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dirty="0" sz="1200" spc="105" b="1">
                <a:solidFill>
                  <a:srgbClr val="414141"/>
                </a:solidFill>
                <a:latin typeface="Trebuchet MS"/>
                <a:cs typeface="Trebuchet MS"/>
              </a:rPr>
              <a:t>Coverage</a:t>
            </a:r>
            <a:r>
              <a:rPr dirty="0" sz="1200" spc="-105" b="1">
                <a:solidFill>
                  <a:srgbClr val="414141"/>
                </a:solidFill>
                <a:latin typeface="Trebuchet MS"/>
                <a:cs typeface="Trebuchet MS"/>
              </a:rPr>
              <a:t> </a:t>
            </a:r>
            <a:r>
              <a:rPr dirty="0" sz="1200" spc="110" b="1">
                <a:solidFill>
                  <a:srgbClr val="414141"/>
                </a:solidFill>
                <a:latin typeface="Trebuchet MS"/>
                <a:cs typeface="Trebuchet MS"/>
              </a:rPr>
              <a:t>by</a:t>
            </a:r>
            <a:r>
              <a:rPr dirty="0" sz="1200" spc="-105" b="1">
                <a:solidFill>
                  <a:srgbClr val="414141"/>
                </a:solidFill>
                <a:latin typeface="Trebuchet MS"/>
                <a:cs typeface="Trebuchet MS"/>
              </a:rPr>
              <a:t> </a:t>
            </a:r>
            <a:r>
              <a:rPr dirty="0" sz="1200" spc="50" b="1">
                <a:solidFill>
                  <a:srgbClr val="414141"/>
                </a:solidFill>
                <a:latin typeface="Trebuchet MS"/>
                <a:cs typeface="Trebuchet MS"/>
              </a:rPr>
              <a:t>Requirement</a:t>
            </a:r>
            <a:endParaRPr sz="12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dirty="0" sz="1050" spc="-35">
                <a:solidFill>
                  <a:srgbClr val="747474"/>
                </a:solidFill>
                <a:latin typeface="Microsoft Sans Serif"/>
                <a:cs typeface="Microsoft Sans Serif"/>
              </a:rPr>
              <a:t>Pass </a:t>
            </a:r>
            <a:r>
              <a:rPr dirty="0" sz="1100" spc="-60">
                <a:solidFill>
                  <a:srgbClr val="747474"/>
                </a:solidFill>
                <a:latin typeface="Maiandra GD"/>
                <a:cs typeface="Maiandra GD"/>
              </a:rPr>
              <a:t>/</a:t>
            </a:r>
            <a:r>
              <a:rPr dirty="0" sz="1100" spc="-50">
                <a:solidFill>
                  <a:srgbClr val="747474"/>
                </a:solidFill>
                <a:latin typeface="Maiandra GD"/>
                <a:cs typeface="Maiandra GD"/>
              </a:rPr>
              <a:t> </a:t>
            </a:r>
            <a:r>
              <a:rPr dirty="0" sz="1050" spc="-25">
                <a:solidFill>
                  <a:srgbClr val="747474"/>
                </a:solidFill>
                <a:latin typeface="Microsoft Sans Serif"/>
                <a:cs typeface="Microsoft Sans Serif"/>
              </a:rPr>
              <a:t>Fail</a:t>
            </a:r>
            <a:r>
              <a:rPr dirty="0" sz="1050" spc="-15">
                <a:solidFill>
                  <a:srgbClr val="747474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60">
                <a:solidFill>
                  <a:srgbClr val="747474"/>
                </a:solidFill>
                <a:latin typeface="Maiandra GD"/>
                <a:cs typeface="Maiandra GD"/>
              </a:rPr>
              <a:t>/</a:t>
            </a:r>
            <a:r>
              <a:rPr dirty="0" sz="1100" spc="-50">
                <a:solidFill>
                  <a:srgbClr val="747474"/>
                </a:solidFill>
                <a:latin typeface="Maiandra GD"/>
                <a:cs typeface="Maiandra GD"/>
              </a:rPr>
              <a:t> </a:t>
            </a:r>
            <a:r>
              <a:rPr dirty="0" sz="1050" spc="-10">
                <a:solidFill>
                  <a:srgbClr val="747474"/>
                </a:solidFill>
                <a:latin typeface="Microsoft Sans Serif"/>
                <a:cs typeface="Microsoft Sans Serif"/>
              </a:rPr>
              <a:t>Pending status</a:t>
            </a:r>
            <a:endParaRPr sz="105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61999" y="4010453"/>
            <a:ext cx="86995" cy="808990"/>
          </a:xfrm>
          <a:custGeom>
            <a:avLst/>
            <a:gdLst/>
            <a:ahLst/>
            <a:cxnLst/>
            <a:rect l="l" t="t" r="r" b="b"/>
            <a:pathLst>
              <a:path w="86994" h="808989">
                <a:moveTo>
                  <a:pt x="86379" y="808767"/>
                </a:moveTo>
                <a:lnTo>
                  <a:pt x="42321" y="793158"/>
                </a:lnTo>
                <a:lnTo>
                  <a:pt x="11259" y="758891"/>
                </a:lnTo>
                <a:lnTo>
                  <a:pt x="0" y="713946"/>
                </a:lnTo>
                <a:lnTo>
                  <a:pt x="0" y="94821"/>
                </a:lnTo>
                <a:lnTo>
                  <a:pt x="11259" y="49875"/>
                </a:lnTo>
                <a:lnTo>
                  <a:pt x="42321" y="15608"/>
                </a:lnTo>
                <a:lnTo>
                  <a:pt x="86379" y="0"/>
                </a:lnTo>
                <a:lnTo>
                  <a:pt x="80381" y="1988"/>
                </a:lnTo>
                <a:lnTo>
                  <a:pt x="73379" y="6821"/>
                </a:lnTo>
                <a:lnTo>
                  <a:pt x="47722" y="41893"/>
                </a:lnTo>
                <a:lnTo>
                  <a:pt x="38371" y="85438"/>
                </a:lnTo>
                <a:lnTo>
                  <a:pt x="38100" y="94821"/>
                </a:lnTo>
                <a:lnTo>
                  <a:pt x="38100" y="713946"/>
                </a:lnTo>
                <a:lnTo>
                  <a:pt x="44855" y="758891"/>
                </a:lnTo>
                <a:lnTo>
                  <a:pt x="63493" y="793158"/>
                </a:lnTo>
                <a:lnTo>
                  <a:pt x="80381" y="806778"/>
                </a:lnTo>
                <a:lnTo>
                  <a:pt x="86379" y="808767"/>
                </a:lnTo>
                <a:close/>
              </a:path>
            </a:pathLst>
          </a:custGeom>
          <a:solidFill>
            <a:srgbClr val="DFDFD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1" name="object 11"/>
          <p:cNvGrpSpPr/>
          <p:nvPr/>
        </p:nvGrpSpPr>
        <p:grpSpPr>
          <a:xfrm>
            <a:off x="1028699" y="4200525"/>
            <a:ext cx="428625" cy="428625"/>
            <a:chOff x="1028699" y="4200525"/>
            <a:chExt cx="428625" cy="428625"/>
          </a:xfrm>
        </p:grpSpPr>
        <p:sp>
          <p:nvSpPr>
            <p:cNvPr id="12" name="object 12"/>
            <p:cNvSpPr/>
            <p:nvPr/>
          </p:nvSpPr>
          <p:spPr>
            <a:xfrm>
              <a:off x="1028699" y="4200525"/>
              <a:ext cx="428625" cy="428625"/>
            </a:xfrm>
            <a:custGeom>
              <a:avLst/>
              <a:gdLst/>
              <a:ahLst/>
              <a:cxnLst/>
              <a:rect l="l" t="t" r="r" b="b"/>
              <a:pathLst>
                <a:path w="428625" h="428625">
                  <a:moveTo>
                    <a:pt x="357428" y="428624"/>
                  </a:moveTo>
                  <a:lnTo>
                    <a:pt x="71196" y="428624"/>
                  </a:lnTo>
                  <a:lnTo>
                    <a:pt x="66241" y="428136"/>
                  </a:lnTo>
                  <a:lnTo>
                    <a:pt x="29705" y="413002"/>
                  </a:lnTo>
                  <a:lnTo>
                    <a:pt x="3885" y="376962"/>
                  </a:lnTo>
                  <a:lnTo>
                    <a:pt x="0" y="357428"/>
                  </a:lnTo>
                  <a:lnTo>
                    <a:pt x="0" y="352424"/>
                  </a:lnTo>
                  <a:lnTo>
                    <a:pt x="0" y="71196"/>
                  </a:lnTo>
                  <a:lnTo>
                    <a:pt x="15621" y="29704"/>
                  </a:lnTo>
                  <a:lnTo>
                    <a:pt x="51661" y="3884"/>
                  </a:lnTo>
                  <a:lnTo>
                    <a:pt x="71196" y="0"/>
                  </a:lnTo>
                  <a:lnTo>
                    <a:pt x="357428" y="0"/>
                  </a:lnTo>
                  <a:lnTo>
                    <a:pt x="398919" y="15621"/>
                  </a:lnTo>
                  <a:lnTo>
                    <a:pt x="424739" y="51661"/>
                  </a:lnTo>
                  <a:lnTo>
                    <a:pt x="428624" y="71196"/>
                  </a:lnTo>
                  <a:lnTo>
                    <a:pt x="428624" y="357428"/>
                  </a:lnTo>
                  <a:lnTo>
                    <a:pt x="413002" y="398918"/>
                  </a:lnTo>
                  <a:lnTo>
                    <a:pt x="376962" y="424738"/>
                  </a:lnTo>
                  <a:lnTo>
                    <a:pt x="362383" y="428136"/>
                  </a:lnTo>
                  <a:lnTo>
                    <a:pt x="357428" y="428624"/>
                  </a:lnTo>
                  <a:close/>
                </a:path>
              </a:pathLst>
            </a:custGeom>
            <a:solidFill>
              <a:srgbClr val="E7F5E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76337" y="4332287"/>
              <a:ext cx="142874" cy="158749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1597024" y="4160470"/>
            <a:ext cx="1739900" cy="480695"/>
          </a:xfrm>
          <a:prstGeom prst="rect">
            <a:avLst/>
          </a:prstGeom>
        </p:spPr>
        <p:txBody>
          <a:bodyPr wrap="square" lIns="0" tIns="685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dirty="0" sz="1200" spc="50" b="1">
                <a:solidFill>
                  <a:srgbClr val="414141"/>
                </a:solidFill>
                <a:latin typeface="Trebuchet MS"/>
                <a:cs typeface="Trebuchet MS"/>
              </a:rPr>
              <a:t>Are</a:t>
            </a:r>
            <a:r>
              <a:rPr dirty="0" sz="1200" spc="-100" b="1">
                <a:solidFill>
                  <a:srgbClr val="414141"/>
                </a:solidFill>
                <a:latin typeface="Trebuchet MS"/>
                <a:cs typeface="Trebuchet MS"/>
              </a:rPr>
              <a:t> </a:t>
            </a:r>
            <a:r>
              <a:rPr dirty="0" sz="1200" spc="114" b="1">
                <a:solidFill>
                  <a:srgbClr val="414141"/>
                </a:solidFill>
                <a:latin typeface="Trebuchet MS"/>
                <a:cs typeface="Trebuchet MS"/>
              </a:rPr>
              <a:t>We</a:t>
            </a:r>
            <a:r>
              <a:rPr dirty="0" sz="1200" spc="-100" b="1">
                <a:solidFill>
                  <a:srgbClr val="414141"/>
                </a:solidFill>
                <a:latin typeface="Trebuchet MS"/>
                <a:cs typeface="Trebuchet MS"/>
              </a:rPr>
              <a:t> </a:t>
            </a:r>
            <a:r>
              <a:rPr dirty="0" sz="1200" spc="70" b="1">
                <a:solidFill>
                  <a:srgbClr val="414141"/>
                </a:solidFill>
                <a:latin typeface="Trebuchet MS"/>
                <a:cs typeface="Trebuchet MS"/>
              </a:rPr>
              <a:t>OK?</a:t>
            </a:r>
            <a:endParaRPr sz="12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dirty="0" sz="1050" spc="-10">
                <a:solidFill>
                  <a:srgbClr val="747474"/>
                </a:solidFill>
                <a:latin typeface="Microsoft Sans Serif"/>
                <a:cs typeface="Microsoft Sans Serif"/>
              </a:rPr>
              <a:t>Overall</a:t>
            </a:r>
            <a:r>
              <a:rPr dirty="0" sz="1050" spc="-25">
                <a:solidFill>
                  <a:srgbClr val="74747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747474"/>
                </a:solidFill>
                <a:latin typeface="Microsoft Sans Serif"/>
                <a:cs typeface="Microsoft Sans Serif"/>
              </a:rPr>
              <a:t>health</a:t>
            </a:r>
            <a:r>
              <a:rPr dirty="0" sz="1050" spc="-25">
                <a:solidFill>
                  <a:srgbClr val="74747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747474"/>
                </a:solidFill>
                <a:latin typeface="Microsoft Sans Serif"/>
                <a:cs typeface="Microsoft Sans Serif"/>
              </a:rPr>
              <a:t>score</a:t>
            </a:r>
            <a:r>
              <a:rPr dirty="0" sz="1050" spc="-20">
                <a:solidFill>
                  <a:srgbClr val="74747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747474"/>
                </a:solidFill>
                <a:latin typeface="Microsoft Sans Serif"/>
                <a:cs typeface="Microsoft Sans Serif"/>
              </a:rPr>
              <a:t>indicator</a:t>
            </a:r>
            <a:endParaRPr sz="1050">
              <a:latin typeface="Microsoft Sans Serif"/>
              <a:cs typeface="Microsoft Sans Serif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61999" y="5010577"/>
            <a:ext cx="86995" cy="808990"/>
          </a:xfrm>
          <a:custGeom>
            <a:avLst/>
            <a:gdLst/>
            <a:ahLst/>
            <a:cxnLst/>
            <a:rect l="l" t="t" r="r" b="b"/>
            <a:pathLst>
              <a:path w="86994" h="808989">
                <a:moveTo>
                  <a:pt x="86379" y="808767"/>
                </a:moveTo>
                <a:lnTo>
                  <a:pt x="42322" y="793158"/>
                </a:lnTo>
                <a:lnTo>
                  <a:pt x="11259" y="758891"/>
                </a:lnTo>
                <a:lnTo>
                  <a:pt x="0" y="713946"/>
                </a:lnTo>
                <a:lnTo>
                  <a:pt x="0" y="94821"/>
                </a:lnTo>
                <a:lnTo>
                  <a:pt x="11259" y="49874"/>
                </a:lnTo>
                <a:lnTo>
                  <a:pt x="42321" y="15608"/>
                </a:lnTo>
                <a:lnTo>
                  <a:pt x="86379" y="0"/>
                </a:lnTo>
                <a:lnTo>
                  <a:pt x="80381" y="1988"/>
                </a:lnTo>
                <a:lnTo>
                  <a:pt x="73379" y="6821"/>
                </a:lnTo>
                <a:lnTo>
                  <a:pt x="47722" y="41892"/>
                </a:lnTo>
                <a:lnTo>
                  <a:pt x="38371" y="85438"/>
                </a:lnTo>
                <a:lnTo>
                  <a:pt x="38100" y="94821"/>
                </a:lnTo>
                <a:lnTo>
                  <a:pt x="38100" y="713946"/>
                </a:lnTo>
                <a:lnTo>
                  <a:pt x="44855" y="758891"/>
                </a:lnTo>
                <a:lnTo>
                  <a:pt x="63493" y="793157"/>
                </a:lnTo>
                <a:lnTo>
                  <a:pt x="80381" y="806778"/>
                </a:lnTo>
                <a:lnTo>
                  <a:pt x="86379" y="808767"/>
                </a:lnTo>
                <a:close/>
              </a:path>
            </a:pathLst>
          </a:custGeom>
          <a:solidFill>
            <a:srgbClr val="DFDFD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6" name="object 16"/>
          <p:cNvGrpSpPr/>
          <p:nvPr/>
        </p:nvGrpSpPr>
        <p:grpSpPr>
          <a:xfrm>
            <a:off x="1028699" y="5200649"/>
            <a:ext cx="428625" cy="428625"/>
            <a:chOff x="1028699" y="5200649"/>
            <a:chExt cx="428625" cy="428625"/>
          </a:xfrm>
        </p:grpSpPr>
        <p:sp>
          <p:nvSpPr>
            <p:cNvPr id="17" name="object 17"/>
            <p:cNvSpPr/>
            <p:nvPr/>
          </p:nvSpPr>
          <p:spPr>
            <a:xfrm>
              <a:off x="1028699" y="5200649"/>
              <a:ext cx="428625" cy="428625"/>
            </a:xfrm>
            <a:custGeom>
              <a:avLst/>
              <a:gdLst/>
              <a:ahLst/>
              <a:cxnLst/>
              <a:rect l="l" t="t" r="r" b="b"/>
              <a:pathLst>
                <a:path w="428625" h="428625">
                  <a:moveTo>
                    <a:pt x="357428" y="428624"/>
                  </a:moveTo>
                  <a:lnTo>
                    <a:pt x="71196" y="428624"/>
                  </a:lnTo>
                  <a:lnTo>
                    <a:pt x="66241" y="428136"/>
                  </a:lnTo>
                  <a:lnTo>
                    <a:pt x="29705" y="413002"/>
                  </a:lnTo>
                  <a:lnTo>
                    <a:pt x="3885" y="376962"/>
                  </a:lnTo>
                  <a:lnTo>
                    <a:pt x="0" y="357428"/>
                  </a:lnTo>
                  <a:lnTo>
                    <a:pt x="0" y="352424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357428" y="0"/>
                  </a:lnTo>
                  <a:lnTo>
                    <a:pt x="398919" y="15621"/>
                  </a:lnTo>
                  <a:lnTo>
                    <a:pt x="424739" y="51661"/>
                  </a:lnTo>
                  <a:lnTo>
                    <a:pt x="428624" y="71196"/>
                  </a:lnTo>
                  <a:lnTo>
                    <a:pt x="428624" y="357428"/>
                  </a:lnTo>
                  <a:lnTo>
                    <a:pt x="413002" y="398919"/>
                  </a:lnTo>
                  <a:lnTo>
                    <a:pt x="376962" y="424738"/>
                  </a:lnTo>
                  <a:lnTo>
                    <a:pt x="362383" y="428136"/>
                  </a:lnTo>
                  <a:lnTo>
                    <a:pt x="357428" y="428624"/>
                  </a:lnTo>
                  <a:close/>
                </a:path>
              </a:pathLst>
            </a:custGeom>
            <a:solidFill>
              <a:srgbClr val="FFF2D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60462" y="5340349"/>
              <a:ext cx="166687" cy="150812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1597024" y="5160595"/>
            <a:ext cx="1671955" cy="480695"/>
          </a:xfrm>
          <a:prstGeom prst="rect">
            <a:avLst/>
          </a:prstGeom>
        </p:spPr>
        <p:txBody>
          <a:bodyPr wrap="square" lIns="0" tIns="685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dirty="0" sz="1200" spc="100" b="1">
                <a:solidFill>
                  <a:srgbClr val="414141"/>
                </a:solidFill>
                <a:latin typeface="Trebuchet MS"/>
                <a:cs typeface="Trebuchet MS"/>
              </a:rPr>
              <a:t>What's</a:t>
            </a:r>
            <a:r>
              <a:rPr dirty="0" sz="1200" spc="-105" b="1">
                <a:solidFill>
                  <a:srgbClr val="414141"/>
                </a:solidFill>
                <a:latin typeface="Trebuchet MS"/>
                <a:cs typeface="Trebuchet MS"/>
              </a:rPr>
              <a:t> </a:t>
            </a:r>
            <a:r>
              <a:rPr dirty="0" sz="1200" spc="100" b="1">
                <a:solidFill>
                  <a:srgbClr val="414141"/>
                </a:solidFill>
                <a:latin typeface="Trebuchet MS"/>
                <a:cs typeface="Trebuchet MS"/>
              </a:rPr>
              <a:t>Missing?</a:t>
            </a:r>
            <a:endParaRPr sz="12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dirty="0" sz="1050">
                <a:solidFill>
                  <a:srgbClr val="747474"/>
                </a:solidFill>
                <a:latin typeface="Microsoft Sans Serif"/>
                <a:cs typeface="Microsoft Sans Serif"/>
              </a:rPr>
              <a:t>Uncovered</a:t>
            </a:r>
            <a:r>
              <a:rPr dirty="0" sz="1050" spc="-65">
                <a:solidFill>
                  <a:srgbClr val="74747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747474"/>
                </a:solidFill>
                <a:latin typeface="Microsoft Sans Serif"/>
                <a:cs typeface="Microsoft Sans Serif"/>
              </a:rPr>
              <a:t>requirements</a:t>
            </a:r>
            <a:r>
              <a:rPr dirty="0" sz="1050" spc="-65">
                <a:solidFill>
                  <a:srgbClr val="74747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747474"/>
                </a:solidFill>
                <a:latin typeface="Microsoft Sans Serif"/>
                <a:cs typeface="Microsoft Sans Serif"/>
              </a:rPr>
              <a:t>list</a:t>
            </a:r>
            <a:endParaRPr sz="1050">
              <a:latin typeface="Microsoft Sans Serif"/>
              <a:cs typeface="Microsoft Sans Serif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779263" y="0"/>
            <a:ext cx="7412990" cy="6858000"/>
            <a:chOff x="4779263" y="0"/>
            <a:chExt cx="7412990" cy="6858000"/>
          </a:xfrm>
        </p:grpSpPr>
        <p:sp>
          <p:nvSpPr>
            <p:cNvPr id="21" name="object 21"/>
            <p:cNvSpPr/>
            <p:nvPr/>
          </p:nvSpPr>
          <p:spPr>
            <a:xfrm>
              <a:off x="4876799" y="0"/>
              <a:ext cx="7315200" cy="6858000"/>
            </a:xfrm>
            <a:custGeom>
              <a:avLst/>
              <a:gdLst/>
              <a:ahLst/>
              <a:cxnLst/>
              <a:rect l="l" t="t" r="r" b="b"/>
              <a:pathLst>
                <a:path w="7315200" h="6858000">
                  <a:moveTo>
                    <a:pt x="7315199" y="6857999"/>
                  </a:moveTo>
                  <a:lnTo>
                    <a:pt x="0" y="6857999"/>
                  </a:lnTo>
                  <a:lnTo>
                    <a:pt x="0" y="0"/>
                  </a:lnTo>
                  <a:lnTo>
                    <a:pt x="7315199" y="0"/>
                  </a:lnTo>
                  <a:lnTo>
                    <a:pt x="7315199" y="6857999"/>
                  </a:lnTo>
                  <a:close/>
                </a:path>
              </a:pathLst>
            </a:custGeom>
            <a:solidFill>
              <a:srgbClr val="F0F6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4779263" y="1929383"/>
              <a:ext cx="4462780" cy="3142615"/>
            </a:xfrm>
            <a:custGeom>
              <a:avLst/>
              <a:gdLst/>
              <a:ahLst/>
              <a:cxnLst/>
              <a:rect l="l" t="t" r="r" b="b"/>
              <a:pathLst>
                <a:path w="4462780" h="3142615">
                  <a:moveTo>
                    <a:pt x="4462271" y="3142487"/>
                  </a:moveTo>
                  <a:lnTo>
                    <a:pt x="0" y="3142487"/>
                  </a:lnTo>
                  <a:lnTo>
                    <a:pt x="0" y="0"/>
                  </a:lnTo>
                  <a:lnTo>
                    <a:pt x="4462271" y="0"/>
                  </a:lnTo>
                  <a:lnTo>
                    <a:pt x="4462271" y="480440"/>
                  </a:lnTo>
                  <a:lnTo>
                    <a:pt x="783335" y="480440"/>
                  </a:lnTo>
                  <a:lnTo>
                    <a:pt x="772076" y="480984"/>
                  </a:lnTo>
                  <a:lnTo>
                    <a:pt x="729400" y="493952"/>
                  </a:lnTo>
                  <a:lnTo>
                    <a:pt x="694935" y="522264"/>
                  </a:lnTo>
                  <a:lnTo>
                    <a:pt x="673929" y="561610"/>
                  </a:lnTo>
                  <a:lnTo>
                    <a:pt x="669035" y="594740"/>
                  </a:lnTo>
                  <a:lnTo>
                    <a:pt x="669035" y="2166365"/>
                  </a:lnTo>
                  <a:lnTo>
                    <a:pt x="677735" y="2210105"/>
                  </a:lnTo>
                  <a:lnTo>
                    <a:pt x="702513" y="2247187"/>
                  </a:lnTo>
                  <a:lnTo>
                    <a:pt x="739594" y="2271964"/>
                  </a:lnTo>
                  <a:lnTo>
                    <a:pt x="783335" y="2280665"/>
                  </a:lnTo>
                  <a:lnTo>
                    <a:pt x="4462271" y="2280665"/>
                  </a:lnTo>
                  <a:lnTo>
                    <a:pt x="4462271" y="3142487"/>
                  </a:lnTo>
                  <a:close/>
                </a:path>
                <a:path w="4462780" h="3142615">
                  <a:moveTo>
                    <a:pt x="4462271" y="2280665"/>
                  </a:moveTo>
                  <a:lnTo>
                    <a:pt x="3678935" y="2280665"/>
                  </a:lnTo>
                  <a:lnTo>
                    <a:pt x="3690195" y="2280121"/>
                  </a:lnTo>
                  <a:lnTo>
                    <a:pt x="3701238" y="2278490"/>
                  </a:lnTo>
                  <a:lnTo>
                    <a:pt x="3742448" y="2261420"/>
                  </a:lnTo>
                  <a:lnTo>
                    <a:pt x="3773990" y="2229878"/>
                  </a:lnTo>
                  <a:lnTo>
                    <a:pt x="3791060" y="2188668"/>
                  </a:lnTo>
                  <a:lnTo>
                    <a:pt x="3793235" y="2166365"/>
                  </a:lnTo>
                  <a:lnTo>
                    <a:pt x="3793235" y="594740"/>
                  </a:lnTo>
                  <a:lnTo>
                    <a:pt x="3784534" y="550999"/>
                  </a:lnTo>
                  <a:lnTo>
                    <a:pt x="3759757" y="513918"/>
                  </a:lnTo>
                  <a:lnTo>
                    <a:pt x="3722675" y="489141"/>
                  </a:lnTo>
                  <a:lnTo>
                    <a:pt x="3678935" y="480440"/>
                  </a:lnTo>
                  <a:lnTo>
                    <a:pt x="4462271" y="480440"/>
                  </a:lnTo>
                  <a:lnTo>
                    <a:pt x="4462271" y="2280665"/>
                  </a:lnTo>
                  <a:close/>
                </a:path>
              </a:pathLst>
            </a:custGeom>
            <a:solidFill>
              <a:srgbClr val="41A5F5">
                <a:alpha val="148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5472111" y="2433637"/>
              <a:ext cx="3076575" cy="1752600"/>
            </a:xfrm>
            <a:custGeom>
              <a:avLst/>
              <a:gdLst/>
              <a:ahLst/>
              <a:cxnLst/>
              <a:rect l="l" t="t" r="r" b="b"/>
              <a:pathLst>
                <a:path w="3076575" h="1752600">
                  <a:moveTo>
                    <a:pt x="0" y="1662112"/>
                  </a:moveTo>
                  <a:lnTo>
                    <a:pt x="0" y="90487"/>
                  </a:lnTo>
                  <a:lnTo>
                    <a:pt x="0" y="84545"/>
                  </a:lnTo>
                  <a:lnTo>
                    <a:pt x="579" y="78661"/>
                  </a:lnTo>
                  <a:lnTo>
                    <a:pt x="1738" y="72833"/>
                  </a:lnTo>
                  <a:lnTo>
                    <a:pt x="2896" y="67006"/>
                  </a:lnTo>
                  <a:lnTo>
                    <a:pt x="4613" y="61348"/>
                  </a:lnTo>
                  <a:lnTo>
                    <a:pt x="6886" y="55859"/>
                  </a:lnTo>
                  <a:lnTo>
                    <a:pt x="9160" y="50369"/>
                  </a:lnTo>
                  <a:lnTo>
                    <a:pt x="11947" y="45155"/>
                  </a:lnTo>
                  <a:lnTo>
                    <a:pt x="15249" y="40215"/>
                  </a:lnTo>
                  <a:lnTo>
                    <a:pt x="18550" y="35274"/>
                  </a:lnTo>
                  <a:lnTo>
                    <a:pt x="22301" y="30704"/>
                  </a:lnTo>
                  <a:lnTo>
                    <a:pt x="26503" y="26503"/>
                  </a:lnTo>
                  <a:lnTo>
                    <a:pt x="30704" y="22301"/>
                  </a:lnTo>
                  <a:lnTo>
                    <a:pt x="35275" y="18550"/>
                  </a:lnTo>
                  <a:lnTo>
                    <a:pt x="40215" y="15249"/>
                  </a:lnTo>
                  <a:lnTo>
                    <a:pt x="45154" y="11948"/>
                  </a:lnTo>
                  <a:lnTo>
                    <a:pt x="72833" y="1738"/>
                  </a:lnTo>
                  <a:lnTo>
                    <a:pt x="78661" y="579"/>
                  </a:lnTo>
                  <a:lnTo>
                    <a:pt x="84545" y="0"/>
                  </a:lnTo>
                  <a:lnTo>
                    <a:pt x="90487" y="0"/>
                  </a:lnTo>
                  <a:lnTo>
                    <a:pt x="2986087" y="0"/>
                  </a:lnTo>
                  <a:lnTo>
                    <a:pt x="2992028" y="0"/>
                  </a:lnTo>
                  <a:lnTo>
                    <a:pt x="2997912" y="579"/>
                  </a:lnTo>
                  <a:lnTo>
                    <a:pt x="3036357" y="15249"/>
                  </a:lnTo>
                  <a:lnTo>
                    <a:pt x="3041297" y="18550"/>
                  </a:lnTo>
                  <a:lnTo>
                    <a:pt x="3067411" y="50369"/>
                  </a:lnTo>
                  <a:lnTo>
                    <a:pt x="3074835" y="72833"/>
                  </a:lnTo>
                  <a:lnTo>
                    <a:pt x="3075994" y="78661"/>
                  </a:lnTo>
                  <a:lnTo>
                    <a:pt x="3076574" y="84545"/>
                  </a:lnTo>
                  <a:lnTo>
                    <a:pt x="3076574" y="90487"/>
                  </a:lnTo>
                  <a:lnTo>
                    <a:pt x="3076574" y="1662112"/>
                  </a:lnTo>
                  <a:lnTo>
                    <a:pt x="3076574" y="1668053"/>
                  </a:lnTo>
                  <a:lnTo>
                    <a:pt x="3075994" y="1673938"/>
                  </a:lnTo>
                  <a:lnTo>
                    <a:pt x="3074835" y="1679765"/>
                  </a:lnTo>
                  <a:lnTo>
                    <a:pt x="3073676" y="1685592"/>
                  </a:lnTo>
                  <a:lnTo>
                    <a:pt x="3054271" y="1721895"/>
                  </a:lnTo>
                  <a:lnTo>
                    <a:pt x="3036357" y="1737349"/>
                  </a:lnTo>
                  <a:lnTo>
                    <a:pt x="3031417" y="1740650"/>
                  </a:lnTo>
                  <a:lnTo>
                    <a:pt x="2992028" y="1752599"/>
                  </a:lnTo>
                  <a:lnTo>
                    <a:pt x="2986087" y="1752599"/>
                  </a:lnTo>
                  <a:lnTo>
                    <a:pt x="90487" y="1752599"/>
                  </a:lnTo>
                  <a:lnTo>
                    <a:pt x="55858" y="1745711"/>
                  </a:lnTo>
                  <a:lnTo>
                    <a:pt x="50369" y="1743437"/>
                  </a:lnTo>
                  <a:lnTo>
                    <a:pt x="45154" y="1740650"/>
                  </a:lnTo>
                  <a:lnTo>
                    <a:pt x="40215" y="1737349"/>
                  </a:lnTo>
                  <a:lnTo>
                    <a:pt x="35275" y="1734048"/>
                  </a:lnTo>
                  <a:lnTo>
                    <a:pt x="9160" y="1702229"/>
                  </a:lnTo>
                  <a:lnTo>
                    <a:pt x="1738" y="1679765"/>
                  </a:lnTo>
                  <a:lnTo>
                    <a:pt x="579" y="1673938"/>
                  </a:lnTo>
                  <a:lnTo>
                    <a:pt x="0" y="1668053"/>
                  </a:lnTo>
                  <a:lnTo>
                    <a:pt x="0" y="1662112"/>
                  </a:lnTo>
                  <a:close/>
                </a:path>
              </a:pathLst>
            </a:custGeom>
            <a:ln w="476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95924" y="2457450"/>
              <a:ext cx="3028949" cy="1704974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8305799" y="2798063"/>
              <a:ext cx="1582420" cy="1414780"/>
            </a:xfrm>
            <a:custGeom>
              <a:avLst/>
              <a:gdLst/>
              <a:ahLst/>
              <a:cxnLst/>
              <a:rect l="l" t="t" r="r" b="b"/>
              <a:pathLst>
                <a:path w="1582420" h="1414779">
                  <a:moveTo>
                    <a:pt x="1581911" y="1414271"/>
                  </a:moveTo>
                  <a:lnTo>
                    <a:pt x="0" y="1414271"/>
                  </a:lnTo>
                  <a:lnTo>
                    <a:pt x="0" y="0"/>
                  </a:lnTo>
                  <a:lnTo>
                    <a:pt x="1581911" y="0"/>
                  </a:lnTo>
                  <a:lnTo>
                    <a:pt x="1581911" y="202310"/>
                  </a:lnTo>
                  <a:lnTo>
                    <a:pt x="361949" y="202310"/>
                  </a:lnTo>
                  <a:lnTo>
                    <a:pt x="353504" y="202718"/>
                  </a:lnTo>
                  <a:lnTo>
                    <a:pt x="314313" y="216744"/>
                  </a:lnTo>
                  <a:lnTo>
                    <a:pt x="286357" y="247584"/>
                  </a:lnTo>
                  <a:lnTo>
                    <a:pt x="276224" y="288035"/>
                  </a:lnTo>
                  <a:lnTo>
                    <a:pt x="276224" y="973835"/>
                  </a:lnTo>
                  <a:lnTo>
                    <a:pt x="286357" y="1014286"/>
                  </a:lnTo>
                  <a:lnTo>
                    <a:pt x="314313" y="1045126"/>
                  </a:lnTo>
                  <a:lnTo>
                    <a:pt x="353504" y="1059153"/>
                  </a:lnTo>
                  <a:lnTo>
                    <a:pt x="361949" y="1059560"/>
                  </a:lnTo>
                  <a:lnTo>
                    <a:pt x="1581911" y="1059560"/>
                  </a:lnTo>
                  <a:lnTo>
                    <a:pt x="1581911" y="1414271"/>
                  </a:lnTo>
                  <a:close/>
                </a:path>
                <a:path w="1582420" h="1414779">
                  <a:moveTo>
                    <a:pt x="1581911" y="1059560"/>
                  </a:moveTo>
                  <a:lnTo>
                    <a:pt x="1219199" y="1059560"/>
                  </a:lnTo>
                  <a:lnTo>
                    <a:pt x="1227644" y="1059153"/>
                  </a:lnTo>
                  <a:lnTo>
                    <a:pt x="1235926" y="1057929"/>
                  </a:lnTo>
                  <a:lnTo>
                    <a:pt x="1273555" y="1040135"/>
                  </a:lnTo>
                  <a:lnTo>
                    <a:pt x="1298397" y="1006641"/>
                  </a:lnTo>
                  <a:lnTo>
                    <a:pt x="1304924" y="973835"/>
                  </a:lnTo>
                  <a:lnTo>
                    <a:pt x="1304924" y="288035"/>
                  </a:lnTo>
                  <a:lnTo>
                    <a:pt x="1294789" y="247584"/>
                  </a:lnTo>
                  <a:lnTo>
                    <a:pt x="1266833" y="216744"/>
                  </a:lnTo>
                  <a:lnTo>
                    <a:pt x="1227644" y="202718"/>
                  </a:lnTo>
                  <a:lnTo>
                    <a:pt x="1219199" y="202310"/>
                  </a:lnTo>
                  <a:lnTo>
                    <a:pt x="1581911" y="202310"/>
                  </a:lnTo>
                  <a:lnTo>
                    <a:pt x="1581911" y="1059560"/>
                  </a:lnTo>
                  <a:close/>
                </a:path>
              </a:pathLst>
            </a:custGeom>
            <a:solidFill>
              <a:srgbClr val="000000">
                <a:alpha val="587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8572499" y="2990849"/>
              <a:ext cx="1047750" cy="876300"/>
            </a:xfrm>
            <a:custGeom>
              <a:avLst/>
              <a:gdLst/>
              <a:ahLst/>
              <a:cxnLst/>
              <a:rect l="l" t="t" r="r" b="b"/>
              <a:pathLst>
                <a:path w="1047750" h="876300">
                  <a:moveTo>
                    <a:pt x="958753" y="876299"/>
                  </a:moveTo>
                  <a:lnTo>
                    <a:pt x="88995" y="876299"/>
                  </a:lnTo>
                  <a:lnTo>
                    <a:pt x="82801" y="875689"/>
                  </a:lnTo>
                  <a:lnTo>
                    <a:pt x="37131" y="856772"/>
                  </a:lnTo>
                  <a:lnTo>
                    <a:pt x="9643" y="823278"/>
                  </a:lnTo>
                  <a:lnTo>
                    <a:pt x="0" y="787303"/>
                  </a:lnTo>
                  <a:lnTo>
                    <a:pt x="0" y="781049"/>
                  </a:lnTo>
                  <a:lnTo>
                    <a:pt x="0" y="88995"/>
                  </a:lnTo>
                  <a:lnTo>
                    <a:pt x="12576" y="47531"/>
                  </a:lnTo>
                  <a:lnTo>
                    <a:pt x="47530" y="12577"/>
                  </a:lnTo>
                  <a:lnTo>
                    <a:pt x="88995" y="0"/>
                  </a:lnTo>
                  <a:lnTo>
                    <a:pt x="958753" y="0"/>
                  </a:lnTo>
                  <a:lnTo>
                    <a:pt x="1000216" y="12577"/>
                  </a:lnTo>
                  <a:lnTo>
                    <a:pt x="1035171" y="47531"/>
                  </a:lnTo>
                  <a:lnTo>
                    <a:pt x="1047749" y="88995"/>
                  </a:lnTo>
                  <a:lnTo>
                    <a:pt x="1047749" y="787303"/>
                  </a:lnTo>
                  <a:lnTo>
                    <a:pt x="1035171" y="828767"/>
                  </a:lnTo>
                  <a:lnTo>
                    <a:pt x="1000216" y="863721"/>
                  </a:lnTo>
                  <a:lnTo>
                    <a:pt x="964947" y="875689"/>
                  </a:lnTo>
                  <a:lnTo>
                    <a:pt x="958753" y="8762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8748960" y="3064918"/>
            <a:ext cx="692785" cy="621030"/>
          </a:xfrm>
          <a:prstGeom prst="rect">
            <a:avLst/>
          </a:prstGeom>
        </p:spPr>
        <p:txBody>
          <a:bodyPr wrap="square" lIns="0" tIns="68580" rIns="0" bIns="0" rtlCol="0" vert="horz">
            <a:spAutoFit/>
          </a:bodyPr>
          <a:lstStyle/>
          <a:p>
            <a:pPr marL="35560">
              <a:lnSpc>
                <a:spcPct val="100000"/>
              </a:lnSpc>
              <a:spcBef>
                <a:spcPts val="540"/>
              </a:spcBef>
            </a:pPr>
            <a:r>
              <a:rPr dirty="0" sz="2400" spc="120" b="1">
                <a:solidFill>
                  <a:srgbClr val="41A5F5"/>
                </a:solidFill>
                <a:latin typeface="Trebuchet MS"/>
                <a:cs typeface="Trebuchet MS"/>
              </a:rPr>
              <a:t>87%</a:t>
            </a:r>
            <a:endParaRPr sz="2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 sz="950" spc="-25" b="1">
                <a:solidFill>
                  <a:srgbClr val="747474"/>
                </a:solidFill>
                <a:latin typeface="Arial"/>
                <a:cs typeface="Arial"/>
              </a:rPr>
              <a:t>COVERAGE</a:t>
            </a:r>
            <a:endParaRPr sz="950">
              <a:latin typeface="Arial"/>
              <a:cs typeface="Arial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9543288" y="2798063"/>
            <a:ext cx="1411605" cy="1414780"/>
            <a:chOff x="9543288" y="2798063"/>
            <a:chExt cx="1411605" cy="1414780"/>
          </a:xfrm>
        </p:grpSpPr>
        <p:sp>
          <p:nvSpPr>
            <p:cNvPr id="29" name="object 29"/>
            <p:cNvSpPr/>
            <p:nvPr/>
          </p:nvSpPr>
          <p:spPr>
            <a:xfrm>
              <a:off x="9543288" y="2798063"/>
              <a:ext cx="1411605" cy="1414780"/>
            </a:xfrm>
            <a:custGeom>
              <a:avLst/>
              <a:gdLst/>
              <a:ahLst/>
              <a:cxnLst/>
              <a:rect l="l" t="t" r="r" b="b"/>
              <a:pathLst>
                <a:path w="1411604" h="1414779">
                  <a:moveTo>
                    <a:pt x="1411223" y="1414271"/>
                  </a:moveTo>
                  <a:lnTo>
                    <a:pt x="0" y="1414271"/>
                  </a:lnTo>
                  <a:lnTo>
                    <a:pt x="0" y="0"/>
                  </a:lnTo>
                  <a:lnTo>
                    <a:pt x="1411223" y="0"/>
                  </a:lnTo>
                  <a:lnTo>
                    <a:pt x="1411223" y="202310"/>
                  </a:lnTo>
                  <a:lnTo>
                    <a:pt x="362711" y="202310"/>
                  </a:lnTo>
                  <a:lnTo>
                    <a:pt x="354267" y="202718"/>
                  </a:lnTo>
                  <a:lnTo>
                    <a:pt x="315075" y="216744"/>
                  </a:lnTo>
                  <a:lnTo>
                    <a:pt x="287120" y="247584"/>
                  </a:lnTo>
                  <a:lnTo>
                    <a:pt x="276986" y="288035"/>
                  </a:lnTo>
                  <a:lnTo>
                    <a:pt x="276986" y="973835"/>
                  </a:lnTo>
                  <a:lnTo>
                    <a:pt x="287120" y="1014286"/>
                  </a:lnTo>
                  <a:lnTo>
                    <a:pt x="315075" y="1045126"/>
                  </a:lnTo>
                  <a:lnTo>
                    <a:pt x="354267" y="1059153"/>
                  </a:lnTo>
                  <a:lnTo>
                    <a:pt x="362711" y="1059560"/>
                  </a:lnTo>
                  <a:lnTo>
                    <a:pt x="1411223" y="1059560"/>
                  </a:lnTo>
                  <a:lnTo>
                    <a:pt x="1411223" y="1414271"/>
                  </a:lnTo>
                  <a:close/>
                </a:path>
                <a:path w="1411604" h="1414779">
                  <a:moveTo>
                    <a:pt x="1411223" y="1059560"/>
                  </a:moveTo>
                  <a:lnTo>
                    <a:pt x="1048511" y="1059560"/>
                  </a:lnTo>
                  <a:lnTo>
                    <a:pt x="1056956" y="1059153"/>
                  </a:lnTo>
                  <a:lnTo>
                    <a:pt x="1065238" y="1057929"/>
                  </a:lnTo>
                  <a:lnTo>
                    <a:pt x="1102868" y="1040135"/>
                  </a:lnTo>
                  <a:lnTo>
                    <a:pt x="1127710" y="1006641"/>
                  </a:lnTo>
                  <a:lnTo>
                    <a:pt x="1134236" y="973835"/>
                  </a:lnTo>
                  <a:lnTo>
                    <a:pt x="1134236" y="288035"/>
                  </a:lnTo>
                  <a:lnTo>
                    <a:pt x="1124102" y="247584"/>
                  </a:lnTo>
                  <a:lnTo>
                    <a:pt x="1096146" y="216744"/>
                  </a:lnTo>
                  <a:lnTo>
                    <a:pt x="1056956" y="202718"/>
                  </a:lnTo>
                  <a:lnTo>
                    <a:pt x="1048511" y="202310"/>
                  </a:lnTo>
                  <a:lnTo>
                    <a:pt x="1411223" y="202310"/>
                  </a:lnTo>
                  <a:lnTo>
                    <a:pt x="1411223" y="1059560"/>
                  </a:lnTo>
                  <a:close/>
                </a:path>
              </a:pathLst>
            </a:custGeom>
            <a:solidFill>
              <a:srgbClr val="000000">
                <a:alpha val="587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9810748" y="2990849"/>
              <a:ext cx="876300" cy="876300"/>
            </a:xfrm>
            <a:custGeom>
              <a:avLst/>
              <a:gdLst/>
              <a:ahLst/>
              <a:cxnLst/>
              <a:rect l="l" t="t" r="r" b="b"/>
              <a:pathLst>
                <a:path w="876300" h="876300">
                  <a:moveTo>
                    <a:pt x="787305" y="876299"/>
                  </a:moveTo>
                  <a:lnTo>
                    <a:pt x="88996" y="876299"/>
                  </a:lnTo>
                  <a:lnTo>
                    <a:pt x="82801" y="875689"/>
                  </a:lnTo>
                  <a:lnTo>
                    <a:pt x="37131" y="856772"/>
                  </a:lnTo>
                  <a:lnTo>
                    <a:pt x="9643" y="823278"/>
                  </a:lnTo>
                  <a:lnTo>
                    <a:pt x="0" y="787303"/>
                  </a:lnTo>
                  <a:lnTo>
                    <a:pt x="1" y="781049"/>
                  </a:lnTo>
                  <a:lnTo>
                    <a:pt x="0" y="88995"/>
                  </a:lnTo>
                  <a:lnTo>
                    <a:pt x="12577" y="47531"/>
                  </a:lnTo>
                  <a:lnTo>
                    <a:pt x="47531" y="12577"/>
                  </a:lnTo>
                  <a:lnTo>
                    <a:pt x="88996" y="0"/>
                  </a:lnTo>
                  <a:lnTo>
                    <a:pt x="787305" y="0"/>
                  </a:lnTo>
                  <a:lnTo>
                    <a:pt x="828767" y="12577"/>
                  </a:lnTo>
                  <a:lnTo>
                    <a:pt x="863721" y="47531"/>
                  </a:lnTo>
                  <a:lnTo>
                    <a:pt x="876299" y="88995"/>
                  </a:lnTo>
                  <a:lnTo>
                    <a:pt x="876299" y="787303"/>
                  </a:lnTo>
                  <a:lnTo>
                    <a:pt x="863720" y="828767"/>
                  </a:lnTo>
                  <a:lnTo>
                    <a:pt x="828767" y="863721"/>
                  </a:lnTo>
                  <a:lnTo>
                    <a:pt x="793499" y="875689"/>
                  </a:lnTo>
                  <a:lnTo>
                    <a:pt x="787305" y="8762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/>
          <p:cNvSpPr txBox="1"/>
          <p:nvPr/>
        </p:nvSpPr>
        <p:spPr>
          <a:xfrm>
            <a:off x="9992270" y="3064918"/>
            <a:ext cx="520700" cy="621030"/>
          </a:xfrm>
          <a:prstGeom prst="rect">
            <a:avLst/>
          </a:prstGeom>
        </p:spPr>
        <p:txBody>
          <a:bodyPr wrap="square" lIns="0" tIns="685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dirty="0" sz="2400" spc="-105" b="1">
                <a:solidFill>
                  <a:srgbClr val="41A5F5"/>
                </a:solidFill>
                <a:latin typeface="Trebuchet MS"/>
                <a:cs typeface="Trebuchet MS"/>
              </a:rPr>
              <a:t>142</a:t>
            </a:r>
            <a:endParaRPr sz="2400">
              <a:latin typeface="Trebuchet MS"/>
              <a:cs typeface="Trebuchet MS"/>
            </a:endParaRPr>
          </a:p>
          <a:p>
            <a:pPr marL="62865">
              <a:lnSpc>
                <a:spcPct val="100000"/>
              </a:lnSpc>
              <a:spcBef>
                <a:spcPts val="220"/>
              </a:spcBef>
            </a:pPr>
            <a:r>
              <a:rPr dirty="0" sz="950" spc="-10" b="1">
                <a:solidFill>
                  <a:srgbClr val="747474"/>
                </a:solidFill>
                <a:latin typeface="Arial"/>
                <a:cs typeface="Arial"/>
              </a:rPr>
              <a:t>TESTS</a:t>
            </a:r>
            <a:endParaRPr sz="950">
              <a:latin typeface="Arial"/>
              <a:cs typeface="Arial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10610088" y="2798063"/>
            <a:ext cx="1277620" cy="1414780"/>
            <a:chOff x="10610088" y="2798063"/>
            <a:chExt cx="1277620" cy="1414780"/>
          </a:xfrm>
        </p:grpSpPr>
        <p:sp>
          <p:nvSpPr>
            <p:cNvPr id="33" name="object 33"/>
            <p:cNvSpPr/>
            <p:nvPr/>
          </p:nvSpPr>
          <p:spPr>
            <a:xfrm>
              <a:off x="10610088" y="2798063"/>
              <a:ext cx="1277620" cy="1414780"/>
            </a:xfrm>
            <a:custGeom>
              <a:avLst/>
              <a:gdLst/>
              <a:ahLst/>
              <a:cxnLst/>
              <a:rect l="l" t="t" r="r" b="b"/>
              <a:pathLst>
                <a:path w="1277620" h="1414779">
                  <a:moveTo>
                    <a:pt x="1277111" y="1414271"/>
                  </a:moveTo>
                  <a:lnTo>
                    <a:pt x="0" y="1414271"/>
                  </a:lnTo>
                  <a:lnTo>
                    <a:pt x="0" y="0"/>
                  </a:lnTo>
                  <a:lnTo>
                    <a:pt x="1277111" y="0"/>
                  </a:lnTo>
                  <a:lnTo>
                    <a:pt x="1277111" y="202310"/>
                  </a:lnTo>
                  <a:lnTo>
                    <a:pt x="362711" y="202310"/>
                  </a:lnTo>
                  <a:lnTo>
                    <a:pt x="354266" y="202718"/>
                  </a:lnTo>
                  <a:lnTo>
                    <a:pt x="315075" y="216744"/>
                  </a:lnTo>
                  <a:lnTo>
                    <a:pt x="287120" y="247584"/>
                  </a:lnTo>
                  <a:lnTo>
                    <a:pt x="276986" y="288035"/>
                  </a:lnTo>
                  <a:lnTo>
                    <a:pt x="276986" y="973835"/>
                  </a:lnTo>
                  <a:lnTo>
                    <a:pt x="287120" y="1014286"/>
                  </a:lnTo>
                  <a:lnTo>
                    <a:pt x="315075" y="1045126"/>
                  </a:lnTo>
                  <a:lnTo>
                    <a:pt x="354266" y="1059153"/>
                  </a:lnTo>
                  <a:lnTo>
                    <a:pt x="362711" y="1059560"/>
                  </a:lnTo>
                  <a:lnTo>
                    <a:pt x="1277111" y="1059560"/>
                  </a:lnTo>
                  <a:lnTo>
                    <a:pt x="1277111" y="1414271"/>
                  </a:lnTo>
                  <a:close/>
                </a:path>
                <a:path w="1277620" h="1414779">
                  <a:moveTo>
                    <a:pt x="1277111" y="1059560"/>
                  </a:moveTo>
                  <a:lnTo>
                    <a:pt x="915161" y="1059560"/>
                  </a:lnTo>
                  <a:lnTo>
                    <a:pt x="923606" y="1059153"/>
                  </a:lnTo>
                  <a:lnTo>
                    <a:pt x="931888" y="1057929"/>
                  </a:lnTo>
                  <a:lnTo>
                    <a:pt x="969517" y="1040135"/>
                  </a:lnTo>
                  <a:lnTo>
                    <a:pt x="994359" y="1006641"/>
                  </a:lnTo>
                  <a:lnTo>
                    <a:pt x="1000886" y="973835"/>
                  </a:lnTo>
                  <a:lnTo>
                    <a:pt x="1000886" y="288035"/>
                  </a:lnTo>
                  <a:lnTo>
                    <a:pt x="990751" y="247584"/>
                  </a:lnTo>
                  <a:lnTo>
                    <a:pt x="962795" y="216744"/>
                  </a:lnTo>
                  <a:lnTo>
                    <a:pt x="923606" y="202718"/>
                  </a:lnTo>
                  <a:lnTo>
                    <a:pt x="915161" y="202310"/>
                  </a:lnTo>
                  <a:lnTo>
                    <a:pt x="1277111" y="202310"/>
                  </a:lnTo>
                  <a:lnTo>
                    <a:pt x="1277111" y="1059560"/>
                  </a:lnTo>
                  <a:close/>
                </a:path>
              </a:pathLst>
            </a:custGeom>
            <a:solidFill>
              <a:srgbClr val="000000">
                <a:alpha val="587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10877548" y="2990849"/>
              <a:ext cx="742950" cy="876300"/>
            </a:xfrm>
            <a:custGeom>
              <a:avLst/>
              <a:gdLst/>
              <a:ahLst/>
              <a:cxnLst/>
              <a:rect l="l" t="t" r="r" b="b"/>
              <a:pathLst>
                <a:path w="742950" h="876300">
                  <a:moveTo>
                    <a:pt x="653955" y="876299"/>
                  </a:moveTo>
                  <a:lnTo>
                    <a:pt x="88996" y="876299"/>
                  </a:lnTo>
                  <a:lnTo>
                    <a:pt x="82801" y="875689"/>
                  </a:lnTo>
                  <a:lnTo>
                    <a:pt x="37131" y="856772"/>
                  </a:lnTo>
                  <a:lnTo>
                    <a:pt x="9642" y="823278"/>
                  </a:lnTo>
                  <a:lnTo>
                    <a:pt x="0" y="787303"/>
                  </a:lnTo>
                  <a:lnTo>
                    <a:pt x="1" y="781049"/>
                  </a:lnTo>
                  <a:lnTo>
                    <a:pt x="0" y="88995"/>
                  </a:lnTo>
                  <a:lnTo>
                    <a:pt x="12575" y="47531"/>
                  </a:lnTo>
                  <a:lnTo>
                    <a:pt x="47530" y="12577"/>
                  </a:lnTo>
                  <a:lnTo>
                    <a:pt x="88996" y="0"/>
                  </a:lnTo>
                  <a:lnTo>
                    <a:pt x="653955" y="0"/>
                  </a:lnTo>
                  <a:lnTo>
                    <a:pt x="695416" y="12577"/>
                  </a:lnTo>
                  <a:lnTo>
                    <a:pt x="730371" y="47531"/>
                  </a:lnTo>
                  <a:lnTo>
                    <a:pt x="742951" y="88995"/>
                  </a:lnTo>
                  <a:lnTo>
                    <a:pt x="742951" y="787303"/>
                  </a:lnTo>
                  <a:lnTo>
                    <a:pt x="730371" y="828767"/>
                  </a:lnTo>
                  <a:lnTo>
                    <a:pt x="695416" y="863721"/>
                  </a:lnTo>
                  <a:lnTo>
                    <a:pt x="660150" y="875689"/>
                  </a:lnTo>
                  <a:lnTo>
                    <a:pt x="653955" y="8762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/>
          <p:cNvSpPr txBox="1"/>
          <p:nvPr/>
        </p:nvSpPr>
        <p:spPr>
          <a:xfrm>
            <a:off x="11058772" y="3064918"/>
            <a:ext cx="384175" cy="621030"/>
          </a:xfrm>
          <a:prstGeom prst="rect">
            <a:avLst/>
          </a:prstGeom>
        </p:spPr>
        <p:txBody>
          <a:bodyPr wrap="square" lIns="0" tIns="685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dirty="0" sz="2400" spc="-25" b="1">
                <a:solidFill>
                  <a:srgbClr val="41A5F5"/>
                </a:solidFill>
                <a:latin typeface="Trebuchet MS"/>
                <a:cs typeface="Trebuchet MS"/>
              </a:rPr>
              <a:t>23</a:t>
            </a:r>
            <a:endParaRPr sz="2400">
              <a:latin typeface="Trebuchet MS"/>
              <a:cs typeface="Trebuchet MS"/>
            </a:endParaRPr>
          </a:p>
          <a:p>
            <a:pPr marL="27940">
              <a:lnSpc>
                <a:spcPct val="100000"/>
              </a:lnSpc>
              <a:spcBef>
                <a:spcPts val="220"/>
              </a:spcBef>
            </a:pPr>
            <a:r>
              <a:rPr dirty="0" sz="950" spc="-20" b="1">
                <a:solidFill>
                  <a:srgbClr val="747474"/>
                </a:solidFill>
                <a:latin typeface="Arial"/>
                <a:cs typeface="Arial"/>
              </a:rPr>
              <a:t>REQS</a:t>
            </a:r>
            <a:endParaRPr sz="950">
              <a:latin typeface="Arial"/>
              <a:cs typeface="Arial"/>
            </a:endParaRPr>
          </a:p>
        </p:txBody>
      </p:sp>
      <p:pic>
        <p:nvPicPr>
          <p:cNvPr id="36" name="object 3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706099" y="6429374"/>
            <a:ext cx="114300" cy="114300"/>
          </a:xfrm>
          <a:prstGeom prst="rect">
            <a:avLst/>
          </a:prstGeom>
        </p:spPr>
      </p:pic>
      <p:sp>
        <p:nvSpPr>
          <p:cNvPr id="37" name="object 37"/>
          <p:cNvSpPr txBox="1"/>
          <p:nvPr/>
        </p:nvSpPr>
        <p:spPr>
          <a:xfrm>
            <a:off x="10901014" y="6391909"/>
            <a:ext cx="913130" cy="185420"/>
          </a:xfrm>
          <a:prstGeom prst="rect">
            <a:avLst/>
          </a:prstGeom>
        </p:spPr>
        <p:txBody>
          <a:bodyPr wrap="square" lIns="0" tIns="184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z="900" spc="114" b="1">
                <a:solidFill>
                  <a:srgbClr val="747474"/>
                </a:solidFill>
                <a:latin typeface="Trebuchet MS"/>
                <a:cs typeface="Trebuchet MS"/>
              </a:rPr>
              <a:t>AUTOMASPEC</a:t>
            </a:r>
            <a:endParaRPr sz="9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999" y="514349"/>
            <a:ext cx="38100" cy="666750"/>
          </a:xfrm>
          <a:custGeom>
            <a:avLst/>
            <a:gdLst/>
            <a:ahLst/>
            <a:cxnLst/>
            <a:rect l="l" t="t" r="r" b="b"/>
            <a:pathLst>
              <a:path w="38100" h="666750">
                <a:moveTo>
                  <a:pt x="21576" y="666749"/>
                </a:moveTo>
                <a:lnTo>
                  <a:pt x="16523" y="666749"/>
                </a:lnTo>
                <a:lnTo>
                  <a:pt x="14093" y="666266"/>
                </a:lnTo>
                <a:lnTo>
                  <a:pt x="0" y="650226"/>
                </a:lnTo>
                <a:lnTo>
                  <a:pt x="0" y="647699"/>
                </a:lnTo>
                <a:lnTo>
                  <a:pt x="0" y="16523"/>
                </a:lnTo>
                <a:lnTo>
                  <a:pt x="16523" y="0"/>
                </a:lnTo>
                <a:lnTo>
                  <a:pt x="21576" y="0"/>
                </a:lnTo>
                <a:lnTo>
                  <a:pt x="38099" y="16523"/>
                </a:lnTo>
                <a:lnTo>
                  <a:pt x="38099" y="650226"/>
                </a:lnTo>
                <a:lnTo>
                  <a:pt x="24006" y="666266"/>
                </a:lnTo>
                <a:lnTo>
                  <a:pt x="21576" y="666749"/>
                </a:lnTo>
                <a:close/>
              </a:path>
            </a:pathLst>
          </a:custGeom>
          <a:solidFill>
            <a:srgbClr val="41A5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027162" y="692150"/>
            <a:ext cx="1376680" cy="2311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185">
                <a:solidFill>
                  <a:srgbClr val="4DB5AB"/>
                </a:solidFill>
                <a:latin typeface="Arial Narrow"/>
                <a:cs typeface="Arial Narrow"/>
              </a:rPr>
              <a:t>AI</a:t>
            </a:r>
            <a:r>
              <a:rPr dirty="0" sz="1350" spc="315">
                <a:solidFill>
                  <a:srgbClr val="4DB5AB"/>
                </a:solidFill>
                <a:latin typeface="Arial Narrow"/>
                <a:cs typeface="Arial Narrow"/>
              </a:rPr>
              <a:t> </a:t>
            </a:r>
            <a:r>
              <a:rPr dirty="0" sz="1350" spc="235">
                <a:solidFill>
                  <a:srgbClr val="4DB5AB"/>
                </a:solidFill>
                <a:latin typeface="Arial Narrow"/>
                <a:cs typeface="Arial Narrow"/>
              </a:rPr>
              <a:t>ASSISTANT</a:t>
            </a:r>
            <a:endParaRPr sz="135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27162" y="1196975"/>
            <a:ext cx="3697604" cy="943610"/>
          </a:xfrm>
          <a:prstGeom prst="rect">
            <a:avLst/>
          </a:prstGeom>
        </p:spPr>
        <p:txBody>
          <a:bodyPr wrap="square" lIns="0" tIns="62229" rIns="0" bIns="0" rtlCol="0" vert="horz">
            <a:spAutoFit/>
          </a:bodyPr>
          <a:lstStyle/>
          <a:p>
            <a:pPr marL="12700" marR="5080">
              <a:lnSpc>
                <a:spcPts val="3450"/>
              </a:lnSpc>
              <a:spcBef>
                <a:spcPts val="489"/>
              </a:spcBef>
            </a:pPr>
            <a:r>
              <a:rPr dirty="0" sz="3150" spc="150" b="1">
                <a:solidFill>
                  <a:srgbClr val="202020"/>
                </a:solidFill>
                <a:latin typeface="Trebuchet MS"/>
                <a:cs typeface="Trebuchet MS"/>
              </a:rPr>
              <a:t>Your</a:t>
            </a:r>
            <a:r>
              <a:rPr dirty="0" sz="3150" spc="-270" b="1">
                <a:solidFill>
                  <a:srgbClr val="202020"/>
                </a:solidFill>
                <a:latin typeface="Trebuchet MS"/>
                <a:cs typeface="Trebuchet MS"/>
              </a:rPr>
              <a:t> </a:t>
            </a:r>
            <a:r>
              <a:rPr dirty="0" sz="3150" spc="254" b="1">
                <a:solidFill>
                  <a:srgbClr val="202020"/>
                </a:solidFill>
                <a:latin typeface="Trebuchet MS"/>
                <a:cs typeface="Trebuchet MS"/>
              </a:rPr>
              <a:t>Spec</a:t>
            </a:r>
            <a:r>
              <a:rPr dirty="0" sz="3150" spc="-270" b="1">
                <a:solidFill>
                  <a:srgbClr val="202020"/>
                </a:solidFill>
                <a:latin typeface="Trebuchet MS"/>
                <a:cs typeface="Trebuchet MS"/>
              </a:rPr>
              <a:t> </a:t>
            </a:r>
            <a:r>
              <a:rPr dirty="0" sz="3150" spc="170" b="1">
                <a:solidFill>
                  <a:srgbClr val="202020"/>
                </a:solidFill>
                <a:latin typeface="Trebuchet MS"/>
                <a:cs typeface="Trebuchet MS"/>
              </a:rPr>
              <a:t>Writing </a:t>
            </a:r>
            <a:r>
              <a:rPr dirty="0" sz="3150" spc="120" b="1">
                <a:solidFill>
                  <a:srgbClr val="202020"/>
                </a:solidFill>
                <a:latin typeface="Trebuchet MS"/>
                <a:cs typeface="Trebuchet MS"/>
              </a:rPr>
              <a:t>Partner</a:t>
            </a:r>
            <a:endParaRPr sz="3150">
              <a:latin typeface="Trebuchet MS"/>
              <a:cs typeface="Trebuchet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61999" y="2981671"/>
            <a:ext cx="88265" cy="989965"/>
          </a:xfrm>
          <a:custGeom>
            <a:avLst/>
            <a:gdLst/>
            <a:ahLst/>
            <a:cxnLst/>
            <a:rect l="l" t="t" r="r" b="b"/>
            <a:pathLst>
              <a:path w="88265" h="989964">
                <a:moveTo>
                  <a:pt x="88062" y="989905"/>
                </a:moveTo>
                <a:lnTo>
                  <a:pt x="50303" y="978992"/>
                </a:lnTo>
                <a:lnTo>
                  <a:pt x="16037" y="947930"/>
                </a:lnTo>
                <a:lnTo>
                  <a:pt x="453" y="904385"/>
                </a:lnTo>
                <a:lnTo>
                  <a:pt x="0" y="895002"/>
                </a:lnTo>
                <a:lnTo>
                  <a:pt x="0" y="94902"/>
                </a:lnTo>
                <a:lnTo>
                  <a:pt x="11259" y="49956"/>
                </a:lnTo>
                <a:lnTo>
                  <a:pt x="42321" y="15690"/>
                </a:lnTo>
                <a:lnTo>
                  <a:pt x="85866" y="106"/>
                </a:lnTo>
                <a:lnTo>
                  <a:pt x="88061" y="0"/>
                </a:lnTo>
                <a:lnTo>
                  <a:pt x="82859" y="2069"/>
                </a:lnTo>
                <a:lnTo>
                  <a:pt x="77024" y="6903"/>
                </a:lnTo>
                <a:lnTo>
                  <a:pt x="55643" y="41974"/>
                </a:lnTo>
                <a:lnTo>
                  <a:pt x="47851" y="85519"/>
                </a:lnTo>
                <a:lnTo>
                  <a:pt x="47625" y="94902"/>
                </a:lnTo>
                <a:lnTo>
                  <a:pt x="47625" y="895002"/>
                </a:lnTo>
                <a:lnTo>
                  <a:pt x="53254" y="939948"/>
                </a:lnTo>
                <a:lnTo>
                  <a:pt x="72776" y="978992"/>
                </a:lnTo>
                <a:lnTo>
                  <a:pt x="82859" y="987835"/>
                </a:lnTo>
                <a:lnTo>
                  <a:pt x="88062" y="989905"/>
                </a:lnTo>
                <a:close/>
              </a:path>
            </a:pathLst>
          </a:custGeom>
          <a:solidFill>
            <a:srgbClr val="DFDFD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" name="object 6"/>
          <p:cNvGrpSpPr/>
          <p:nvPr/>
        </p:nvGrpSpPr>
        <p:grpSpPr>
          <a:xfrm>
            <a:off x="1038224" y="3257549"/>
            <a:ext cx="428625" cy="428625"/>
            <a:chOff x="1038224" y="3257549"/>
            <a:chExt cx="428625" cy="428625"/>
          </a:xfrm>
        </p:grpSpPr>
        <p:sp>
          <p:nvSpPr>
            <p:cNvPr id="7" name="object 7"/>
            <p:cNvSpPr/>
            <p:nvPr/>
          </p:nvSpPr>
          <p:spPr>
            <a:xfrm>
              <a:off x="1038224" y="3257549"/>
              <a:ext cx="428625" cy="428625"/>
            </a:xfrm>
            <a:custGeom>
              <a:avLst/>
              <a:gdLst/>
              <a:ahLst/>
              <a:cxnLst/>
              <a:rect l="l" t="t" r="r" b="b"/>
              <a:pathLst>
                <a:path w="428625" h="428625">
                  <a:moveTo>
                    <a:pt x="357428" y="428624"/>
                  </a:moveTo>
                  <a:lnTo>
                    <a:pt x="71196" y="428624"/>
                  </a:lnTo>
                  <a:lnTo>
                    <a:pt x="66241" y="428136"/>
                  </a:lnTo>
                  <a:lnTo>
                    <a:pt x="29705" y="413002"/>
                  </a:lnTo>
                  <a:lnTo>
                    <a:pt x="3885" y="376962"/>
                  </a:lnTo>
                  <a:lnTo>
                    <a:pt x="0" y="352424"/>
                  </a:lnTo>
                  <a:lnTo>
                    <a:pt x="0" y="71196"/>
                  </a:lnTo>
                  <a:lnTo>
                    <a:pt x="15621" y="29704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357428" y="0"/>
                  </a:lnTo>
                  <a:lnTo>
                    <a:pt x="398919" y="15621"/>
                  </a:lnTo>
                  <a:lnTo>
                    <a:pt x="424739" y="51661"/>
                  </a:lnTo>
                  <a:lnTo>
                    <a:pt x="428624" y="71196"/>
                  </a:lnTo>
                  <a:lnTo>
                    <a:pt x="428624" y="357428"/>
                  </a:lnTo>
                  <a:lnTo>
                    <a:pt x="413003" y="398919"/>
                  </a:lnTo>
                  <a:lnTo>
                    <a:pt x="376962" y="424738"/>
                  </a:lnTo>
                  <a:lnTo>
                    <a:pt x="357428" y="428624"/>
                  </a:lnTo>
                  <a:close/>
                </a:path>
              </a:pathLst>
            </a:custGeom>
            <a:solidFill>
              <a:srgbClr val="E3F1F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21581" y="3414712"/>
              <a:ext cx="79374" cy="111124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1625599" y="3111724"/>
            <a:ext cx="2863215" cy="672465"/>
          </a:xfrm>
          <a:prstGeom prst="rect">
            <a:avLst/>
          </a:prstGeom>
        </p:spPr>
        <p:txBody>
          <a:bodyPr wrap="square" lIns="0" tIns="787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dirty="0" sz="1200" spc="75" b="1">
                <a:solidFill>
                  <a:srgbClr val="414141"/>
                </a:solidFill>
                <a:latin typeface="Trebuchet MS"/>
                <a:cs typeface="Trebuchet MS"/>
              </a:rPr>
              <a:t>Transform</a:t>
            </a:r>
            <a:r>
              <a:rPr dirty="0" sz="1200" spc="-65" b="1">
                <a:solidFill>
                  <a:srgbClr val="414141"/>
                </a:solidFill>
                <a:latin typeface="Trebuchet MS"/>
                <a:cs typeface="Trebuchet MS"/>
              </a:rPr>
              <a:t> </a:t>
            </a:r>
            <a:r>
              <a:rPr dirty="0" sz="1200" spc="95" b="1">
                <a:solidFill>
                  <a:srgbClr val="414141"/>
                </a:solidFill>
                <a:latin typeface="Trebuchet MS"/>
                <a:cs typeface="Trebuchet MS"/>
              </a:rPr>
              <a:t>Ideas</a:t>
            </a:r>
            <a:r>
              <a:rPr dirty="0" sz="1200" spc="-60" b="1">
                <a:solidFill>
                  <a:srgbClr val="414141"/>
                </a:solidFill>
                <a:latin typeface="Trebuchet MS"/>
                <a:cs typeface="Trebuchet MS"/>
              </a:rPr>
              <a:t> </a:t>
            </a:r>
            <a:r>
              <a:rPr dirty="0" sz="1200" b="1">
                <a:solidFill>
                  <a:srgbClr val="414141"/>
                </a:solidFill>
                <a:latin typeface="Trebuchet MS"/>
                <a:cs typeface="Trebuchet MS"/>
              </a:rPr>
              <a:t>to</a:t>
            </a:r>
            <a:r>
              <a:rPr dirty="0" sz="1200" spc="-65" b="1">
                <a:solidFill>
                  <a:srgbClr val="414141"/>
                </a:solidFill>
                <a:latin typeface="Trebuchet MS"/>
                <a:cs typeface="Trebuchet MS"/>
              </a:rPr>
              <a:t> </a:t>
            </a:r>
            <a:r>
              <a:rPr dirty="0" sz="1200" spc="95" b="1">
                <a:solidFill>
                  <a:srgbClr val="414141"/>
                </a:solidFill>
                <a:latin typeface="Trebuchet MS"/>
                <a:cs typeface="Trebuchet MS"/>
              </a:rPr>
              <a:t>Specs</a:t>
            </a:r>
            <a:endParaRPr sz="1200">
              <a:latin typeface="Trebuchet MS"/>
              <a:cs typeface="Trebuchet MS"/>
            </a:endParaRPr>
          </a:p>
          <a:p>
            <a:pPr marL="12700" marR="5080">
              <a:lnSpc>
                <a:spcPct val="107100"/>
              </a:lnSpc>
              <a:spcBef>
                <a:spcPts val="420"/>
              </a:spcBef>
            </a:pPr>
            <a:r>
              <a:rPr dirty="0" sz="1050">
                <a:solidFill>
                  <a:srgbClr val="747474"/>
                </a:solidFill>
                <a:latin typeface="Microsoft Sans Serif"/>
                <a:cs typeface="Microsoft Sans Serif"/>
              </a:rPr>
              <a:t>Turn</a:t>
            </a:r>
            <a:r>
              <a:rPr dirty="0" sz="1050" spc="-30">
                <a:solidFill>
                  <a:srgbClr val="74747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747474"/>
                </a:solidFill>
                <a:latin typeface="Microsoft Sans Serif"/>
                <a:cs typeface="Microsoft Sans Serif"/>
              </a:rPr>
              <a:t>rough</a:t>
            </a:r>
            <a:r>
              <a:rPr dirty="0" sz="1050" spc="-25">
                <a:solidFill>
                  <a:srgbClr val="74747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747474"/>
                </a:solidFill>
                <a:latin typeface="Microsoft Sans Serif"/>
                <a:cs typeface="Microsoft Sans Serif"/>
              </a:rPr>
              <a:t>ideas</a:t>
            </a:r>
            <a:r>
              <a:rPr dirty="0" sz="1050" spc="-25">
                <a:solidFill>
                  <a:srgbClr val="74747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747474"/>
                </a:solidFill>
                <a:latin typeface="Microsoft Sans Serif"/>
                <a:cs typeface="Microsoft Sans Serif"/>
              </a:rPr>
              <a:t>into</a:t>
            </a:r>
            <a:r>
              <a:rPr dirty="0" sz="1050" spc="-25">
                <a:solidFill>
                  <a:srgbClr val="74747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747474"/>
                </a:solidFill>
                <a:latin typeface="Microsoft Sans Serif"/>
                <a:cs typeface="Microsoft Sans Serif"/>
              </a:rPr>
              <a:t>clear,</a:t>
            </a:r>
            <a:r>
              <a:rPr dirty="0" sz="1050" spc="-30">
                <a:solidFill>
                  <a:srgbClr val="74747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747474"/>
                </a:solidFill>
                <a:latin typeface="Microsoft Sans Serif"/>
                <a:cs typeface="Microsoft Sans Serif"/>
              </a:rPr>
              <a:t>testable</a:t>
            </a:r>
            <a:r>
              <a:rPr dirty="0" sz="1050" spc="-25">
                <a:solidFill>
                  <a:srgbClr val="74747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747474"/>
                </a:solidFill>
                <a:latin typeface="Microsoft Sans Serif"/>
                <a:cs typeface="Microsoft Sans Serif"/>
              </a:rPr>
              <a:t>requirement drafts</a:t>
            </a:r>
            <a:endParaRPr sz="105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61999" y="4162771"/>
            <a:ext cx="88265" cy="999490"/>
          </a:xfrm>
          <a:custGeom>
            <a:avLst/>
            <a:gdLst/>
            <a:ahLst/>
            <a:cxnLst/>
            <a:rect l="l" t="t" r="r" b="b"/>
            <a:pathLst>
              <a:path w="88265" h="999489">
                <a:moveTo>
                  <a:pt x="88062" y="999430"/>
                </a:moveTo>
                <a:lnTo>
                  <a:pt x="50304" y="988517"/>
                </a:lnTo>
                <a:lnTo>
                  <a:pt x="16037" y="957455"/>
                </a:lnTo>
                <a:lnTo>
                  <a:pt x="453" y="913910"/>
                </a:lnTo>
                <a:lnTo>
                  <a:pt x="0" y="904527"/>
                </a:lnTo>
                <a:lnTo>
                  <a:pt x="0" y="94902"/>
                </a:lnTo>
                <a:lnTo>
                  <a:pt x="11259" y="49956"/>
                </a:lnTo>
                <a:lnTo>
                  <a:pt x="42321" y="15689"/>
                </a:lnTo>
                <a:lnTo>
                  <a:pt x="85866" y="105"/>
                </a:lnTo>
                <a:lnTo>
                  <a:pt x="88061" y="0"/>
                </a:lnTo>
                <a:lnTo>
                  <a:pt x="82859" y="2069"/>
                </a:lnTo>
                <a:lnTo>
                  <a:pt x="77024" y="6902"/>
                </a:lnTo>
                <a:lnTo>
                  <a:pt x="55643" y="41974"/>
                </a:lnTo>
                <a:lnTo>
                  <a:pt x="47851" y="85519"/>
                </a:lnTo>
                <a:lnTo>
                  <a:pt x="47625" y="94902"/>
                </a:lnTo>
                <a:lnTo>
                  <a:pt x="47625" y="904527"/>
                </a:lnTo>
                <a:lnTo>
                  <a:pt x="53254" y="949472"/>
                </a:lnTo>
                <a:lnTo>
                  <a:pt x="72776" y="988517"/>
                </a:lnTo>
                <a:lnTo>
                  <a:pt x="82859" y="997360"/>
                </a:lnTo>
                <a:lnTo>
                  <a:pt x="88062" y="999430"/>
                </a:lnTo>
                <a:close/>
              </a:path>
            </a:pathLst>
          </a:custGeom>
          <a:solidFill>
            <a:srgbClr val="DFDFD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1" name="object 11"/>
          <p:cNvGrpSpPr/>
          <p:nvPr/>
        </p:nvGrpSpPr>
        <p:grpSpPr>
          <a:xfrm>
            <a:off x="1038224" y="4448174"/>
            <a:ext cx="428625" cy="428625"/>
            <a:chOff x="1038224" y="4448174"/>
            <a:chExt cx="428625" cy="428625"/>
          </a:xfrm>
        </p:grpSpPr>
        <p:sp>
          <p:nvSpPr>
            <p:cNvPr id="12" name="object 12"/>
            <p:cNvSpPr/>
            <p:nvPr/>
          </p:nvSpPr>
          <p:spPr>
            <a:xfrm>
              <a:off x="1038224" y="4448174"/>
              <a:ext cx="428625" cy="428625"/>
            </a:xfrm>
            <a:custGeom>
              <a:avLst/>
              <a:gdLst/>
              <a:ahLst/>
              <a:cxnLst/>
              <a:rect l="l" t="t" r="r" b="b"/>
              <a:pathLst>
                <a:path w="428625" h="428625">
                  <a:moveTo>
                    <a:pt x="357428" y="428624"/>
                  </a:moveTo>
                  <a:lnTo>
                    <a:pt x="71196" y="428624"/>
                  </a:lnTo>
                  <a:lnTo>
                    <a:pt x="66241" y="428136"/>
                  </a:lnTo>
                  <a:lnTo>
                    <a:pt x="29705" y="413002"/>
                  </a:lnTo>
                  <a:lnTo>
                    <a:pt x="3885" y="376962"/>
                  </a:lnTo>
                  <a:lnTo>
                    <a:pt x="0" y="352424"/>
                  </a:lnTo>
                  <a:lnTo>
                    <a:pt x="0" y="71196"/>
                  </a:lnTo>
                  <a:lnTo>
                    <a:pt x="15621" y="29704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357428" y="0"/>
                  </a:lnTo>
                  <a:lnTo>
                    <a:pt x="398919" y="15621"/>
                  </a:lnTo>
                  <a:lnTo>
                    <a:pt x="424739" y="51661"/>
                  </a:lnTo>
                  <a:lnTo>
                    <a:pt x="428624" y="71196"/>
                  </a:lnTo>
                  <a:lnTo>
                    <a:pt x="428624" y="357428"/>
                  </a:lnTo>
                  <a:lnTo>
                    <a:pt x="413003" y="398918"/>
                  </a:lnTo>
                  <a:lnTo>
                    <a:pt x="376962" y="424738"/>
                  </a:lnTo>
                  <a:lnTo>
                    <a:pt x="357428" y="428624"/>
                  </a:lnTo>
                  <a:close/>
                </a:path>
              </a:pathLst>
            </a:custGeom>
            <a:solidFill>
              <a:srgbClr val="E7E9F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33487" y="4578349"/>
              <a:ext cx="71437" cy="150812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1625599" y="4292824"/>
            <a:ext cx="2633345" cy="672465"/>
          </a:xfrm>
          <a:prstGeom prst="rect">
            <a:avLst/>
          </a:prstGeom>
        </p:spPr>
        <p:txBody>
          <a:bodyPr wrap="square" lIns="0" tIns="787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dirty="0" sz="1200" spc="120" b="1">
                <a:solidFill>
                  <a:srgbClr val="414141"/>
                </a:solidFill>
                <a:latin typeface="Trebuchet MS"/>
                <a:cs typeface="Trebuchet MS"/>
              </a:rPr>
              <a:t>Suggest</a:t>
            </a:r>
            <a:r>
              <a:rPr dirty="0" sz="1200" spc="-105" b="1">
                <a:solidFill>
                  <a:srgbClr val="414141"/>
                </a:solidFill>
                <a:latin typeface="Trebuchet MS"/>
                <a:cs typeface="Trebuchet MS"/>
              </a:rPr>
              <a:t> </a:t>
            </a:r>
            <a:r>
              <a:rPr dirty="0" sz="1200" spc="80" b="1">
                <a:solidFill>
                  <a:srgbClr val="414141"/>
                </a:solidFill>
                <a:latin typeface="Trebuchet MS"/>
                <a:cs typeface="Trebuchet MS"/>
              </a:rPr>
              <a:t>Edge</a:t>
            </a:r>
            <a:r>
              <a:rPr dirty="0" sz="1200" spc="-100" b="1">
                <a:solidFill>
                  <a:srgbClr val="414141"/>
                </a:solidFill>
                <a:latin typeface="Trebuchet MS"/>
                <a:cs typeface="Trebuchet MS"/>
              </a:rPr>
              <a:t> </a:t>
            </a:r>
            <a:r>
              <a:rPr dirty="0" sz="1200" spc="114" b="1">
                <a:solidFill>
                  <a:srgbClr val="414141"/>
                </a:solidFill>
                <a:latin typeface="Trebuchet MS"/>
                <a:cs typeface="Trebuchet MS"/>
              </a:rPr>
              <a:t>Cases</a:t>
            </a:r>
            <a:endParaRPr sz="1200">
              <a:latin typeface="Trebuchet MS"/>
              <a:cs typeface="Trebuchet MS"/>
            </a:endParaRPr>
          </a:p>
          <a:p>
            <a:pPr marL="12700" marR="5080">
              <a:lnSpc>
                <a:spcPct val="107100"/>
              </a:lnSpc>
              <a:spcBef>
                <a:spcPts val="420"/>
              </a:spcBef>
            </a:pPr>
            <a:r>
              <a:rPr dirty="0" sz="1050">
                <a:solidFill>
                  <a:srgbClr val="747474"/>
                </a:solidFill>
                <a:latin typeface="Microsoft Sans Serif"/>
                <a:cs typeface="Microsoft Sans Serif"/>
              </a:rPr>
              <a:t>Identify</a:t>
            </a:r>
            <a:r>
              <a:rPr dirty="0" sz="1050" spc="-10">
                <a:solidFill>
                  <a:srgbClr val="74747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747474"/>
                </a:solidFill>
                <a:latin typeface="Microsoft Sans Serif"/>
                <a:cs typeface="Microsoft Sans Serif"/>
              </a:rPr>
              <a:t>missing</a:t>
            </a:r>
            <a:r>
              <a:rPr dirty="0" sz="1050" spc="-10">
                <a:solidFill>
                  <a:srgbClr val="74747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747474"/>
                </a:solidFill>
                <a:latin typeface="Microsoft Sans Serif"/>
                <a:cs typeface="Microsoft Sans Serif"/>
              </a:rPr>
              <a:t>edge</a:t>
            </a:r>
            <a:r>
              <a:rPr dirty="0" sz="1050" spc="-10">
                <a:solidFill>
                  <a:srgbClr val="74747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747474"/>
                </a:solidFill>
                <a:latin typeface="Microsoft Sans Serif"/>
                <a:cs typeface="Microsoft Sans Serif"/>
              </a:rPr>
              <a:t>cases</a:t>
            </a:r>
            <a:r>
              <a:rPr dirty="0" sz="1050" spc="-10">
                <a:solidFill>
                  <a:srgbClr val="74747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747474"/>
                </a:solidFill>
                <a:latin typeface="Microsoft Sans Serif"/>
                <a:cs typeface="Microsoft Sans Serif"/>
              </a:rPr>
              <a:t>and</a:t>
            </a:r>
            <a:r>
              <a:rPr dirty="0" sz="1050" spc="-10">
                <a:solidFill>
                  <a:srgbClr val="74747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747474"/>
                </a:solidFill>
                <a:latin typeface="Microsoft Sans Serif"/>
                <a:cs typeface="Microsoft Sans Serif"/>
              </a:rPr>
              <a:t>acceptance checks</a:t>
            </a:r>
            <a:endParaRPr sz="1050">
              <a:latin typeface="Microsoft Sans Serif"/>
              <a:cs typeface="Microsoft Sans Serif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61999" y="5353396"/>
            <a:ext cx="88265" cy="989965"/>
          </a:xfrm>
          <a:custGeom>
            <a:avLst/>
            <a:gdLst/>
            <a:ahLst/>
            <a:cxnLst/>
            <a:rect l="l" t="t" r="r" b="b"/>
            <a:pathLst>
              <a:path w="88265" h="989964">
                <a:moveTo>
                  <a:pt x="88062" y="989905"/>
                </a:moveTo>
                <a:lnTo>
                  <a:pt x="50304" y="978992"/>
                </a:lnTo>
                <a:lnTo>
                  <a:pt x="16037" y="947929"/>
                </a:lnTo>
                <a:lnTo>
                  <a:pt x="453" y="904385"/>
                </a:lnTo>
                <a:lnTo>
                  <a:pt x="0" y="895002"/>
                </a:lnTo>
                <a:lnTo>
                  <a:pt x="0" y="94902"/>
                </a:lnTo>
                <a:lnTo>
                  <a:pt x="11259" y="49956"/>
                </a:lnTo>
                <a:lnTo>
                  <a:pt x="42321" y="15690"/>
                </a:lnTo>
                <a:lnTo>
                  <a:pt x="85866" y="105"/>
                </a:lnTo>
                <a:lnTo>
                  <a:pt x="88061" y="0"/>
                </a:lnTo>
                <a:lnTo>
                  <a:pt x="82859" y="2069"/>
                </a:lnTo>
                <a:lnTo>
                  <a:pt x="77024" y="6903"/>
                </a:lnTo>
                <a:lnTo>
                  <a:pt x="55643" y="41974"/>
                </a:lnTo>
                <a:lnTo>
                  <a:pt x="47851" y="85519"/>
                </a:lnTo>
                <a:lnTo>
                  <a:pt x="47625" y="94902"/>
                </a:lnTo>
                <a:lnTo>
                  <a:pt x="47625" y="895002"/>
                </a:lnTo>
                <a:lnTo>
                  <a:pt x="53254" y="939948"/>
                </a:lnTo>
                <a:lnTo>
                  <a:pt x="72776" y="978992"/>
                </a:lnTo>
                <a:lnTo>
                  <a:pt x="82859" y="987835"/>
                </a:lnTo>
                <a:lnTo>
                  <a:pt x="88062" y="989905"/>
                </a:lnTo>
                <a:close/>
              </a:path>
            </a:pathLst>
          </a:custGeom>
          <a:solidFill>
            <a:srgbClr val="DFDFD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6" name="object 16"/>
          <p:cNvGrpSpPr/>
          <p:nvPr/>
        </p:nvGrpSpPr>
        <p:grpSpPr>
          <a:xfrm>
            <a:off x="1038224" y="5629274"/>
            <a:ext cx="428625" cy="428625"/>
            <a:chOff x="1038224" y="5629274"/>
            <a:chExt cx="428625" cy="428625"/>
          </a:xfrm>
        </p:grpSpPr>
        <p:sp>
          <p:nvSpPr>
            <p:cNvPr id="17" name="object 17"/>
            <p:cNvSpPr/>
            <p:nvPr/>
          </p:nvSpPr>
          <p:spPr>
            <a:xfrm>
              <a:off x="1038224" y="5629274"/>
              <a:ext cx="428625" cy="428625"/>
            </a:xfrm>
            <a:custGeom>
              <a:avLst/>
              <a:gdLst/>
              <a:ahLst/>
              <a:cxnLst/>
              <a:rect l="l" t="t" r="r" b="b"/>
              <a:pathLst>
                <a:path w="428625" h="428625">
                  <a:moveTo>
                    <a:pt x="357428" y="428624"/>
                  </a:moveTo>
                  <a:lnTo>
                    <a:pt x="71196" y="428624"/>
                  </a:lnTo>
                  <a:lnTo>
                    <a:pt x="66241" y="428136"/>
                  </a:lnTo>
                  <a:lnTo>
                    <a:pt x="29705" y="413003"/>
                  </a:lnTo>
                  <a:lnTo>
                    <a:pt x="3885" y="376962"/>
                  </a:lnTo>
                  <a:lnTo>
                    <a:pt x="0" y="352424"/>
                  </a:lnTo>
                  <a:lnTo>
                    <a:pt x="0" y="71196"/>
                  </a:lnTo>
                  <a:lnTo>
                    <a:pt x="15621" y="29704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357428" y="0"/>
                  </a:lnTo>
                  <a:lnTo>
                    <a:pt x="398919" y="15621"/>
                  </a:lnTo>
                  <a:lnTo>
                    <a:pt x="424739" y="51661"/>
                  </a:lnTo>
                  <a:lnTo>
                    <a:pt x="428624" y="71196"/>
                  </a:lnTo>
                  <a:lnTo>
                    <a:pt x="428624" y="357428"/>
                  </a:lnTo>
                  <a:lnTo>
                    <a:pt x="413003" y="398919"/>
                  </a:lnTo>
                  <a:lnTo>
                    <a:pt x="376962" y="424738"/>
                  </a:lnTo>
                  <a:lnTo>
                    <a:pt x="357428" y="428624"/>
                  </a:lnTo>
                  <a:close/>
                </a:path>
              </a:pathLst>
            </a:custGeom>
            <a:solidFill>
              <a:srgbClr val="DF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1185849" y="5792799"/>
              <a:ext cx="139065" cy="127000"/>
            </a:xfrm>
            <a:custGeom>
              <a:avLst/>
              <a:gdLst/>
              <a:ahLst/>
              <a:cxnLst/>
              <a:rect l="l" t="t" r="r" b="b"/>
              <a:pathLst>
                <a:path w="139065" h="127000">
                  <a:moveTo>
                    <a:pt x="71437" y="0"/>
                  </a:moveTo>
                  <a:lnTo>
                    <a:pt x="0" y="0"/>
                  </a:lnTo>
                  <a:lnTo>
                    <a:pt x="0" y="111125"/>
                  </a:lnTo>
                  <a:lnTo>
                    <a:pt x="71437" y="111125"/>
                  </a:lnTo>
                  <a:lnTo>
                    <a:pt x="71437" y="0"/>
                  </a:lnTo>
                  <a:close/>
                </a:path>
                <a:path w="139065" h="127000">
                  <a:moveTo>
                    <a:pt x="138912" y="71437"/>
                  </a:moveTo>
                  <a:lnTo>
                    <a:pt x="127000" y="71437"/>
                  </a:lnTo>
                  <a:lnTo>
                    <a:pt x="127000" y="55562"/>
                  </a:lnTo>
                  <a:lnTo>
                    <a:pt x="111125" y="55562"/>
                  </a:lnTo>
                  <a:lnTo>
                    <a:pt x="111125" y="71437"/>
                  </a:lnTo>
                  <a:lnTo>
                    <a:pt x="99225" y="71437"/>
                  </a:lnTo>
                  <a:lnTo>
                    <a:pt x="99225" y="127000"/>
                  </a:lnTo>
                  <a:lnTo>
                    <a:pt x="138912" y="127000"/>
                  </a:lnTo>
                  <a:lnTo>
                    <a:pt x="138912" y="71437"/>
                  </a:lnTo>
                  <a:close/>
                </a:path>
              </a:pathLst>
            </a:custGeom>
            <a:solidFill>
              <a:srgbClr val="4DB5A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1625599" y="5483449"/>
            <a:ext cx="2379980" cy="672465"/>
          </a:xfrm>
          <a:prstGeom prst="rect">
            <a:avLst/>
          </a:prstGeom>
        </p:spPr>
        <p:txBody>
          <a:bodyPr wrap="square" lIns="0" tIns="787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dirty="0" sz="1200" spc="90" b="1">
                <a:solidFill>
                  <a:srgbClr val="414141"/>
                </a:solidFill>
                <a:latin typeface="Trebuchet MS"/>
                <a:cs typeface="Trebuchet MS"/>
              </a:rPr>
              <a:t>Navigation</a:t>
            </a:r>
            <a:r>
              <a:rPr dirty="0" sz="1200" spc="-85" b="1">
                <a:solidFill>
                  <a:srgbClr val="414141"/>
                </a:solidFill>
                <a:latin typeface="Trebuchet MS"/>
                <a:cs typeface="Trebuchet MS"/>
              </a:rPr>
              <a:t> </a:t>
            </a:r>
            <a:r>
              <a:rPr dirty="0" sz="1200" spc="30" b="1">
                <a:solidFill>
                  <a:srgbClr val="414141"/>
                </a:solidFill>
                <a:latin typeface="Trebuchet MS"/>
                <a:cs typeface="Trebuchet MS"/>
              </a:rPr>
              <a:t>Help</a:t>
            </a:r>
            <a:endParaRPr sz="1200">
              <a:latin typeface="Trebuchet MS"/>
              <a:cs typeface="Trebuchet MS"/>
            </a:endParaRPr>
          </a:p>
          <a:p>
            <a:pPr marL="12700" marR="5080">
              <a:lnSpc>
                <a:spcPct val="107100"/>
              </a:lnSpc>
              <a:spcBef>
                <a:spcPts val="420"/>
              </a:spcBef>
            </a:pPr>
            <a:r>
              <a:rPr dirty="0" sz="1050">
                <a:solidFill>
                  <a:srgbClr val="747474"/>
                </a:solidFill>
                <a:latin typeface="Microsoft Sans Serif"/>
                <a:cs typeface="Microsoft Sans Serif"/>
              </a:rPr>
              <a:t>Answer</a:t>
            </a:r>
            <a:r>
              <a:rPr dirty="0" sz="1050" spc="15">
                <a:solidFill>
                  <a:srgbClr val="74747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747474"/>
                </a:solidFill>
                <a:latin typeface="Microsoft Sans Serif"/>
                <a:cs typeface="Microsoft Sans Serif"/>
              </a:rPr>
              <a:t>"what</a:t>
            </a:r>
            <a:r>
              <a:rPr dirty="0" sz="1050" spc="15">
                <a:solidFill>
                  <a:srgbClr val="74747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747474"/>
                </a:solidFill>
                <a:latin typeface="Microsoft Sans Serif"/>
                <a:cs typeface="Microsoft Sans Serif"/>
              </a:rPr>
              <a:t>covers</a:t>
            </a:r>
            <a:r>
              <a:rPr dirty="0" sz="1050" spc="20">
                <a:solidFill>
                  <a:srgbClr val="747474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747474"/>
                </a:solidFill>
                <a:latin typeface="Microsoft Sans Serif"/>
                <a:cs typeface="Microsoft Sans Serif"/>
              </a:rPr>
              <a:t>this</a:t>
            </a:r>
            <a:r>
              <a:rPr dirty="0" sz="1050" spc="15">
                <a:solidFill>
                  <a:srgbClr val="747474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747474"/>
                </a:solidFill>
                <a:latin typeface="Microsoft Sans Serif"/>
                <a:cs typeface="Microsoft Sans Serif"/>
              </a:rPr>
              <a:t>requirement?" instantly</a:t>
            </a:r>
            <a:endParaRPr sz="1050">
              <a:latin typeface="Microsoft Sans Serif"/>
              <a:cs typeface="Microsoft Sans Serif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5340095" y="0"/>
            <a:ext cx="6852284" cy="6858000"/>
            <a:chOff x="5340095" y="0"/>
            <a:chExt cx="6852284" cy="6858000"/>
          </a:xfrm>
        </p:grpSpPr>
        <p:sp>
          <p:nvSpPr>
            <p:cNvPr id="21" name="object 21"/>
            <p:cNvSpPr/>
            <p:nvPr/>
          </p:nvSpPr>
          <p:spPr>
            <a:xfrm>
              <a:off x="5486399" y="0"/>
              <a:ext cx="6705600" cy="6858000"/>
            </a:xfrm>
            <a:custGeom>
              <a:avLst/>
              <a:gdLst/>
              <a:ahLst/>
              <a:cxnLst/>
              <a:rect l="l" t="t" r="r" b="b"/>
              <a:pathLst>
                <a:path w="6705600" h="6858000">
                  <a:moveTo>
                    <a:pt x="6705599" y="6857999"/>
                  </a:moveTo>
                  <a:lnTo>
                    <a:pt x="0" y="6857999"/>
                  </a:lnTo>
                  <a:lnTo>
                    <a:pt x="0" y="0"/>
                  </a:lnTo>
                  <a:lnTo>
                    <a:pt x="6705599" y="0"/>
                  </a:lnTo>
                  <a:lnTo>
                    <a:pt x="6705599" y="6857999"/>
                  </a:lnTo>
                  <a:close/>
                </a:path>
              </a:pathLst>
            </a:custGeom>
            <a:solidFill>
              <a:srgbClr val="F0F6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5340095" y="1149095"/>
              <a:ext cx="6852284" cy="4160520"/>
            </a:xfrm>
            <a:custGeom>
              <a:avLst/>
              <a:gdLst/>
              <a:ahLst/>
              <a:cxnLst/>
              <a:rect l="l" t="t" r="r" b="b"/>
              <a:pathLst>
                <a:path w="6852284" h="4160520">
                  <a:moveTo>
                    <a:pt x="6851903" y="4160519"/>
                  </a:moveTo>
                  <a:lnTo>
                    <a:pt x="0" y="4160519"/>
                  </a:lnTo>
                  <a:lnTo>
                    <a:pt x="0" y="0"/>
                  </a:lnTo>
                  <a:lnTo>
                    <a:pt x="6851903" y="0"/>
                  </a:lnTo>
                  <a:lnTo>
                    <a:pt x="6851903" y="479678"/>
                  </a:lnTo>
                  <a:lnTo>
                    <a:pt x="784478" y="479678"/>
                  </a:lnTo>
                  <a:lnTo>
                    <a:pt x="773219" y="480222"/>
                  </a:lnTo>
                  <a:lnTo>
                    <a:pt x="730542" y="493190"/>
                  </a:lnTo>
                  <a:lnTo>
                    <a:pt x="696078" y="521502"/>
                  </a:lnTo>
                  <a:lnTo>
                    <a:pt x="675072" y="560848"/>
                  </a:lnTo>
                  <a:lnTo>
                    <a:pt x="670178" y="593978"/>
                  </a:lnTo>
                  <a:lnTo>
                    <a:pt x="670178" y="3184778"/>
                  </a:lnTo>
                  <a:lnTo>
                    <a:pt x="678878" y="3228519"/>
                  </a:lnTo>
                  <a:lnTo>
                    <a:pt x="703656" y="3265601"/>
                  </a:lnTo>
                  <a:lnTo>
                    <a:pt x="740737" y="3290378"/>
                  </a:lnTo>
                  <a:lnTo>
                    <a:pt x="784478" y="3299078"/>
                  </a:lnTo>
                  <a:lnTo>
                    <a:pt x="6851903" y="3299078"/>
                  </a:lnTo>
                  <a:lnTo>
                    <a:pt x="6851903" y="4160519"/>
                  </a:lnTo>
                  <a:close/>
                </a:path>
                <a:path w="6852284" h="4160520">
                  <a:moveTo>
                    <a:pt x="6851903" y="3299078"/>
                  </a:moveTo>
                  <a:lnTo>
                    <a:pt x="6213728" y="3299078"/>
                  </a:lnTo>
                  <a:lnTo>
                    <a:pt x="6224988" y="3298534"/>
                  </a:lnTo>
                  <a:lnTo>
                    <a:pt x="6236031" y="3296903"/>
                  </a:lnTo>
                  <a:lnTo>
                    <a:pt x="6277240" y="3279833"/>
                  </a:lnTo>
                  <a:lnTo>
                    <a:pt x="6308781" y="3248292"/>
                  </a:lnTo>
                  <a:lnTo>
                    <a:pt x="6325852" y="3207081"/>
                  </a:lnTo>
                  <a:lnTo>
                    <a:pt x="6328028" y="3184778"/>
                  </a:lnTo>
                  <a:lnTo>
                    <a:pt x="6328028" y="593978"/>
                  </a:lnTo>
                  <a:lnTo>
                    <a:pt x="6319326" y="550238"/>
                  </a:lnTo>
                  <a:lnTo>
                    <a:pt x="6294549" y="513156"/>
                  </a:lnTo>
                  <a:lnTo>
                    <a:pt x="6257467" y="488379"/>
                  </a:lnTo>
                  <a:lnTo>
                    <a:pt x="6213728" y="479678"/>
                  </a:lnTo>
                  <a:lnTo>
                    <a:pt x="6851903" y="479678"/>
                  </a:lnTo>
                  <a:lnTo>
                    <a:pt x="6851903" y="3299078"/>
                  </a:lnTo>
                  <a:close/>
                </a:path>
              </a:pathLst>
            </a:custGeom>
            <a:solidFill>
              <a:srgbClr val="41A5F5">
                <a:alpha val="148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6034086" y="1652587"/>
              <a:ext cx="5610225" cy="2771775"/>
            </a:xfrm>
            <a:custGeom>
              <a:avLst/>
              <a:gdLst/>
              <a:ahLst/>
              <a:cxnLst/>
              <a:rect l="l" t="t" r="r" b="b"/>
              <a:pathLst>
                <a:path w="5610225" h="2771775">
                  <a:moveTo>
                    <a:pt x="0" y="2681287"/>
                  </a:moveTo>
                  <a:lnTo>
                    <a:pt x="0" y="90487"/>
                  </a:lnTo>
                  <a:lnTo>
                    <a:pt x="0" y="84545"/>
                  </a:lnTo>
                  <a:lnTo>
                    <a:pt x="579" y="78661"/>
                  </a:lnTo>
                  <a:lnTo>
                    <a:pt x="1738" y="72834"/>
                  </a:lnTo>
                  <a:lnTo>
                    <a:pt x="2898" y="67006"/>
                  </a:lnTo>
                  <a:lnTo>
                    <a:pt x="4614" y="61348"/>
                  </a:lnTo>
                  <a:lnTo>
                    <a:pt x="6887" y="55859"/>
                  </a:lnTo>
                  <a:lnTo>
                    <a:pt x="9161" y="50369"/>
                  </a:lnTo>
                  <a:lnTo>
                    <a:pt x="11948" y="45155"/>
                  </a:lnTo>
                  <a:lnTo>
                    <a:pt x="15249" y="40215"/>
                  </a:lnTo>
                  <a:lnTo>
                    <a:pt x="18550" y="35274"/>
                  </a:lnTo>
                  <a:lnTo>
                    <a:pt x="22302" y="30704"/>
                  </a:lnTo>
                  <a:lnTo>
                    <a:pt x="26503" y="26503"/>
                  </a:lnTo>
                  <a:lnTo>
                    <a:pt x="30704" y="22301"/>
                  </a:lnTo>
                  <a:lnTo>
                    <a:pt x="35275" y="18550"/>
                  </a:lnTo>
                  <a:lnTo>
                    <a:pt x="40215" y="15249"/>
                  </a:lnTo>
                  <a:lnTo>
                    <a:pt x="45155" y="11948"/>
                  </a:lnTo>
                  <a:lnTo>
                    <a:pt x="72834" y="1738"/>
                  </a:lnTo>
                  <a:lnTo>
                    <a:pt x="78661" y="579"/>
                  </a:lnTo>
                  <a:lnTo>
                    <a:pt x="84545" y="0"/>
                  </a:lnTo>
                  <a:lnTo>
                    <a:pt x="90488" y="0"/>
                  </a:lnTo>
                  <a:lnTo>
                    <a:pt x="5519737" y="0"/>
                  </a:lnTo>
                  <a:lnTo>
                    <a:pt x="5525679" y="0"/>
                  </a:lnTo>
                  <a:lnTo>
                    <a:pt x="5531562" y="579"/>
                  </a:lnTo>
                  <a:lnTo>
                    <a:pt x="5537388" y="1738"/>
                  </a:lnTo>
                  <a:lnTo>
                    <a:pt x="5543216" y="2897"/>
                  </a:lnTo>
                  <a:lnTo>
                    <a:pt x="5579520" y="22301"/>
                  </a:lnTo>
                  <a:lnTo>
                    <a:pt x="5583720" y="26503"/>
                  </a:lnTo>
                  <a:lnTo>
                    <a:pt x="5587921" y="30704"/>
                  </a:lnTo>
                  <a:lnTo>
                    <a:pt x="5591672" y="35274"/>
                  </a:lnTo>
                  <a:lnTo>
                    <a:pt x="5594973" y="40215"/>
                  </a:lnTo>
                  <a:lnTo>
                    <a:pt x="5598274" y="45155"/>
                  </a:lnTo>
                  <a:lnTo>
                    <a:pt x="5601061" y="50369"/>
                  </a:lnTo>
                  <a:lnTo>
                    <a:pt x="5603334" y="55859"/>
                  </a:lnTo>
                  <a:lnTo>
                    <a:pt x="5605609" y="61348"/>
                  </a:lnTo>
                  <a:lnTo>
                    <a:pt x="5610225" y="90487"/>
                  </a:lnTo>
                  <a:lnTo>
                    <a:pt x="5610225" y="2681287"/>
                  </a:lnTo>
                  <a:lnTo>
                    <a:pt x="5603334" y="2715914"/>
                  </a:lnTo>
                  <a:lnTo>
                    <a:pt x="5601061" y="2721404"/>
                  </a:lnTo>
                  <a:lnTo>
                    <a:pt x="5583720" y="2745271"/>
                  </a:lnTo>
                  <a:lnTo>
                    <a:pt x="5579520" y="2749472"/>
                  </a:lnTo>
                  <a:lnTo>
                    <a:pt x="5543216" y="2768876"/>
                  </a:lnTo>
                  <a:lnTo>
                    <a:pt x="5537388" y="2770035"/>
                  </a:lnTo>
                  <a:lnTo>
                    <a:pt x="5531562" y="2771194"/>
                  </a:lnTo>
                  <a:lnTo>
                    <a:pt x="5525679" y="2771774"/>
                  </a:lnTo>
                  <a:lnTo>
                    <a:pt x="5519737" y="2771774"/>
                  </a:lnTo>
                  <a:lnTo>
                    <a:pt x="90488" y="2771774"/>
                  </a:lnTo>
                  <a:lnTo>
                    <a:pt x="50370" y="2762612"/>
                  </a:lnTo>
                  <a:lnTo>
                    <a:pt x="40215" y="2756524"/>
                  </a:lnTo>
                  <a:lnTo>
                    <a:pt x="35275" y="2753223"/>
                  </a:lnTo>
                  <a:lnTo>
                    <a:pt x="30704" y="2749472"/>
                  </a:lnTo>
                  <a:lnTo>
                    <a:pt x="26503" y="2745271"/>
                  </a:lnTo>
                  <a:lnTo>
                    <a:pt x="22302" y="2741069"/>
                  </a:lnTo>
                  <a:lnTo>
                    <a:pt x="18550" y="2736499"/>
                  </a:lnTo>
                  <a:lnTo>
                    <a:pt x="15249" y="2731558"/>
                  </a:lnTo>
                  <a:lnTo>
                    <a:pt x="11948" y="2726618"/>
                  </a:lnTo>
                  <a:lnTo>
                    <a:pt x="1738" y="2698939"/>
                  </a:lnTo>
                  <a:lnTo>
                    <a:pt x="579" y="2693112"/>
                  </a:lnTo>
                  <a:lnTo>
                    <a:pt x="0" y="2687228"/>
                  </a:lnTo>
                  <a:lnTo>
                    <a:pt x="0" y="2681287"/>
                  </a:lnTo>
                  <a:close/>
                </a:path>
              </a:pathLst>
            </a:custGeom>
            <a:ln w="476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57899" y="1676400"/>
              <a:ext cx="5562599" cy="2724149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5498591" y="4431791"/>
              <a:ext cx="6681470" cy="1207135"/>
            </a:xfrm>
            <a:custGeom>
              <a:avLst/>
              <a:gdLst/>
              <a:ahLst/>
              <a:cxnLst/>
              <a:rect l="l" t="t" r="r" b="b"/>
              <a:pathLst>
                <a:path w="6681470" h="1207135">
                  <a:moveTo>
                    <a:pt x="6681215" y="1207007"/>
                  </a:moveTo>
                  <a:lnTo>
                    <a:pt x="0" y="1207007"/>
                  </a:lnTo>
                  <a:lnTo>
                    <a:pt x="0" y="0"/>
                  </a:lnTo>
                  <a:lnTo>
                    <a:pt x="6681215" y="0"/>
                  </a:lnTo>
                  <a:lnTo>
                    <a:pt x="6681215" y="264032"/>
                  </a:lnTo>
                  <a:lnTo>
                    <a:pt x="425957" y="264032"/>
                  </a:lnTo>
                  <a:lnTo>
                    <a:pt x="417512" y="264440"/>
                  </a:lnTo>
                  <a:lnTo>
                    <a:pt x="378321" y="278466"/>
                  </a:lnTo>
                  <a:lnTo>
                    <a:pt x="350365" y="309305"/>
                  </a:lnTo>
                  <a:lnTo>
                    <a:pt x="340232" y="349757"/>
                  </a:lnTo>
                  <a:lnTo>
                    <a:pt x="340232" y="702182"/>
                  </a:lnTo>
                  <a:lnTo>
                    <a:pt x="350365" y="742633"/>
                  </a:lnTo>
                  <a:lnTo>
                    <a:pt x="378321" y="773473"/>
                  </a:lnTo>
                  <a:lnTo>
                    <a:pt x="417512" y="787499"/>
                  </a:lnTo>
                  <a:lnTo>
                    <a:pt x="425957" y="787907"/>
                  </a:lnTo>
                  <a:lnTo>
                    <a:pt x="6681215" y="787907"/>
                  </a:lnTo>
                  <a:lnTo>
                    <a:pt x="6681215" y="1207007"/>
                  </a:lnTo>
                  <a:close/>
                </a:path>
                <a:path w="6681470" h="1207135">
                  <a:moveTo>
                    <a:pt x="6681215" y="787907"/>
                  </a:moveTo>
                  <a:lnTo>
                    <a:pt x="6255257" y="787907"/>
                  </a:lnTo>
                  <a:lnTo>
                    <a:pt x="6263702" y="787499"/>
                  </a:lnTo>
                  <a:lnTo>
                    <a:pt x="6271984" y="786276"/>
                  </a:lnTo>
                  <a:lnTo>
                    <a:pt x="6309613" y="768482"/>
                  </a:lnTo>
                  <a:lnTo>
                    <a:pt x="6334455" y="734987"/>
                  </a:lnTo>
                  <a:lnTo>
                    <a:pt x="6340982" y="702182"/>
                  </a:lnTo>
                  <a:lnTo>
                    <a:pt x="6340982" y="349757"/>
                  </a:lnTo>
                  <a:lnTo>
                    <a:pt x="6330847" y="309305"/>
                  </a:lnTo>
                  <a:lnTo>
                    <a:pt x="6302892" y="278466"/>
                  </a:lnTo>
                  <a:lnTo>
                    <a:pt x="6263702" y="264440"/>
                  </a:lnTo>
                  <a:lnTo>
                    <a:pt x="6255257" y="264032"/>
                  </a:lnTo>
                  <a:lnTo>
                    <a:pt x="6681215" y="264032"/>
                  </a:lnTo>
                  <a:lnTo>
                    <a:pt x="6681215" y="787907"/>
                  </a:lnTo>
                  <a:close/>
                </a:path>
              </a:pathLst>
            </a:custGeom>
            <a:solidFill>
              <a:srgbClr val="000000">
                <a:alpha val="587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5848349" y="4686299"/>
              <a:ext cx="6000750" cy="542925"/>
            </a:xfrm>
            <a:custGeom>
              <a:avLst/>
              <a:gdLst/>
              <a:ahLst/>
              <a:cxnLst/>
              <a:rect l="l" t="t" r="r" b="b"/>
              <a:pathLst>
                <a:path w="6000750" h="542925">
                  <a:moveTo>
                    <a:pt x="5911752" y="542924"/>
                  </a:moveTo>
                  <a:lnTo>
                    <a:pt x="71196" y="542924"/>
                  </a:lnTo>
                  <a:lnTo>
                    <a:pt x="66240" y="542314"/>
                  </a:lnTo>
                  <a:lnTo>
                    <a:pt x="29705" y="523397"/>
                  </a:lnTo>
                  <a:lnTo>
                    <a:pt x="7714" y="489903"/>
                  </a:lnTo>
                  <a:lnTo>
                    <a:pt x="0" y="453929"/>
                  </a:lnTo>
                  <a:lnTo>
                    <a:pt x="0" y="447674"/>
                  </a:lnTo>
                  <a:lnTo>
                    <a:pt x="0" y="88995"/>
                  </a:lnTo>
                  <a:lnTo>
                    <a:pt x="10062" y="47531"/>
                  </a:lnTo>
                  <a:lnTo>
                    <a:pt x="38025" y="12577"/>
                  </a:lnTo>
                  <a:lnTo>
                    <a:pt x="71196" y="0"/>
                  </a:lnTo>
                  <a:lnTo>
                    <a:pt x="5911752" y="0"/>
                  </a:lnTo>
                  <a:lnTo>
                    <a:pt x="5953216" y="12577"/>
                  </a:lnTo>
                  <a:lnTo>
                    <a:pt x="5988171" y="47531"/>
                  </a:lnTo>
                  <a:lnTo>
                    <a:pt x="6000748" y="88995"/>
                  </a:lnTo>
                  <a:lnTo>
                    <a:pt x="6000748" y="453929"/>
                  </a:lnTo>
                  <a:lnTo>
                    <a:pt x="5988171" y="495393"/>
                  </a:lnTo>
                  <a:lnTo>
                    <a:pt x="5953216" y="530346"/>
                  </a:lnTo>
                  <a:lnTo>
                    <a:pt x="5917946" y="542314"/>
                  </a:lnTo>
                  <a:lnTo>
                    <a:pt x="5911752" y="5429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5829299" y="4686728"/>
              <a:ext cx="86995" cy="542290"/>
            </a:xfrm>
            <a:custGeom>
              <a:avLst/>
              <a:gdLst/>
              <a:ahLst/>
              <a:cxnLst/>
              <a:rect l="l" t="t" r="r" b="b"/>
              <a:pathLst>
                <a:path w="86995" h="542289">
                  <a:moveTo>
                    <a:pt x="86379" y="542067"/>
                  </a:moveTo>
                  <a:lnTo>
                    <a:pt x="42321" y="526457"/>
                  </a:lnTo>
                  <a:lnTo>
                    <a:pt x="11259" y="492191"/>
                  </a:lnTo>
                  <a:lnTo>
                    <a:pt x="0" y="447246"/>
                  </a:lnTo>
                  <a:lnTo>
                    <a:pt x="0" y="94821"/>
                  </a:lnTo>
                  <a:lnTo>
                    <a:pt x="11259" y="49875"/>
                  </a:lnTo>
                  <a:lnTo>
                    <a:pt x="42321" y="15608"/>
                  </a:lnTo>
                  <a:lnTo>
                    <a:pt x="86378" y="0"/>
                  </a:lnTo>
                  <a:lnTo>
                    <a:pt x="80380" y="1988"/>
                  </a:lnTo>
                  <a:lnTo>
                    <a:pt x="73379" y="6821"/>
                  </a:lnTo>
                  <a:lnTo>
                    <a:pt x="47722" y="41893"/>
                  </a:lnTo>
                  <a:lnTo>
                    <a:pt x="38372" y="85438"/>
                  </a:lnTo>
                  <a:lnTo>
                    <a:pt x="38100" y="94821"/>
                  </a:lnTo>
                  <a:lnTo>
                    <a:pt x="38100" y="447246"/>
                  </a:lnTo>
                  <a:lnTo>
                    <a:pt x="44855" y="492191"/>
                  </a:lnTo>
                  <a:lnTo>
                    <a:pt x="63493" y="526457"/>
                  </a:lnTo>
                  <a:lnTo>
                    <a:pt x="80380" y="540079"/>
                  </a:lnTo>
                  <a:lnTo>
                    <a:pt x="86379" y="542067"/>
                  </a:lnTo>
                  <a:close/>
                </a:path>
              </a:pathLst>
            </a:custGeom>
            <a:solidFill>
              <a:srgbClr val="FF98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/>
          <p:cNvSpPr txBox="1"/>
          <p:nvPr/>
        </p:nvSpPr>
        <p:spPr>
          <a:xfrm>
            <a:off x="6064249" y="4843264"/>
            <a:ext cx="3780154" cy="21082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150" spc="-35" b="1">
                <a:solidFill>
                  <a:srgbClr val="F57C00"/>
                </a:solidFill>
                <a:latin typeface="Arial"/>
                <a:cs typeface="Arial"/>
              </a:rPr>
              <a:t>Human</a:t>
            </a:r>
            <a:r>
              <a:rPr dirty="0" sz="1200" spc="-35" b="1">
                <a:solidFill>
                  <a:srgbClr val="F57C00"/>
                </a:solidFill>
                <a:latin typeface="Arial"/>
                <a:cs typeface="Arial"/>
              </a:rPr>
              <a:t>-</a:t>
            </a:r>
            <a:r>
              <a:rPr dirty="0" sz="1150" spc="-35" b="1">
                <a:solidFill>
                  <a:srgbClr val="F57C00"/>
                </a:solidFill>
                <a:latin typeface="Arial"/>
                <a:cs typeface="Arial"/>
              </a:rPr>
              <a:t>reviewed</a:t>
            </a:r>
            <a:r>
              <a:rPr dirty="0" sz="1200" spc="-35" b="1">
                <a:solidFill>
                  <a:srgbClr val="F57C00"/>
                </a:solidFill>
                <a:latin typeface="Arial"/>
                <a:cs typeface="Arial"/>
              </a:rPr>
              <a:t>:</a:t>
            </a:r>
            <a:r>
              <a:rPr dirty="0" sz="1200" spc="-50" b="1">
                <a:solidFill>
                  <a:srgbClr val="F57C00"/>
                </a:solidFill>
                <a:latin typeface="Arial"/>
                <a:cs typeface="Arial"/>
              </a:rPr>
              <a:t> </a:t>
            </a:r>
            <a:r>
              <a:rPr dirty="0" sz="1150" spc="-30">
                <a:solidFill>
                  <a:srgbClr val="616161"/>
                </a:solidFill>
                <a:latin typeface="Microsoft Sans Serif"/>
                <a:cs typeface="Microsoft Sans Serif"/>
              </a:rPr>
              <a:t>AI</a:t>
            </a:r>
            <a:r>
              <a:rPr dirty="0" sz="1150" spc="-40">
                <a:solidFill>
                  <a:srgbClr val="616161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20">
                <a:solidFill>
                  <a:srgbClr val="616161"/>
                </a:solidFill>
                <a:latin typeface="Microsoft Sans Serif"/>
                <a:cs typeface="Microsoft Sans Serif"/>
              </a:rPr>
              <a:t>speeds</a:t>
            </a:r>
            <a:r>
              <a:rPr dirty="0" sz="1150" spc="-35">
                <a:solidFill>
                  <a:srgbClr val="616161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616161"/>
                </a:solidFill>
                <a:latin typeface="Microsoft Sans Serif"/>
                <a:cs typeface="Microsoft Sans Serif"/>
              </a:rPr>
              <a:t>up</a:t>
            </a:r>
            <a:r>
              <a:rPr dirty="0" sz="1150" spc="-30">
                <a:solidFill>
                  <a:srgbClr val="616161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616161"/>
                </a:solidFill>
                <a:latin typeface="Microsoft Sans Serif"/>
                <a:cs typeface="Microsoft Sans Serif"/>
              </a:rPr>
              <a:t>writing,</a:t>
            </a:r>
            <a:r>
              <a:rPr dirty="0" sz="1150" spc="-30">
                <a:solidFill>
                  <a:srgbClr val="616161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616161"/>
                </a:solidFill>
                <a:latin typeface="Microsoft Sans Serif"/>
                <a:cs typeface="Microsoft Sans Serif"/>
              </a:rPr>
              <a:t>you</a:t>
            </a:r>
            <a:r>
              <a:rPr dirty="0" sz="1150" spc="-35">
                <a:solidFill>
                  <a:srgbClr val="616161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616161"/>
                </a:solidFill>
                <a:latin typeface="Microsoft Sans Serif"/>
                <a:cs typeface="Microsoft Sans Serif"/>
              </a:rPr>
              <a:t>own</a:t>
            </a:r>
            <a:r>
              <a:rPr dirty="0" sz="1150" spc="-30">
                <a:solidFill>
                  <a:srgbClr val="616161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616161"/>
                </a:solidFill>
                <a:latin typeface="Microsoft Sans Serif"/>
                <a:cs typeface="Microsoft Sans Serif"/>
              </a:rPr>
              <a:t>final</a:t>
            </a:r>
            <a:r>
              <a:rPr dirty="0" sz="1150" spc="-35">
                <a:solidFill>
                  <a:srgbClr val="616161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20">
                <a:solidFill>
                  <a:srgbClr val="616161"/>
                </a:solidFill>
                <a:latin typeface="Microsoft Sans Serif"/>
                <a:cs typeface="Microsoft Sans Serif"/>
              </a:rPr>
              <a:t>spec</a:t>
            </a:r>
            <a:endParaRPr sz="1150">
              <a:latin typeface="Microsoft Sans Serif"/>
              <a:cs typeface="Microsoft Sans Serif"/>
            </a:endParaRPr>
          </a:p>
        </p:txBody>
      </p:sp>
      <p:pic>
        <p:nvPicPr>
          <p:cNvPr id="29" name="object 2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706099" y="6429374"/>
            <a:ext cx="114300" cy="114300"/>
          </a:xfrm>
          <a:prstGeom prst="rect">
            <a:avLst/>
          </a:prstGeom>
        </p:spPr>
      </p:pic>
      <p:sp>
        <p:nvSpPr>
          <p:cNvPr id="30" name="object 30"/>
          <p:cNvSpPr txBox="1"/>
          <p:nvPr/>
        </p:nvSpPr>
        <p:spPr>
          <a:xfrm>
            <a:off x="10901014" y="6391909"/>
            <a:ext cx="913130" cy="185420"/>
          </a:xfrm>
          <a:prstGeom prst="rect">
            <a:avLst/>
          </a:prstGeom>
        </p:spPr>
        <p:txBody>
          <a:bodyPr wrap="square" lIns="0" tIns="184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z="900" spc="114" b="1">
                <a:solidFill>
                  <a:srgbClr val="747474"/>
                </a:solidFill>
                <a:latin typeface="Trebuchet MS"/>
                <a:cs typeface="Trebuchet MS"/>
              </a:rPr>
              <a:t>AUTOMASPEC</a:t>
            </a:r>
            <a:endParaRPr sz="9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999" y="571499"/>
            <a:ext cx="57150" cy="619125"/>
          </a:xfrm>
          <a:custGeom>
            <a:avLst/>
            <a:gdLst/>
            <a:ahLst/>
            <a:cxnLst/>
            <a:rect l="l" t="t" r="r" b="b"/>
            <a:pathLst>
              <a:path w="57150" h="619125">
                <a:moveTo>
                  <a:pt x="32364" y="619124"/>
                </a:moveTo>
                <a:lnTo>
                  <a:pt x="24785" y="619124"/>
                </a:lnTo>
                <a:lnTo>
                  <a:pt x="21140" y="618399"/>
                </a:lnTo>
                <a:lnTo>
                  <a:pt x="0" y="594339"/>
                </a:lnTo>
                <a:lnTo>
                  <a:pt x="0" y="590549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49" y="24785"/>
                </a:lnTo>
                <a:lnTo>
                  <a:pt x="57149" y="594339"/>
                </a:lnTo>
                <a:lnTo>
                  <a:pt x="36009" y="618399"/>
                </a:lnTo>
                <a:lnTo>
                  <a:pt x="32364" y="619124"/>
                </a:lnTo>
                <a:close/>
              </a:path>
            </a:pathLst>
          </a:custGeom>
          <a:solidFill>
            <a:srgbClr val="41A5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044575" y="749300"/>
            <a:ext cx="1367155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275" b="1">
                <a:solidFill>
                  <a:srgbClr val="4DB5AB"/>
                </a:solidFill>
                <a:latin typeface="Arial Narrow"/>
                <a:cs typeface="Arial Narrow"/>
              </a:rPr>
              <a:t>COMPARISON</a:t>
            </a:r>
            <a:endParaRPr sz="1350">
              <a:latin typeface="Arial Narrow"/>
              <a:cs typeface="Arial Narrow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41275">
              <a:lnSpc>
                <a:spcPct val="100000"/>
              </a:lnSpc>
              <a:spcBef>
                <a:spcPts val="100"/>
              </a:spcBef>
            </a:pPr>
            <a:r>
              <a:rPr dirty="0" spc="335"/>
              <a:t>Automaspec</a:t>
            </a:r>
            <a:r>
              <a:rPr dirty="0" spc="-315"/>
              <a:t> </a:t>
            </a:r>
            <a:r>
              <a:rPr dirty="0" spc="395"/>
              <a:t>vs</a:t>
            </a:r>
            <a:r>
              <a:rPr dirty="0" spc="-310"/>
              <a:t> </a:t>
            </a:r>
            <a:r>
              <a:rPr dirty="0" spc="140"/>
              <a:t>Jira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1999" y="2447924"/>
            <a:ext cx="10667999" cy="383857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863725" y="2940050"/>
            <a:ext cx="553720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75" b="1">
                <a:solidFill>
                  <a:srgbClr val="202020"/>
                </a:solidFill>
                <a:latin typeface="Trebuchet MS"/>
                <a:cs typeface="Trebuchet MS"/>
              </a:rPr>
              <a:t>Jira</a:t>
            </a:r>
            <a:endParaRPr sz="21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20799" y="3711136"/>
            <a:ext cx="1956435" cy="2432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00" spc="-35">
                <a:solidFill>
                  <a:srgbClr val="414141"/>
                </a:solidFill>
                <a:latin typeface="Microsoft Sans Serif"/>
                <a:cs typeface="Microsoft Sans Serif"/>
              </a:rPr>
              <a:t>Planning</a:t>
            </a:r>
            <a:r>
              <a:rPr dirty="0" sz="1400" spc="-25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90">
                <a:solidFill>
                  <a:srgbClr val="414141"/>
                </a:solidFill>
                <a:latin typeface="Comic Sans MS"/>
                <a:cs typeface="Comic Sans MS"/>
              </a:rPr>
              <a:t>&amp;</a:t>
            </a:r>
            <a:r>
              <a:rPr dirty="0" sz="1400" spc="-65">
                <a:solidFill>
                  <a:srgbClr val="414141"/>
                </a:solidFill>
                <a:latin typeface="Comic Sans MS"/>
                <a:cs typeface="Comic Sans MS"/>
              </a:rPr>
              <a:t> </a:t>
            </a:r>
            <a:r>
              <a:rPr dirty="0" sz="1400" spc="-20">
                <a:solidFill>
                  <a:srgbClr val="414141"/>
                </a:solidFill>
                <a:latin typeface="Microsoft Sans Serif"/>
                <a:cs typeface="Microsoft Sans Serif"/>
              </a:rPr>
              <a:t>Roadmapping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20799" y="4092136"/>
            <a:ext cx="1448435" cy="2432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00" spc="-50">
                <a:solidFill>
                  <a:srgbClr val="414141"/>
                </a:solidFill>
                <a:latin typeface="Microsoft Sans Serif"/>
                <a:cs typeface="Microsoft Sans Serif"/>
              </a:rPr>
              <a:t>Task</a:t>
            </a:r>
            <a:r>
              <a:rPr dirty="0" sz="1400" spc="-25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10">
                <a:solidFill>
                  <a:srgbClr val="414141"/>
                </a:solidFill>
                <a:latin typeface="Microsoft Sans Serif"/>
                <a:cs typeface="Microsoft Sans Serif"/>
              </a:rPr>
              <a:t>Management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20799" y="4473136"/>
            <a:ext cx="1045844" cy="2432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00" spc="-40">
                <a:solidFill>
                  <a:srgbClr val="414141"/>
                </a:solidFill>
                <a:latin typeface="Microsoft Sans Serif"/>
                <a:cs typeface="Microsoft Sans Serif"/>
              </a:rPr>
              <a:t>Bug</a:t>
            </a:r>
            <a:r>
              <a:rPr dirty="0" sz="1400" spc="-45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10">
                <a:solidFill>
                  <a:srgbClr val="414141"/>
                </a:solidFill>
                <a:latin typeface="Microsoft Sans Serif"/>
                <a:cs typeface="Microsoft Sans Serif"/>
              </a:rPr>
              <a:t>Tracking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20799" y="4854136"/>
            <a:ext cx="1006475" cy="2432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00" spc="-10">
                <a:solidFill>
                  <a:srgbClr val="414141"/>
                </a:solidFill>
                <a:latin typeface="Microsoft Sans Serif"/>
                <a:cs typeface="Microsoft Sans Serif"/>
              </a:rPr>
              <a:t>Prioritization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388225" y="2940050"/>
            <a:ext cx="1799589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185" b="1">
                <a:solidFill>
                  <a:srgbClr val="202020"/>
                </a:solidFill>
                <a:latin typeface="Trebuchet MS"/>
                <a:cs typeface="Trebuchet MS"/>
              </a:rPr>
              <a:t>Automaspec</a:t>
            </a:r>
            <a:endParaRPr sz="21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845300" y="3711136"/>
            <a:ext cx="1673225" cy="2432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00">
                <a:solidFill>
                  <a:srgbClr val="414141"/>
                </a:solidFill>
                <a:latin typeface="Microsoft Sans Serif"/>
                <a:cs typeface="Microsoft Sans Serif"/>
              </a:rPr>
              <a:t>Verification</a:t>
            </a:r>
            <a:r>
              <a:rPr dirty="0" sz="1400" spc="-75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90">
                <a:solidFill>
                  <a:srgbClr val="414141"/>
                </a:solidFill>
                <a:latin typeface="Comic Sans MS"/>
                <a:cs typeface="Comic Sans MS"/>
              </a:rPr>
              <a:t>&amp;</a:t>
            </a:r>
            <a:r>
              <a:rPr dirty="0" sz="1400" spc="-80">
                <a:solidFill>
                  <a:srgbClr val="414141"/>
                </a:solidFill>
                <a:latin typeface="Comic Sans MS"/>
                <a:cs typeface="Comic Sans MS"/>
              </a:rPr>
              <a:t> </a:t>
            </a:r>
            <a:r>
              <a:rPr dirty="0" sz="1400" spc="-10">
                <a:solidFill>
                  <a:srgbClr val="414141"/>
                </a:solidFill>
                <a:latin typeface="Microsoft Sans Serif"/>
                <a:cs typeface="Microsoft Sans Serif"/>
              </a:rPr>
              <a:t>Testing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845300" y="4092136"/>
            <a:ext cx="1798955" cy="2432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00" spc="-35">
                <a:solidFill>
                  <a:srgbClr val="414141"/>
                </a:solidFill>
                <a:latin typeface="Microsoft Sans Serif"/>
                <a:cs typeface="Microsoft Sans Serif"/>
              </a:rPr>
              <a:t>Requirement</a:t>
            </a:r>
            <a:r>
              <a:rPr dirty="0" sz="1400" spc="-25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10">
                <a:solidFill>
                  <a:srgbClr val="414141"/>
                </a:solidFill>
                <a:latin typeface="Microsoft Sans Serif"/>
                <a:cs typeface="Microsoft Sans Serif"/>
              </a:rPr>
              <a:t>Coverage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845300" y="4473136"/>
            <a:ext cx="1982470" cy="2432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00" spc="-65">
                <a:solidFill>
                  <a:srgbClr val="414141"/>
                </a:solidFill>
                <a:latin typeface="Microsoft Sans Serif"/>
                <a:cs typeface="Microsoft Sans Serif"/>
              </a:rPr>
              <a:t>CI</a:t>
            </a:r>
            <a:r>
              <a:rPr dirty="0" sz="1400" spc="-35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20">
                <a:solidFill>
                  <a:srgbClr val="414141"/>
                </a:solidFill>
                <a:latin typeface="Microsoft Sans Serif"/>
                <a:cs typeface="Microsoft Sans Serif"/>
              </a:rPr>
              <a:t>Status</a:t>
            </a:r>
            <a:r>
              <a:rPr dirty="0" sz="1400" spc="-45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414141"/>
                </a:solidFill>
                <a:latin typeface="Microsoft Sans Serif"/>
                <a:cs typeface="Microsoft Sans Serif"/>
              </a:rPr>
              <a:t>by</a:t>
            </a:r>
            <a:r>
              <a:rPr dirty="0" sz="1400" spc="-40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20">
                <a:solidFill>
                  <a:srgbClr val="414141"/>
                </a:solidFill>
                <a:latin typeface="Microsoft Sans Serif"/>
                <a:cs typeface="Microsoft Sans Serif"/>
              </a:rPr>
              <a:t>Requirement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845300" y="4854136"/>
            <a:ext cx="1326515" cy="2432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00" spc="-20">
                <a:solidFill>
                  <a:srgbClr val="414141"/>
                </a:solidFill>
                <a:latin typeface="Microsoft Sans Serif"/>
                <a:cs typeface="Microsoft Sans Serif"/>
              </a:rPr>
              <a:t>Live</a:t>
            </a:r>
            <a:r>
              <a:rPr dirty="0" sz="1400" spc="-60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30">
                <a:solidFill>
                  <a:srgbClr val="414141"/>
                </a:solidFill>
                <a:latin typeface="Microsoft Sans Serif"/>
                <a:cs typeface="Microsoft Sans Serif"/>
              </a:rPr>
              <a:t>Test</a:t>
            </a:r>
            <a:r>
              <a:rPr dirty="0" sz="1400" spc="-60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20">
                <a:solidFill>
                  <a:srgbClr val="414141"/>
                </a:solidFill>
                <a:latin typeface="Microsoft Sans Serif"/>
                <a:cs typeface="Microsoft Sans Serif"/>
              </a:rPr>
              <a:t>Results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255988" y="5868987"/>
            <a:ext cx="3985260" cy="23685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50" spc="-75" b="1">
                <a:solidFill>
                  <a:srgbClr val="1875D1"/>
                </a:solidFill>
                <a:latin typeface="Arial"/>
                <a:cs typeface="Arial"/>
              </a:rPr>
              <a:t>Automaspec</a:t>
            </a:r>
            <a:r>
              <a:rPr dirty="0" sz="1350" spc="-55" b="1">
                <a:solidFill>
                  <a:srgbClr val="1875D1"/>
                </a:solidFill>
                <a:latin typeface="Arial"/>
                <a:cs typeface="Arial"/>
              </a:rPr>
              <a:t> </a:t>
            </a:r>
            <a:r>
              <a:rPr dirty="0" sz="1350" spc="-75" b="1">
                <a:solidFill>
                  <a:srgbClr val="1875D1"/>
                </a:solidFill>
                <a:latin typeface="Arial"/>
                <a:cs typeface="Arial"/>
              </a:rPr>
              <a:t>complements</a:t>
            </a:r>
            <a:r>
              <a:rPr dirty="0" sz="1350" spc="-50" b="1">
                <a:solidFill>
                  <a:srgbClr val="1875D1"/>
                </a:solidFill>
                <a:latin typeface="Arial"/>
                <a:cs typeface="Arial"/>
              </a:rPr>
              <a:t> </a:t>
            </a:r>
            <a:r>
              <a:rPr dirty="0" sz="1350" spc="-60" b="1">
                <a:solidFill>
                  <a:srgbClr val="1875D1"/>
                </a:solidFill>
                <a:latin typeface="Arial"/>
                <a:cs typeface="Arial"/>
              </a:rPr>
              <a:t>Jira</a:t>
            </a:r>
            <a:r>
              <a:rPr dirty="0" sz="1350" spc="-50" b="1">
                <a:solidFill>
                  <a:srgbClr val="1875D1"/>
                </a:solidFill>
                <a:latin typeface="Arial"/>
                <a:cs typeface="Arial"/>
              </a:rPr>
              <a:t> </a:t>
            </a:r>
            <a:r>
              <a:rPr dirty="0" sz="1350" spc="-170" b="1">
                <a:solidFill>
                  <a:srgbClr val="1875D1"/>
                </a:solidFill>
                <a:latin typeface="Verdana"/>
                <a:cs typeface="Verdana"/>
              </a:rPr>
              <a:t>—</a:t>
            </a:r>
            <a:r>
              <a:rPr dirty="0" sz="1350" spc="-135" b="1">
                <a:solidFill>
                  <a:srgbClr val="1875D1"/>
                </a:solidFill>
                <a:latin typeface="Verdana"/>
                <a:cs typeface="Verdana"/>
              </a:rPr>
              <a:t> </a:t>
            </a:r>
            <a:r>
              <a:rPr dirty="0" sz="1350" spc="-40" b="1">
                <a:solidFill>
                  <a:srgbClr val="1875D1"/>
                </a:solidFill>
                <a:latin typeface="Arial"/>
                <a:cs typeface="Arial"/>
              </a:rPr>
              <a:t>it</a:t>
            </a:r>
            <a:r>
              <a:rPr dirty="0" sz="1350" spc="-50" b="1">
                <a:solidFill>
                  <a:srgbClr val="1875D1"/>
                </a:solidFill>
                <a:latin typeface="Arial"/>
                <a:cs typeface="Arial"/>
              </a:rPr>
              <a:t> </a:t>
            </a:r>
            <a:r>
              <a:rPr dirty="0" sz="1350" spc="-75" b="1">
                <a:solidFill>
                  <a:srgbClr val="1875D1"/>
                </a:solidFill>
                <a:latin typeface="Arial"/>
                <a:cs typeface="Arial"/>
              </a:rPr>
              <a:t>doesn</a:t>
            </a:r>
            <a:r>
              <a:rPr dirty="0" sz="1350" spc="-75" b="1">
                <a:solidFill>
                  <a:srgbClr val="1875D1"/>
                </a:solidFill>
                <a:latin typeface="Verdana"/>
                <a:cs typeface="Verdana"/>
              </a:rPr>
              <a:t>'</a:t>
            </a:r>
            <a:r>
              <a:rPr dirty="0" sz="1350" spc="-75" b="1">
                <a:solidFill>
                  <a:srgbClr val="1875D1"/>
                </a:solidFill>
                <a:latin typeface="Arial"/>
                <a:cs typeface="Arial"/>
              </a:rPr>
              <a:t>t</a:t>
            </a:r>
            <a:r>
              <a:rPr dirty="0" sz="1350" spc="-50" b="1">
                <a:solidFill>
                  <a:srgbClr val="1875D1"/>
                </a:solidFill>
                <a:latin typeface="Arial"/>
                <a:cs typeface="Arial"/>
              </a:rPr>
              <a:t> </a:t>
            </a:r>
            <a:r>
              <a:rPr dirty="0" sz="1350" spc="-60" b="1">
                <a:solidFill>
                  <a:srgbClr val="1875D1"/>
                </a:solidFill>
                <a:latin typeface="Arial"/>
                <a:cs typeface="Arial"/>
              </a:rPr>
              <a:t>replace</a:t>
            </a:r>
            <a:r>
              <a:rPr dirty="0" sz="1350" spc="-50" b="1">
                <a:solidFill>
                  <a:srgbClr val="1875D1"/>
                </a:solidFill>
                <a:latin typeface="Arial"/>
                <a:cs typeface="Arial"/>
              </a:rPr>
              <a:t> </a:t>
            </a:r>
            <a:r>
              <a:rPr dirty="0" sz="1350" spc="-25" b="1">
                <a:solidFill>
                  <a:srgbClr val="1875D1"/>
                </a:solidFill>
                <a:latin typeface="Arial"/>
                <a:cs typeface="Arial"/>
              </a:rPr>
              <a:t>it</a:t>
            </a:r>
            <a:endParaRPr sz="1350">
              <a:latin typeface="Arial"/>
              <a:cs typeface="Arial"/>
            </a:endParaRPr>
          </a:p>
        </p:txBody>
      </p:sp>
      <p:pic>
        <p:nvPicPr>
          <p:cNvPr id="17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06099" y="6429374"/>
            <a:ext cx="114300" cy="114300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10901014" y="6391909"/>
            <a:ext cx="913130" cy="185420"/>
          </a:xfrm>
          <a:prstGeom prst="rect">
            <a:avLst/>
          </a:prstGeom>
        </p:spPr>
        <p:txBody>
          <a:bodyPr wrap="square" lIns="0" tIns="184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z="900" spc="114" b="1">
                <a:solidFill>
                  <a:srgbClr val="747474"/>
                </a:solidFill>
                <a:latin typeface="Trebuchet MS"/>
                <a:cs typeface="Trebuchet MS"/>
              </a:rPr>
              <a:t>AUTOMASPEC</a:t>
            </a:r>
            <a:endParaRPr sz="9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76847" y="628415"/>
            <a:ext cx="1587500" cy="1987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254" b="1">
                <a:solidFill>
                  <a:srgbClr val="4DB5AB"/>
                </a:solidFill>
                <a:latin typeface="Arial Narrow"/>
                <a:cs typeface="Arial Narrow"/>
              </a:rPr>
              <a:t>MY</a:t>
            </a:r>
            <a:r>
              <a:rPr dirty="0" sz="1100" spc="265" b="1">
                <a:solidFill>
                  <a:srgbClr val="4DB5AB"/>
                </a:solidFill>
                <a:latin typeface="Arial Narrow"/>
                <a:cs typeface="Arial Narrow"/>
              </a:rPr>
              <a:t> </a:t>
            </a:r>
            <a:r>
              <a:rPr dirty="0" sz="1100" spc="235" b="1">
                <a:solidFill>
                  <a:srgbClr val="4DB5AB"/>
                </a:solidFill>
                <a:latin typeface="Arial Narrow"/>
                <a:cs typeface="Arial Narrow"/>
              </a:rPr>
              <a:t>CONTRIBUTION</a:t>
            </a:r>
            <a:endParaRPr sz="1100">
              <a:latin typeface="Arial Narrow"/>
              <a:cs typeface="Arial Narrow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876847" y="1077195"/>
            <a:ext cx="3775075" cy="48704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000" spc="335"/>
              <a:t>Roman</a:t>
            </a:r>
            <a:r>
              <a:rPr dirty="0" sz="3000" spc="-260"/>
              <a:t> </a:t>
            </a:r>
            <a:r>
              <a:rPr dirty="0" sz="3000" spc="245"/>
              <a:t>Radchenko</a:t>
            </a:r>
            <a:endParaRPr sz="3000"/>
          </a:p>
        </p:txBody>
      </p:sp>
      <p:grpSp>
        <p:nvGrpSpPr>
          <p:cNvPr id="4" name="object 4"/>
          <p:cNvGrpSpPr/>
          <p:nvPr/>
        </p:nvGrpSpPr>
        <p:grpSpPr>
          <a:xfrm>
            <a:off x="641115" y="2059583"/>
            <a:ext cx="4391660" cy="1723389"/>
            <a:chOff x="641115" y="2059583"/>
            <a:chExt cx="4391660" cy="1723389"/>
          </a:xfrm>
        </p:grpSpPr>
        <p:sp>
          <p:nvSpPr>
            <p:cNvPr id="5" name="object 5"/>
            <p:cNvSpPr/>
            <p:nvPr/>
          </p:nvSpPr>
          <p:spPr>
            <a:xfrm>
              <a:off x="661150" y="2059583"/>
              <a:ext cx="4371975" cy="1723389"/>
            </a:xfrm>
            <a:custGeom>
              <a:avLst/>
              <a:gdLst/>
              <a:ahLst/>
              <a:cxnLst/>
              <a:rect l="l" t="t" r="r" b="b"/>
              <a:pathLst>
                <a:path w="4371975" h="1723389">
                  <a:moveTo>
                    <a:pt x="4281751" y="1722997"/>
                  </a:moveTo>
                  <a:lnTo>
                    <a:pt x="71133" y="1722997"/>
                  </a:lnTo>
                  <a:lnTo>
                    <a:pt x="66182" y="1722381"/>
                  </a:lnTo>
                  <a:lnTo>
                    <a:pt x="29679" y="1703281"/>
                  </a:lnTo>
                  <a:lnTo>
                    <a:pt x="7708" y="1669465"/>
                  </a:lnTo>
                  <a:lnTo>
                    <a:pt x="0" y="1633144"/>
                  </a:lnTo>
                  <a:lnTo>
                    <a:pt x="0" y="1626830"/>
                  </a:lnTo>
                  <a:lnTo>
                    <a:pt x="0" y="89852"/>
                  </a:lnTo>
                  <a:lnTo>
                    <a:pt x="10053" y="47989"/>
                  </a:lnTo>
                  <a:lnTo>
                    <a:pt x="37991" y="12698"/>
                  </a:lnTo>
                  <a:lnTo>
                    <a:pt x="71133" y="0"/>
                  </a:lnTo>
                  <a:lnTo>
                    <a:pt x="4281751" y="0"/>
                  </a:lnTo>
                  <a:lnTo>
                    <a:pt x="4323614" y="12698"/>
                  </a:lnTo>
                  <a:lnTo>
                    <a:pt x="4358905" y="47989"/>
                  </a:lnTo>
                  <a:lnTo>
                    <a:pt x="4371604" y="89852"/>
                  </a:lnTo>
                  <a:lnTo>
                    <a:pt x="4371604" y="1633144"/>
                  </a:lnTo>
                  <a:lnTo>
                    <a:pt x="4358905" y="1675007"/>
                  </a:lnTo>
                  <a:lnTo>
                    <a:pt x="4323614" y="1710297"/>
                  </a:lnTo>
                  <a:lnTo>
                    <a:pt x="4288005" y="1722381"/>
                  </a:lnTo>
                  <a:lnTo>
                    <a:pt x="4281751" y="1722997"/>
                  </a:lnTo>
                  <a:close/>
                </a:path>
              </a:pathLst>
            </a:custGeom>
            <a:solidFill>
              <a:srgbClr val="F7F9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641115" y="2060001"/>
              <a:ext cx="87630" cy="1722755"/>
            </a:xfrm>
            <a:custGeom>
              <a:avLst/>
              <a:gdLst/>
              <a:ahLst/>
              <a:cxnLst/>
              <a:rect l="l" t="t" r="r" b="b"/>
              <a:pathLst>
                <a:path w="87629" h="1722754">
                  <a:moveTo>
                    <a:pt x="87501" y="1722160"/>
                  </a:moveTo>
                  <a:lnTo>
                    <a:pt x="50788" y="1711209"/>
                  </a:lnTo>
                  <a:lnTo>
                    <a:pt x="16191" y="1679848"/>
                  </a:lnTo>
                  <a:lnTo>
                    <a:pt x="457" y="1635884"/>
                  </a:lnTo>
                  <a:lnTo>
                    <a:pt x="0" y="1626411"/>
                  </a:lnTo>
                  <a:lnTo>
                    <a:pt x="0" y="95748"/>
                  </a:lnTo>
                  <a:lnTo>
                    <a:pt x="11368" y="50369"/>
                  </a:lnTo>
                  <a:lnTo>
                    <a:pt x="42729" y="15773"/>
                  </a:lnTo>
                  <a:lnTo>
                    <a:pt x="87500" y="0"/>
                  </a:lnTo>
                  <a:lnTo>
                    <a:pt x="81572" y="2021"/>
                  </a:lnTo>
                  <a:lnTo>
                    <a:pt x="74699" y="6901"/>
                  </a:lnTo>
                  <a:lnTo>
                    <a:pt x="49515" y="42310"/>
                  </a:lnTo>
                  <a:lnTo>
                    <a:pt x="40336" y="86275"/>
                  </a:lnTo>
                  <a:lnTo>
                    <a:pt x="40069" y="95748"/>
                  </a:lnTo>
                  <a:lnTo>
                    <a:pt x="40069" y="1626411"/>
                  </a:lnTo>
                  <a:lnTo>
                    <a:pt x="46701" y="1671789"/>
                  </a:lnTo>
                  <a:lnTo>
                    <a:pt x="64995" y="1706386"/>
                  </a:lnTo>
                  <a:lnTo>
                    <a:pt x="81572" y="1720137"/>
                  </a:lnTo>
                  <a:lnTo>
                    <a:pt x="87501" y="1722160"/>
                  </a:lnTo>
                  <a:close/>
                </a:path>
              </a:pathLst>
            </a:custGeom>
            <a:solidFill>
              <a:srgbClr val="41A5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905575" y="2283973"/>
              <a:ext cx="401320" cy="401320"/>
            </a:xfrm>
            <a:custGeom>
              <a:avLst/>
              <a:gdLst/>
              <a:ahLst/>
              <a:cxnLst/>
              <a:rect l="l" t="t" r="r" b="b"/>
              <a:pathLst>
                <a:path w="401319" h="401319">
                  <a:moveTo>
                    <a:pt x="325819" y="400696"/>
                  </a:moveTo>
                  <a:lnTo>
                    <a:pt x="74877" y="400696"/>
                  </a:lnTo>
                  <a:lnTo>
                    <a:pt x="69665" y="400183"/>
                  </a:lnTo>
                  <a:lnTo>
                    <a:pt x="31241" y="384267"/>
                  </a:lnTo>
                  <a:lnTo>
                    <a:pt x="4086" y="346363"/>
                  </a:lnTo>
                  <a:lnTo>
                    <a:pt x="0" y="325819"/>
                  </a:lnTo>
                  <a:lnTo>
                    <a:pt x="0" y="320557"/>
                  </a:lnTo>
                  <a:lnTo>
                    <a:pt x="0" y="74877"/>
                  </a:lnTo>
                  <a:lnTo>
                    <a:pt x="16429" y="31240"/>
                  </a:lnTo>
                  <a:lnTo>
                    <a:pt x="54332" y="4086"/>
                  </a:lnTo>
                  <a:lnTo>
                    <a:pt x="74877" y="0"/>
                  </a:lnTo>
                  <a:lnTo>
                    <a:pt x="325819" y="0"/>
                  </a:lnTo>
                  <a:lnTo>
                    <a:pt x="369455" y="16429"/>
                  </a:lnTo>
                  <a:lnTo>
                    <a:pt x="396610" y="54332"/>
                  </a:lnTo>
                  <a:lnTo>
                    <a:pt x="400696" y="74877"/>
                  </a:lnTo>
                  <a:lnTo>
                    <a:pt x="400696" y="325819"/>
                  </a:lnTo>
                  <a:lnTo>
                    <a:pt x="384267" y="369455"/>
                  </a:lnTo>
                  <a:lnTo>
                    <a:pt x="346363" y="396610"/>
                  </a:lnTo>
                  <a:lnTo>
                    <a:pt x="331031" y="400183"/>
                  </a:lnTo>
                  <a:lnTo>
                    <a:pt x="325819" y="400696"/>
                  </a:lnTo>
                  <a:close/>
                </a:path>
              </a:pathLst>
            </a:custGeom>
            <a:solidFill>
              <a:srgbClr val="E3F1F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32462" y="2410860"/>
              <a:ext cx="132230" cy="146922"/>
            </a:xfrm>
            <a:prstGeom prst="rect">
              <a:avLst/>
            </a:prstGeom>
          </p:spPr>
        </p:pic>
      </p:grpSp>
      <p:grpSp>
        <p:nvGrpSpPr>
          <p:cNvPr id="9" name="object 9"/>
          <p:cNvGrpSpPr/>
          <p:nvPr/>
        </p:nvGrpSpPr>
        <p:grpSpPr>
          <a:xfrm>
            <a:off x="5233103" y="2059583"/>
            <a:ext cx="4384040" cy="1723389"/>
            <a:chOff x="5233103" y="2059583"/>
            <a:chExt cx="4384040" cy="1723389"/>
          </a:xfrm>
        </p:grpSpPr>
        <p:sp>
          <p:nvSpPr>
            <p:cNvPr id="10" name="object 10"/>
            <p:cNvSpPr/>
            <p:nvPr/>
          </p:nvSpPr>
          <p:spPr>
            <a:xfrm>
              <a:off x="5253138" y="2059583"/>
              <a:ext cx="4363720" cy="1723389"/>
            </a:xfrm>
            <a:custGeom>
              <a:avLst/>
              <a:gdLst/>
              <a:ahLst/>
              <a:cxnLst/>
              <a:rect l="l" t="t" r="r" b="b"/>
              <a:pathLst>
                <a:path w="4363720" h="1723389">
                  <a:moveTo>
                    <a:pt x="4273738" y="1722997"/>
                  </a:moveTo>
                  <a:lnTo>
                    <a:pt x="71133" y="1722997"/>
                  </a:lnTo>
                  <a:lnTo>
                    <a:pt x="66182" y="1722381"/>
                  </a:lnTo>
                  <a:lnTo>
                    <a:pt x="29678" y="1703281"/>
                  </a:lnTo>
                  <a:lnTo>
                    <a:pt x="7707" y="1669465"/>
                  </a:lnTo>
                  <a:lnTo>
                    <a:pt x="0" y="1633144"/>
                  </a:lnTo>
                  <a:lnTo>
                    <a:pt x="0" y="1626830"/>
                  </a:lnTo>
                  <a:lnTo>
                    <a:pt x="0" y="89852"/>
                  </a:lnTo>
                  <a:lnTo>
                    <a:pt x="10052" y="47989"/>
                  </a:lnTo>
                  <a:lnTo>
                    <a:pt x="37991" y="12698"/>
                  </a:lnTo>
                  <a:lnTo>
                    <a:pt x="71133" y="0"/>
                  </a:lnTo>
                  <a:lnTo>
                    <a:pt x="4273738" y="0"/>
                  </a:lnTo>
                  <a:lnTo>
                    <a:pt x="4315599" y="12698"/>
                  </a:lnTo>
                  <a:lnTo>
                    <a:pt x="4350890" y="47989"/>
                  </a:lnTo>
                  <a:lnTo>
                    <a:pt x="4363590" y="89852"/>
                  </a:lnTo>
                  <a:lnTo>
                    <a:pt x="4363590" y="1633144"/>
                  </a:lnTo>
                  <a:lnTo>
                    <a:pt x="4350890" y="1675007"/>
                  </a:lnTo>
                  <a:lnTo>
                    <a:pt x="4315600" y="1710297"/>
                  </a:lnTo>
                  <a:lnTo>
                    <a:pt x="4279991" y="1722381"/>
                  </a:lnTo>
                  <a:lnTo>
                    <a:pt x="4273738" y="1722997"/>
                  </a:lnTo>
                  <a:close/>
                </a:path>
              </a:pathLst>
            </a:custGeom>
            <a:solidFill>
              <a:srgbClr val="F7F9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5233103" y="2060001"/>
              <a:ext cx="87630" cy="1722755"/>
            </a:xfrm>
            <a:custGeom>
              <a:avLst/>
              <a:gdLst/>
              <a:ahLst/>
              <a:cxnLst/>
              <a:rect l="l" t="t" r="r" b="b"/>
              <a:pathLst>
                <a:path w="87629" h="1722754">
                  <a:moveTo>
                    <a:pt x="87501" y="1722160"/>
                  </a:moveTo>
                  <a:lnTo>
                    <a:pt x="50787" y="1711209"/>
                  </a:lnTo>
                  <a:lnTo>
                    <a:pt x="16191" y="1679848"/>
                  </a:lnTo>
                  <a:lnTo>
                    <a:pt x="457" y="1635884"/>
                  </a:lnTo>
                  <a:lnTo>
                    <a:pt x="0" y="1626411"/>
                  </a:lnTo>
                  <a:lnTo>
                    <a:pt x="0" y="95748"/>
                  </a:lnTo>
                  <a:lnTo>
                    <a:pt x="11367" y="50369"/>
                  </a:lnTo>
                  <a:lnTo>
                    <a:pt x="42728" y="15773"/>
                  </a:lnTo>
                  <a:lnTo>
                    <a:pt x="87500" y="0"/>
                  </a:lnTo>
                  <a:lnTo>
                    <a:pt x="81572" y="2021"/>
                  </a:lnTo>
                  <a:lnTo>
                    <a:pt x="74699" y="6901"/>
                  </a:lnTo>
                  <a:lnTo>
                    <a:pt x="49514" y="42310"/>
                  </a:lnTo>
                  <a:lnTo>
                    <a:pt x="40336" y="86275"/>
                  </a:lnTo>
                  <a:lnTo>
                    <a:pt x="40069" y="95748"/>
                  </a:lnTo>
                  <a:lnTo>
                    <a:pt x="40069" y="1626411"/>
                  </a:lnTo>
                  <a:lnTo>
                    <a:pt x="46700" y="1671789"/>
                  </a:lnTo>
                  <a:lnTo>
                    <a:pt x="64995" y="1706386"/>
                  </a:lnTo>
                  <a:lnTo>
                    <a:pt x="81572" y="1720137"/>
                  </a:lnTo>
                  <a:lnTo>
                    <a:pt x="87501" y="1722160"/>
                  </a:lnTo>
                  <a:close/>
                </a:path>
              </a:pathLst>
            </a:custGeom>
            <a:solidFill>
              <a:srgbClr val="4DB5A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5497563" y="2283973"/>
              <a:ext cx="401320" cy="401320"/>
            </a:xfrm>
            <a:custGeom>
              <a:avLst/>
              <a:gdLst/>
              <a:ahLst/>
              <a:cxnLst/>
              <a:rect l="l" t="t" r="r" b="b"/>
              <a:pathLst>
                <a:path w="401320" h="401319">
                  <a:moveTo>
                    <a:pt x="325819" y="400696"/>
                  </a:moveTo>
                  <a:lnTo>
                    <a:pt x="74877" y="400696"/>
                  </a:lnTo>
                  <a:lnTo>
                    <a:pt x="69666" y="400183"/>
                  </a:lnTo>
                  <a:lnTo>
                    <a:pt x="31240" y="384267"/>
                  </a:lnTo>
                  <a:lnTo>
                    <a:pt x="4086" y="346363"/>
                  </a:lnTo>
                  <a:lnTo>
                    <a:pt x="0" y="325819"/>
                  </a:lnTo>
                  <a:lnTo>
                    <a:pt x="0" y="320557"/>
                  </a:lnTo>
                  <a:lnTo>
                    <a:pt x="0" y="74877"/>
                  </a:lnTo>
                  <a:lnTo>
                    <a:pt x="16428" y="31240"/>
                  </a:lnTo>
                  <a:lnTo>
                    <a:pt x="54332" y="4086"/>
                  </a:lnTo>
                  <a:lnTo>
                    <a:pt x="74877" y="0"/>
                  </a:lnTo>
                  <a:lnTo>
                    <a:pt x="325819" y="0"/>
                  </a:lnTo>
                  <a:lnTo>
                    <a:pt x="369456" y="16429"/>
                  </a:lnTo>
                  <a:lnTo>
                    <a:pt x="396610" y="54332"/>
                  </a:lnTo>
                  <a:lnTo>
                    <a:pt x="400697" y="74877"/>
                  </a:lnTo>
                  <a:lnTo>
                    <a:pt x="400697" y="325819"/>
                  </a:lnTo>
                  <a:lnTo>
                    <a:pt x="384267" y="369455"/>
                  </a:lnTo>
                  <a:lnTo>
                    <a:pt x="346364" y="396610"/>
                  </a:lnTo>
                  <a:lnTo>
                    <a:pt x="331031" y="400183"/>
                  </a:lnTo>
                  <a:lnTo>
                    <a:pt x="325819" y="400696"/>
                  </a:lnTo>
                  <a:close/>
                </a:path>
              </a:pathLst>
            </a:custGeom>
            <a:solidFill>
              <a:srgbClr val="DFF1F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31797" y="2418206"/>
              <a:ext cx="132230" cy="132230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6009776" y="2383468"/>
            <a:ext cx="729615" cy="1987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85" b="1">
                <a:solidFill>
                  <a:srgbClr val="414141"/>
                </a:solidFill>
                <a:latin typeface="Trebuchet MS"/>
                <a:cs typeface="Trebuchet MS"/>
              </a:rPr>
              <a:t>Analytics</a:t>
            </a:r>
            <a:endParaRPr sz="1100">
              <a:latin typeface="Trebuchet MS"/>
              <a:cs typeface="Trebuchet MS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41115" y="3982928"/>
            <a:ext cx="4391660" cy="1723389"/>
            <a:chOff x="641115" y="3982928"/>
            <a:chExt cx="4391660" cy="1723389"/>
          </a:xfrm>
        </p:grpSpPr>
        <p:sp>
          <p:nvSpPr>
            <p:cNvPr id="16" name="object 16"/>
            <p:cNvSpPr/>
            <p:nvPr/>
          </p:nvSpPr>
          <p:spPr>
            <a:xfrm>
              <a:off x="661150" y="3982928"/>
              <a:ext cx="4371975" cy="1723389"/>
            </a:xfrm>
            <a:custGeom>
              <a:avLst/>
              <a:gdLst/>
              <a:ahLst/>
              <a:cxnLst/>
              <a:rect l="l" t="t" r="r" b="b"/>
              <a:pathLst>
                <a:path w="4371975" h="1723389">
                  <a:moveTo>
                    <a:pt x="4281751" y="1722997"/>
                  </a:moveTo>
                  <a:lnTo>
                    <a:pt x="71133" y="1722997"/>
                  </a:lnTo>
                  <a:lnTo>
                    <a:pt x="66182" y="1722381"/>
                  </a:lnTo>
                  <a:lnTo>
                    <a:pt x="29679" y="1703281"/>
                  </a:lnTo>
                  <a:lnTo>
                    <a:pt x="7708" y="1669464"/>
                  </a:lnTo>
                  <a:lnTo>
                    <a:pt x="0" y="1633144"/>
                  </a:lnTo>
                  <a:lnTo>
                    <a:pt x="0" y="1626830"/>
                  </a:lnTo>
                  <a:lnTo>
                    <a:pt x="0" y="89852"/>
                  </a:lnTo>
                  <a:lnTo>
                    <a:pt x="10053" y="47989"/>
                  </a:lnTo>
                  <a:lnTo>
                    <a:pt x="37991" y="12698"/>
                  </a:lnTo>
                  <a:lnTo>
                    <a:pt x="71133" y="0"/>
                  </a:lnTo>
                  <a:lnTo>
                    <a:pt x="4281751" y="0"/>
                  </a:lnTo>
                  <a:lnTo>
                    <a:pt x="4323614" y="12698"/>
                  </a:lnTo>
                  <a:lnTo>
                    <a:pt x="4358905" y="47989"/>
                  </a:lnTo>
                  <a:lnTo>
                    <a:pt x="4371604" y="89852"/>
                  </a:lnTo>
                  <a:lnTo>
                    <a:pt x="4371604" y="1633144"/>
                  </a:lnTo>
                  <a:lnTo>
                    <a:pt x="4358905" y="1675006"/>
                  </a:lnTo>
                  <a:lnTo>
                    <a:pt x="4323614" y="1710297"/>
                  </a:lnTo>
                  <a:lnTo>
                    <a:pt x="4288005" y="1722381"/>
                  </a:lnTo>
                  <a:lnTo>
                    <a:pt x="4281751" y="1722997"/>
                  </a:lnTo>
                  <a:close/>
                </a:path>
              </a:pathLst>
            </a:custGeom>
            <a:solidFill>
              <a:srgbClr val="F7F9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641115" y="3983347"/>
              <a:ext cx="87630" cy="1722755"/>
            </a:xfrm>
            <a:custGeom>
              <a:avLst/>
              <a:gdLst/>
              <a:ahLst/>
              <a:cxnLst/>
              <a:rect l="l" t="t" r="r" b="b"/>
              <a:pathLst>
                <a:path w="87629" h="1722754">
                  <a:moveTo>
                    <a:pt x="87501" y="1722160"/>
                  </a:moveTo>
                  <a:lnTo>
                    <a:pt x="50788" y="1711209"/>
                  </a:lnTo>
                  <a:lnTo>
                    <a:pt x="16191" y="1679848"/>
                  </a:lnTo>
                  <a:lnTo>
                    <a:pt x="457" y="1635884"/>
                  </a:lnTo>
                  <a:lnTo>
                    <a:pt x="0" y="1626411"/>
                  </a:lnTo>
                  <a:lnTo>
                    <a:pt x="0" y="95748"/>
                  </a:lnTo>
                  <a:lnTo>
                    <a:pt x="11368" y="50369"/>
                  </a:lnTo>
                  <a:lnTo>
                    <a:pt x="42729" y="15773"/>
                  </a:lnTo>
                  <a:lnTo>
                    <a:pt x="87500" y="0"/>
                  </a:lnTo>
                  <a:lnTo>
                    <a:pt x="81572" y="2021"/>
                  </a:lnTo>
                  <a:lnTo>
                    <a:pt x="74699" y="6901"/>
                  </a:lnTo>
                  <a:lnTo>
                    <a:pt x="49515" y="42310"/>
                  </a:lnTo>
                  <a:lnTo>
                    <a:pt x="40336" y="86275"/>
                  </a:lnTo>
                  <a:lnTo>
                    <a:pt x="40069" y="95748"/>
                  </a:lnTo>
                  <a:lnTo>
                    <a:pt x="40069" y="1626411"/>
                  </a:lnTo>
                  <a:lnTo>
                    <a:pt x="46701" y="1671789"/>
                  </a:lnTo>
                  <a:lnTo>
                    <a:pt x="64995" y="1706386"/>
                  </a:lnTo>
                  <a:lnTo>
                    <a:pt x="81572" y="1720138"/>
                  </a:lnTo>
                  <a:lnTo>
                    <a:pt x="87501" y="1722160"/>
                  </a:lnTo>
                  <a:close/>
                </a:path>
              </a:pathLst>
            </a:custGeom>
            <a:solidFill>
              <a:srgbClr val="7D57C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905575" y="4207319"/>
              <a:ext cx="401320" cy="401320"/>
            </a:xfrm>
            <a:custGeom>
              <a:avLst/>
              <a:gdLst/>
              <a:ahLst/>
              <a:cxnLst/>
              <a:rect l="l" t="t" r="r" b="b"/>
              <a:pathLst>
                <a:path w="401319" h="401320">
                  <a:moveTo>
                    <a:pt x="325819" y="400696"/>
                  </a:moveTo>
                  <a:lnTo>
                    <a:pt x="74877" y="400696"/>
                  </a:lnTo>
                  <a:lnTo>
                    <a:pt x="69665" y="400182"/>
                  </a:lnTo>
                  <a:lnTo>
                    <a:pt x="31241" y="384267"/>
                  </a:lnTo>
                  <a:lnTo>
                    <a:pt x="4086" y="346363"/>
                  </a:lnTo>
                  <a:lnTo>
                    <a:pt x="0" y="325818"/>
                  </a:lnTo>
                  <a:lnTo>
                    <a:pt x="0" y="320557"/>
                  </a:lnTo>
                  <a:lnTo>
                    <a:pt x="0" y="74877"/>
                  </a:lnTo>
                  <a:lnTo>
                    <a:pt x="16429" y="31240"/>
                  </a:lnTo>
                  <a:lnTo>
                    <a:pt x="54332" y="4085"/>
                  </a:lnTo>
                  <a:lnTo>
                    <a:pt x="74877" y="0"/>
                  </a:lnTo>
                  <a:lnTo>
                    <a:pt x="325819" y="0"/>
                  </a:lnTo>
                  <a:lnTo>
                    <a:pt x="369455" y="16428"/>
                  </a:lnTo>
                  <a:lnTo>
                    <a:pt x="396610" y="54332"/>
                  </a:lnTo>
                  <a:lnTo>
                    <a:pt x="400696" y="74877"/>
                  </a:lnTo>
                  <a:lnTo>
                    <a:pt x="400696" y="325818"/>
                  </a:lnTo>
                  <a:lnTo>
                    <a:pt x="384267" y="369454"/>
                  </a:lnTo>
                  <a:lnTo>
                    <a:pt x="346363" y="396609"/>
                  </a:lnTo>
                  <a:lnTo>
                    <a:pt x="331031" y="400182"/>
                  </a:lnTo>
                  <a:lnTo>
                    <a:pt x="325819" y="400696"/>
                  </a:lnTo>
                  <a:close/>
                </a:path>
              </a:pathLst>
            </a:custGeom>
            <a:solidFill>
              <a:srgbClr val="ECE7F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47155" y="4334206"/>
              <a:ext cx="104975" cy="105049"/>
            </a:xfrm>
            <a:prstGeom prst="rect">
              <a:avLst/>
            </a:prstGeom>
          </p:spPr>
        </p:pic>
      </p:grpSp>
      <p:grpSp>
        <p:nvGrpSpPr>
          <p:cNvPr id="20" name="object 20"/>
          <p:cNvGrpSpPr/>
          <p:nvPr/>
        </p:nvGrpSpPr>
        <p:grpSpPr>
          <a:xfrm>
            <a:off x="5233103" y="3982928"/>
            <a:ext cx="4384040" cy="1723389"/>
            <a:chOff x="5233103" y="3982928"/>
            <a:chExt cx="4384040" cy="1723389"/>
          </a:xfrm>
        </p:grpSpPr>
        <p:sp>
          <p:nvSpPr>
            <p:cNvPr id="21" name="object 21"/>
            <p:cNvSpPr/>
            <p:nvPr/>
          </p:nvSpPr>
          <p:spPr>
            <a:xfrm>
              <a:off x="5253138" y="3982928"/>
              <a:ext cx="4363720" cy="1723389"/>
            </a:xfrm>
            <a:custGeom>
              <a:avLst/>
              <a:gdLst/>
              <a:ahLst/>
              <a:cxnLst/>
              <a:rect l="l" t="t" r="r" b="b"/>
              <a:pathLst>
                <a:path w="4363720" h="1723389">
                  <a:moveTo>
                    <a:pt x="4273738" y="1722997"/>
                  </a:moveTo>
                  <a:lnTo>
                    <a:pt x="71133" y="1722997"/>
                  </a:lnTo>
                  <a:lnTo>
                    <a:pt x="66182" y="1722381"/>
                  </a:lnTo>
                  <a:lnTo>
                    <a:pt x="29678" y="1703281"/>
                  </a:lnTo>
                  <a:lnTo>
                    <a:pt x="7707" y="1669464"/>
                  </a:lnTo>
                  <a:lnTo>
                    <a:pt x="0" y="1633144"/>
                  </a:lnTo>
                  <a:lnTo>
                    <a:pt x="0" y="1626830"/>
                  </a:lnTo>
                  <a:lnTo>
                    <a:pt x="0" y="89852"/>
                  </a:lnTo>
                  <a:lnTo>
                    <a:pt x="10052" y="47989"/>
                  </a:lnTo>
                  <a:lnTo>
                    <a:pt x="37991" y="12698"/>
                  </a:lnTo>
                  <a:lnTo>
                    <a:pt x="71133" y="0"/>
                  </a:lnTo>
                  <a:lnTo>
                    <a:pt x="4273738" y="0"/>
                  </a:lnTo>
                  <a:lnTo>
                    <a:pt x="4315599" y="12698"/>
                  </a:lnTo>
                  <a:lnTo>
                    <a:pt x="4350890" y="47989"/>
                  </a:lnTo>
                  <a:lnTo>
                    <a:pt x="4363590" y="89852"/>
                  </a:lnTo>
                  <a:lnTo>
                    <a:pt x="4363590" y="1633144"/>
                  </a:lnTo>
                  <a:lnTo>
                    <a:pt x="4350890" y="1675006"/>
                  </a:lnTo>
                  <a:lnTo>
                    <a:pt x="4315600" y="1710297"/>
                  </a:lnTo>
                  <a:lnTo>
                    <a:pt x="4279991" y="1722381"/>
                  </a:lnTo>
                  <a:lnTo>
                    <a:pt x="4273738" y="1722997"/>
                  </a:lnTo>
                  <a:close/>
                </a:path>
              </a:pathLst>
            </a:custGeom>
            <a:solidFill>
              <a:srgbClr val="F7F9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5233103" y="3983347"/>
              <a:ext cx="87630" cy="1722755"/>
            </a:xfrm>
            <a:custGeom>
              <a:avLst/>
              <a:gdLst/>
              <a:ahLst/>
              <a:cxnLst/>
              <a:rect l="l" t="t" r="r" b="b"/>
              <a:pathLst>
                <a:path w="87629" h="1722754">
                  <a:moveTo>
                    <a:pt x="87501" y="1722160"/>
                  </a:moveTo>
                  <a:lnTo>
                    <a:pt x="50787" y="1711209"/>
                  </a:lnTo>
                  <a:lnTo>
                    <a:pt x="16191" y="1679848"/>
                  </a:lnTo>
                  <a:lnTo>
                    <a:pt x="457" y="1635884"/>
                  </a:lnTo>
                  <a:lnTo>
                    <a:pt x="0" y="1626411"/>
                  </a:lnTo>
                  <a:lnTo>
                    <a:pt x="0" y="95748"/>
                  </a:lnTo>
                  <a:lnTo>
                    <a:pt x="11367" y="50369"/>
                  </a:lnTo>
                  <a:lnTo>
                    <a:pt x="42728" y="15773"/>
                  </a:lnTo>
                  <a:lnTo>
                    <a:pt x="87500" y="0"/>
                  </a:lnTo>
                  <a:lnTo>
                    <a:pt x="81572" y="2021"/>
                  </a:lnTo>
                  <a:lnTo>
                    <a:pt x="74699" y="6901"/>
                  </a:lnTo>
                  <a:lnTo>
                    <a:pt x="49514" y="42310"/>
                  </a:lnTo>
                  <a:lnTo>
                    <a:pt x="40336" y="86275"/>
                  </a:lnTo>
                  <a:lnTo>
                    <a:pt x="40069" y="95748"/>
                  </a:lnTo>
                  <a:lnTo>
                    <a:pt x="40069" y="1626411"/>
                  </a:lnTo>
                  <a:lnTo>
                    <a:pt x="46700" y="1671789"/>
                  </a:lnTo>
                  <a:lnTo>
                    <a:pt x="64995" y="1706386"/>
                  </a:lnTo>
                  <a:lnTo>
                    <a:pt x="81572" y="1720138"/>
                  </a:lnTo>
                  <a:lnTo>
                    <a:pt x="87501" y="1722160"/>
                  </a:lnTo>
                  <a:close/>
                </a:path>
              </a:pathLst>
            </a:custGeom>
            <a:solidFill>
              <a:srgbClr val="FFA62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5497563" y="4207319"/>
              <a:ext cx="401320" cy="401320"/>
            </a:xfrm>
            <a:custGeom>
              <a:avLst/>
              <a:gdLst/>
              <a:ahLst/>
              <a:cxnLst/>
              <a:rect l="l" t="t" r="r" b="b"/>
              <a:pathLst>
                <a:path w="401320" h="401320">
                  <a:moveTo>
                    <a:pt x="325819" y="400696"/>
                  </a:moveTo>
                  <a:lnTo>
                    <a:pt x="74877" y="400696"/>
                  </a:lnTo>
                  <a:lnTo>
                    <a:pt x="69666" y="400182"/>
                  </a:lnTo>
                  <a:lnTo>
                    <a:pt x="31240" y="384267"/>
                  </a:lnTo>
                  <a:lnTo>
                    <a:pt x="4086" y="346363"/>
                  </a:lnTo>
                  <a:lnTo>
                    <a:pt x="0" y="325818"/>
                  </a:lnTo>
                  <a:lnTo>
                    <a:pt x="0" y="320557"/>
                  </a:lnTo>
                  <a:lnTo>
                    <a:pt x="0" y="74877"/>
                  </a:lnTo>
                  <a:lnTo>
                    <a:pt x="16428" y="31240"/>
                  </a:lnTo>
                  <a:lnTo>
                    <a:pt x="54332" y="4085"/>
                  </a:lnTo>
                  <a:lnTo>
                    <a:pt x="74877" y="0"/>
                  </a:lnTo>
                  <a:lnTo>
                    <a:pt x="325819" y="0"/>
                  </a:lnTo>
                  <a:lnTo>
                    <a:pt x="369456" y="16428"/>
                  </a:lnTo>
                  <a:lnTo>
                    <a:pt x="396610" y="54332"/>
                  </a:lnTo>
                  <a:lnTo>
                    <a:pt x="400697" y="74877"/>
                  </a:lnTo>
                  <a:lnTo>
                    <a:pt x="400697" y="325818"/>
                  </a:lnTo>
                  <a:lnTo>
                    <a:pt x="384267" y="369454"/>
                  </a:lnTo>
                  <a:lnTo>
                    <a:pt x="346364" y="396609"/>
                  </a:lnTo>
                  <a:lnTo>
                    <a:pt x="331031" y="400182"/>
                  </a:lnTo>
                  <a:lnTo>
                    <a:pt x="325819" y="400696"/>
                  </a:lnTo>
                  <a:close/>
                </a:path>
              </a:pathLst>
            </a:custGeom>
            <a:solidFill>
              <a:srgbClr val="FFF2D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634809" y="4360579"/>
              <a:ext cx="129218" cy="98511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6009776" y="4306814"/>
            <a:ext cx="576580" cy="1987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70" b="1">
                <a:solidFill>
                  <a:srgbClr val="414141"/>
                </a:solidFill>
                <a:latin typeface="Trebuchet MS"/>
                <a:cs typeface="Trebuchet MS"/>
              </a:rPr>
              <a:t>Testing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92875" y="2383468"/>
            <a:ext cx="2146935" cy="110172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541020">
              <a:lnSpc>
                <a:spcPct val="100000"/>
              </a:lnSpc>
              <a:spcBef>
                <a:spcPts val="135"/>
              </a:spcBef>
            </a:pPr>
            <a:r>
              <a:rPr dirty="0" sz="1100" spc="110" b="1">
                <a:solidFill>
                  <a:srgbClr val="414141"/>
                </a:solidFill>
                <a:latin typeface="Trebuchet MS"/>
                <a:cs typeface="Trebuchet MS"/>
              </a:rPr>
              <a:t>Backend</a:t>
            </a:r>
            <a:r>
              <a:rPr dirty="0" sz="1100" spc="-85" b="1">
                <a:solidFill>
                  <a:srgbClr val="414141"/>
                </a:solidFill>
                <a:latin typeface="Trebuchet MS"/>
                <a:cs typeface="Trebuchet MS"/>
              </a:rPr>
              <a:t> </a:t>
            </a:r>
            <a:r>
              <a:rPr dirty="0" sz="1100" spc="55" b="1">
                <a:solidFill>
                  <a:srgbClr val="414141"/>
                </a:solidFill>
                <a:latin typeface="Trebuchet MS"/>
                <a:cs typeface="Trebuchet MS"/>
              </a:rPr>
              <a:t>+</a:t>
            </a:r>
            <a:r>
              <a:rPr dirty="0" sz="1100" spc="-80" b="1">
                <a:solidFill>
                  <a:srgbClr val="414141"/>
                </a:solidFill>
                <a:latin typeface="Trebuchet MS"/>
                <a:cs typeface="Trebuchet MS"/>
              </a:rPr>
              <a:t> </a:t>
            </a:r>
            <a:r>
              <a:rPr dirty="0" sz="1100" spc="100" b="1">
                <a:solidFill>
                  <a:srgbClr val="414141"/>
                </a:solidFill>
                <a:latin typeface="Trebuchet MS"/>
                <a:cs typeface="Trebuchet MS"/>
              </a:rPr>
              <a:t>Data</a:t>
            </a:r>
            <a:endParaRPr sz="11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830"/>
              </a:spcBef>
            </a:pPr>
            <a:endParaRPr sz="1100">
              <a:latin typeface="Trebuchet MS"/>
              <a:cs typeface="Trebuchet MS"/>
            </a:endParaRPr>
          </a:p>
          <a:p>
            <a:pPr marL="170815" indent="-158115">
              <a:lnSpc>
                <a:spcPct val="100000"/>
              </a:lnSpc>
              <a:spcBef>
                <a:spcPts val="5"/>
              </a:spcBef>
              <a:buClr>
                <a:srgbClr val="BDBDBD"/>
              </a:buClr>
              <a:buSzPct val="105263"/>
              <a:buFont typeface="Arial"/>
              <a:buChar char="•"/>
              <a:tabLst>
                <a:tab pos="170815" algn="l"/>
              </a:tabLst>
            </a:pPr>
            <a:r>
              <a:rPr dirty="0" sz="950">
                <a:solidFill>
                  <a:srgbClr val="616161"/>
                </a:solidFill>
                <a:latin typeface="Microsoft Sans Serif"/>
                <a:cs typeface="Microsoft Sans Serif"/>
              </a:rPr>
              <a:t>Multi-tenant</a:t>
            </a:r>
            <a:r>
              <a:rPr dirty="0" sz="950" spc="-15">
                <a:solidFill>
                  <a:srgbClr val="616161"/>
                </a:solidFill>
                <a:latin typeface="Microsoft Sans Serif"/>
                <a:cs typeface="Microsoft Sans Serif"/>
              </a:rPr>
              <a:t> </a:t>
            </a:r>
            <a:r>
              <a:rPr dirty="0" sz="950">
                <a:solidFill>
                  <a:srgbClr val="616161"/>
                </a:solidFill>
                <a:latin typeface="Microsoft Sans Serif"/>
                <a:cs typeface="Microsoft Sans Serif"/>
              </a:rPr>
              <a:t>data</a:t>
            </a:r>
            <a:r>
              <a:rPr dirty="0" sz="950" spc="-15">
                <a:solidFill>
                  <a:srgbClr val="616161"/>
                </a:solidFill>
                <a:latin typeface="Microsoft Sans Serif"/>
                <a:cs typeface="Microsoft Sans Serif"/>
              </a:rPr>
              <a:t> </a:t>
            </a:r>
            <a:r>
              <a:rPr dirty="0" sz="950">
                <a:solidFill>
                  <a:srgbClr val="616161"/>
                </a:solidFill>
                <a:latin typeface="Microsoft Sans Serif"/>
                <a:cs typeface="Microsoft Sans Serif"/>
              </a:rPr>
              <a:t>model</a:t>
            </a:r>
            <a:r>
              <a:rPr dirty="0" sz="950" spc="-15">
                <a:solidFill>
                  <a:srgbClr val="616161"/>
                </a:solidFill>
                <a:latin typeface="Microsoft Sans Serif"/>
                <a:cs typeface="Microsoft Sans Serif"/>
              </a:rPr>
              <a:t> </a:t>
            </a:r>
            <a:r>
              <a:rPr dirty="0" sz="950">
                <a:solidFill>
                  <a:srgbClr val="616161"/>
                </a:solidFill>
                <a:latin typeface="Microsoft Sans Serif"/>
                <a:cs typeface="Microsoft Sans Serif"/>
              </a:rPr>
              <a:t>+</a:t>
            </a:r>
            <a:r>
              <a:rPr dirty="0" sz="950" spc="-15">
                <a:solidFill>
                  <a:srgbClr val="616161"/>
                </a:solidFill>
                <a:latin typeface="Microsoft Sans Serif"/>
                <a:cs typeface="Microsoft Sans Serif"/>
              </a:rPr>
              <a:t> </a:t>
            </a:r>
            <a:r>
              <a:rPr dirty="0" sz="950" spc="-10">
                <a:solidFill>
                  <a:srgbClr val="616161"/>
                </a:solidFill>
                <a:latin typeface="Microsoft Sans Serif"/>
                <a:cs typeface="Microsoft Sans Serif"/>
              </a:rPr>
              <a:t>migrations</a:t>
            </a:r>
            <a:endParaRPr sz="950">
              <a:latin typeface="Microsoft Sans Serif"/>
              <a:cs typeface="Microsoft Sans Serif"/>
            </a:endParaRPr>
          </a:p>
          <a:p>
            <a:pPr marL="170815" indent="-158115">
              <a:lnSpc>
                <a:spcPct val="100000"/>
              </a:lnSpc>
              <a:spcBef>
                <a:spcPts val="815"/>
              </a:spcBef>
              <a:buClr>
                <a:srgbClr val="BDBDBD"/>
              </a:buClr>
              <a:buSzPct val="105263"/>
              <a:buFont typeface="Arial"/>
              <a:buChar char="•"/>
              <a:tabLst>
                <a:tab pos="170815" algn="l"/>
              </a:tabLst>
            </a:pPr>
            <a:r>
              <a:rPr dirty="0" sz="950">
                <a:solidFill>
                  <a:srgbClr val="616161"/>
                </a:solidFill>
                <a:latin typeface="Microsoft Sans Serif"/>
                <a:cs typeface="Microsoft Sans Serif"/>
              </a:rPr>
              <a:t>Import/sync</a:t>
            </a:r>
            <a:r>
              <a:rPr dirty="0" sz="950" spc="20">
                <a:solidFill>
                  <a:srgbClr val="616161"/>
                </a:solidFill>
                <a:latin typeface="Microsoft Sans Serif"/>
                <a:cs typeface="Microsoft Sans Serif"/>
              </a:rPr>
              <a:t> </a:t>
            </a:r>
            <a:r>
              <a:rPr dirty="0" sz="950">
                <a:solidFill>
                  <a:srgbClr val="616161"/>
                </a:solidFill>
                <a:latin typeface="Microsoft Sans Serif"/>
                <a:cs typeface="Microsoft Sans Serif"/>
              </a:rPr>
              <a:t>flows</a:t>
            </a:r>
            <a:r>
              <a:rPr dirty="0" sz="950" spc="25">
                <a:solidFill>
                  <a:srgbClr val="616161"/>
                </a:solidFill>
                <a:latin typeface="Microsoft Sans Serif"/>
                <a:cs typeface="Microsoft Sans Serif"/>
              </a:rPr>
              <a:t> </a:t>
            </a:r>
            <a:r>
              <a:rPr dirty="0" sz="950">
                <a:solidFill>
                  <a:srgbClr val="616161"/>
                </a:solidFill>
                <a:latin typeface="Microsoft Sans Serif"/>
                <a:cs typeface="Microsoft Sans Serif"/>
              </a:rPr>
              <a:t>for</a:t>
            </a:r>
            <a:r>
              <a:rPr dirty="0" sz="950" spc="25">
                <a:solidFill>
                  <a:srgbClr val="616161"/>
                </a:solidFill>
                <a:latin typeface="Microsoft Sans Serif"/>
                <a:cs typeface="Microsoft Sans Serif"/>
              </a:rPr>
              <a:t> </a:t>
            </a:r>
            <a:r>
              <a:rPr dirty="0" sz="950">
                <a:solidFill>
                  <a:srgbClr val="616161"/>
                </a:solidFill>
                <a:latin typeface="Microsoft Sans Serif"/>
                <a:cs typeface="Microsoft Sans Serif"/>
              </a:rPr>
              <a:t>Vitest</a:t>
            </a:r>
            <a:r>
              <a:rPr dirty="0" sz="950" spc="25">
                <a:solidFill>
                  <a:srgbClr val="616161"/>
                </a:solidFill>
                <a:latin typeface="Microsoft Sans Serif"/>
                <a:cs typeface="Microsoft Sans Serif"/>
              </a:rPr>
              <a:t> </a:t>
            </a:r>
            <a:r>
              <a:rPr dirty="0" sz="950" spc="-20">
                <a:solidFill>
                  <a:srgbClr val="616161"/>
                </a:solidFill>
                <a:latin typeface="Microsoft Sans Serif"/>
                <a:cs typeface="Microsoft Sans Serif"/>
              </a:rPr>
              <a:t>JSON</a:t>
            </a:r>
            <a:endParaRPr sz="950">
              <a:latin typeface="Microsoft Sans Serif"/>
              <a:cs typeface="Microsoft Sans Serif"/>
            </a:endParaRPr>
          </a:p>
          <a:p>
            <a:pPr marL="170815" indent="-158115">
              <a:lnSpc>
                <a:spcPct val="100000"/>
              </a:lnSpc>
              <a:spcBef>
                <a:spcPts val="755"/>
              </a:spcBef>
              <a:buClr>
                <a:srgbClr val="BDBDBD"/>
              </a:buClr>
              <a:buSzPct val="105263"/>
              <a:buFont typeface="Arial"/>
              <a:buChar char="•"/>
              <a:tabLst>
                <a:tab pos="170815" algn="l"/>
              </a:tabLst>
            </a:pPr>
            <a:r>
              <a:rPr dirty="0" sz="950" spc="-20">
                <a:solidFill>
                  <a:srgbClr val="616161"/>
                </a:solidFill>
                <a:latin typeface="Microsoft Sans Serif"/>
                <a:cs typeface="Microsoft Sans Serif"/>
              </a:rPr>
              <a:t>Database</a:t>
            </a:r>
            <a:r>
              <a:rPr dirty="0" sz="950" spc="-5">
                <a:solidFill>
                  <a:srgbClr val="616161"/>
                </a:solidFill>
                <a:latin typeface="Microsoft Sans Serif"/>
                <a:cs typeface="Microsoft Sans Serif"/>
              </a:rPr>
              <a:t> </a:t>
            </a:r>
            <a:r>
              <a:rPr dirty="0" sz="950" spc="-10">
                <a:solidFill>
                  <a:srgbClr val="616161"/>
                </a:solidFill>
                <a:latin typeface="Microsoft Sans Serif"/>
                <a:cs typeface="Microsoft Sans Serif"/>
              </a:rPr>
              <a:t>schema</a:t>
            </a:r>
            <a:r>
              <a:rPr dirty="0" sz="950" spc="-5">
                <a:solidFill>
                  <a:srgbClr val="616161"/>
                </a:solidFill>
                <a:latin typeface="Microsoft Sans Serif"/>
                <a:cs typeface="Microsoft Sans Serif"/>
              </a:rPr>
              <a:t> </a:t>
            </a:r>
            <a:r>
              <a:rPr dirty="0" sz="950" spc="-10">
                <a:solidFill>
                  <a:srgbClr val="616161"/>
                </a:solidFill>
                <a:latin typeface="Microsoft Sans Serif"/>
                <a:cs typeface="Microsoft Sans Serif"/>
              </a:rPr>
              <a:t>design</a:t>
            </a:r>
            <a:endParaRPr sz="950">
              <a:latin typeface="Microsoft Sans Serif"/>
              <a:cs typeface="Microsoft Sans Serif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480856" y="2819438"/>
            <a:ext cx="1993264" cy="66548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70815" indent="-158115">
              <a:lnSpc>
                <a:spcPct val="100000"/>
              </a:lnSpc>
              <a:spcBef>
                <a:spcPts val="135"/>
              </a:spcBef>
              <a:buClr>
                <a:srgbClr val="BDBDBD"/>
              </a:buClr>
              <a:buSzPct val="105263"/>
              <a:buFont typeface="Arial"/>
              <a:buChar char="•"/>
              <a:tabLst>
                <a:tab pos="170815" algn="l"/>
              </a:tabLst>
            </a:pPr>
            <a:r>
              <a:rPr dirty="0" sz="950">
                <a:solidFill>
                  <a:srgbClr val="616161"/>
                </a:solidFill>
                <a:latin typeface="Microsoft Sans Serif"/>
                <a:cs typeface="Microsoft Sans Serif"/>
              </a:rPr>
              <a:t>Metrics</a:t>
            </a:r>
            <a:r>
              <a:rPr dirty="0" sz="950" spc="-15">
                <a:solidFill>
                  <a:srgbClr val="616161"/>
                </a:solidFill>
                <a:latin typeface="Microsoft Sans Serif"/>
                <a:cs typeface="Microsoft Sans Serif"/>
              </a:rPr>
              <a:t> </a:t>
            </a:r>
            <a:r>
              <a:rPr dirty="0" sz="950">
                <a:solidFill>
                  <a:srgbClr val="616161"/>
                </a:solidFill>
                <a:latin typeface="Microsoft Sans Serif"/>
                <a:cs typeface="Microsoft Sans Serif"/>
              </a:rPr>
              <a:t>and</a:t>
            </a:r>
            <a:r>
              <a:rPr dirty="0" sz="950" spc="-10">
                <a:solidFill>
                  <a:srgbClr val="616161"/>
                </a:solidFill>
                <a:latin typeface="Microsoft Sans Serif"/>
                <a:cs typeface="Microsoft Sans Serif"/>
              </a:rPr>
              <a:t> </a:t>
            </a:r>
            <a:r>
              <a:rPr dirty="0" sz="950">
                <a:solidFill>
                  <a:srgbClr val="616161"/>
                </a:solidFill>
                <a:latin typeface="Microsoft Sans Serif"/>
                <a:cs typeface="Microsoft Sans Serif"/>
              </a:rPr>
              <a:t>quality</a:t>
            </a:r>
            <a:r>
              <a:rPr dirty="0" sz="950" spc="-15">
                <a:solidFill>
                  <a:srgbClr val="616161"/>
                </a:solidFill>
                <a:latin typeface="Microsoft Sans Serif"/>
                <a:cs typeface="Microsoft Sans Serif"/>
              </a:rPr>
              <a:t> </a:t>
            </a:r>
            <a:r>
              <a:rPr dirty="0" sz="950" spc="-10">
                <a:solidFill>
                  <a:srgbClr val="616161"/>
                </a:solidFill>
                <a:latin typeface="Microsoft Sans Serif"/>
                <a:cs typeface="Microsoft Sans Serif"/>
              </a:rPr>
              <a:t>overview</a:t>
            </a:r>
            <a:endParaRPr sz="950">
              <a:latin typeface="Microsoft Sans Serif"/>
              <a:cs typeface="Microsoft Sans Serif"/>
            </a:endParaRPr>
          </a:p>
          <a:p>
            <a:pPr marL="170815" indent="-158115">
              <a:lnSpc>
                <a:spcPct val="100000"/>
              </a:lnSpc>
              <a:spcBef>
                <a:spcPts val="815"/>
              </a:spcBef>
              <a:buClr>
                <a:srgbClr val="BDBDBD"/>
              </a:buClr>
              <a:buSzPct val="105263"/>
              <a:buFont typeface="Arial"/>
              <a:buChar char="•"/>
              <a:tabLst>
                <a:tab pos="170815" algn="l"/>
              </a:tabLst>
            </a:pPr>
            <a:r>
              <a:rPr dirty="0" sz="950" spc="-10">
                <a:solidFill>
                  <a:srgbClr val="616161"/>
                </a:solidFill>
                <a:latin typeface="Microsoft Sans Serif"/>
                <a:cs typeface="Microsoft Sans Serif"/>
              </a:rPr>
              <a:t>Stakeholder-</a:t>
            </a:r>
            <a:r>
              <a:rPr dirty="0" sz="950">
                <a:solidFill>
                  <a:srgbClr val="616161"/>
                </a:solidFill>
                <a:latin typeface="Microsoft Sans Serif"/>
                <a:cs typeface="Microsoft Sans Serif"/>
              </a:rPr>
              <a:t>friendly</a:t>
            </a:r>
            <a:r>
              <a:rPr dirty="0" sz="950" spc="75">
                <a:solidFill>
                  <a:srgbClr val="616161"/>
                </a:solidFill>
                <a:latin typeface="Microsoft Sans Serif"/>
                <a:cs typeface="Microsoft Sans Serif"/>
              </a:rPr>
              <a:t> </a:t>
            </a:r>
            <a:r>
              <a:rPr dirty="0" sz="950" spc="-10">
                <a:solidFill>
                  <a:srgbClr val="616161"/>
                </a:solidFill>
                <a:latin typeface="Microsoft Sans Serif"/>
                <a:cs typeface="Microsoft Sans Serif"/>
              </a:rPr>
              <a:t>dashboard</a:t>
            </a:r>
            <a:endParaRPr sz="950">
              <a:latin typeface="Microsoft Sans Serif"/>
              <a:cs typeface="Microsoft Sans Serif"/>
            </a:endParaRPr>
          </a:p>
          <a:p>
            <a:pPr marL="170815" indent="-158115">
              <a:lnSpc>
                <a:spcPct val="100000"/>
              </a:lnSpc>
              <a:spcBef>
                <a:spcPts val="750"/>
              </a:spcBef>
              <a:buClr>
                <a:srgbClr val="BDBDBD"/>
              </a:buClr>
              <a:buSzPct val="105263"/>
              <a:buFont typeface="Arial"/>
              <a:buChar char="•"/>
              <a:tabLst>
                <a:tab pos="170815" algn="l"/>
              </a:tabLst>
            </a:pPr>
            <a:r>
              <a:rPr dirty="0" sz="950" spc="-10">
                <a:solidFill>
                  <a:srgbClr val="616161"/>
                </a:solidFill>
                <a:latin typeface="Microsoft Sans Serif"/>
                <a:cs typeface="Microsoft Sans Serif"/>
              </a:rPr>
              <a:t>Coverage </a:t>
            </a:r>
            <a:r>
              <a:rPr dirty="0" sz="950">
                <a:solidFill>
                  <a:srgbClr val="616161"/>
                </a:solidFill>
                <a:latin typeface="Microsoft Sans Serif"/>
                <a:cs typeface="Microsoft Sans Serif"/>
              </a:rPr>
              <a:t>tracking</a:t>
            </a:r>
            <a:r>
              <a:rPr dirty="0" sz="950" spc="-10">
                <a:solidFill>
                  <a:srgbClr val="616161"/>
                </a:solidFill>
                <a:latin typeface="Microsoft Sans Serif"/>
                <a:cs typeface="Microsoft Sans Serif"/>
              </a:rPr>
              <a:t> </a:t>
            </a:r>
            <a:r>
              <a:rPr dirty="0" sz="950">
                <a:solidFill>
                  <a:srgbClr val="616161"/>
                </a:solidFill>
                <a:latin typeface="Microsoft Sans Serif"/>
                <a:cs typeface="Microsoft Sans Serif"/>
              </a:rPr>
              <a:t>by</a:t>
            </a:r>
            <a:r>
              <a:rPr dirty="0" sz="950" spc="-10">
                <a:solidFill>
                  <a:srgbClr val="616161"/>
                </a:solidFill>
                <a:latin typeface="Microsoft Sans Serif"/>
                <a:cs typeface="Microsoft Sans Serif"/>
              </a:rPr>
              <a:t> requirement</a:t>
            </a:r>
            <a:endParaRPr sz="950">
              <a:latin typeface="Microsoft Sans Serif"/>
              <a:cs typeface="Microsoft Sans Serif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92875" y="4306814"/>
            <a:ext cx="1638300" cy="110172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541020">
              <a:lnSpc>
                <a:spcPct val="100000"/>
              </a:lnSpc>
              <a:spcBef>
                <a:spcPts val="135"/>
              </a:spcBef>
            </a:pPr>
            <a:r>
              <a:rPr dirty="0" sz="1100" spc="80" b="1">
                <a:solidFill>
                  <a:srgbClr val="414141"/>
                </a:solidFill>
                <a:latin typeface="Trebuchet MS"/>
                <a:cs typeface="Trebuchet MS"/>
              </a:rPr>
              <a:t>AI</a:t>
            </a:r>
            <a:r>
              <a:rPr dirty="0" sz="1100" spc="-90" b="1">
                <a:solidFill>
                  <a:srgbClr val="414141"/>
                </a:solidFill>
                <a:latin typeface="Trebuchet MS"/>
                <a:cs typeface="Trebuchet MS"/>
              </a:rPr>
              <a:t> </a:t>
            </a:r>
            <a:r>
              <a:rPr dirty="0" sz="1100" spc="95" b="1">
                <a:solidFill>
                  <a:srgbClr val="414141"/>
                </a:solidFill>
                <a:latin typeface="Trebuchet MS"/>
                <a:cs typeface="Trebuchet MS"/>
              </a:rPr>
              <a:t>Assistant</a:t>
            </a:r>
            <a:endParaRPr sz="11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830"/>
              </a:spcBef>
            </a:pPr>
            <a:endParaRPr sz="1100">
              <a:latin typeface="Trebuchet MS"/>
              <a:cs typeface="Trebuchet MS"/>
            </a:endParaRPr>
          </a:p>
          <a:p>
            <a:pPr marL="170815" indent="-158115">
              <a:lnSpc>
                <a:spcPct val="100000"/>
              </a:lnSpc>
              <a:spcBef>
                <a:spcPts val="5"/>
              </a:spcBef>
              <a:buClr>
                <a:srgbClr val="BDBDBD"/>
              </a:buClr>
              <a:buSzPct val="105263"/>
              <a:buFont typeface="Arial"/>
              <a:buChar char="•"/>
              <a:tabLst>
                <a:tab pos="170815" algn="l"/>
              </a:tabLst>
            </a:pPr>
            <a:r>
              <a:rPr dirty="0" sz="950" spc="-10">
                <a:solidFill>
                  <a:srgbClr val="616161"/>
                </a:solidFill>
                <a:latin typeface="Microsoft Sans Serif"/>
                <a:cs typeface="Microsoft Sans Serif"/>
              </a:rPr>
              <a:t>Prompting</a:t>
            </a:r>
            <a:r>
              <a:rPr dirty="0" sz="950" spc="40">
                <a:solidFill>
                  <a:srgbClr val="616161"/>
                </a:solidFill>
                <a:latin typeface="Microsoft Sans Serif"/>
                <a:cs typeface="Microsoft Sans Serif"/>
              </a:rPr>
              <a:t> </a:t>
            </a:r>
            <a:r>
              <a:rPr dirty="0" sz="950">
                <a:solidFill>
                  <a:srgbClr val="616161"/>
                </a:solidFill>
                <a:latin typeface="Microsoft Sans Serif"/>
                <a:cs typeface="Microsoft Sans Serif"/>
              </a:rPr>
              <a:t>workflow</a:t>
            </a:r>
            <a:r>
              <a:rPr dirty="0" sz="950" spc="45">
                <a:solidFill>
                  <a:srgbClr val="616161"/>
                </a:solidFill>
                <a:latin typeface="Microsoft Sans Serif"/>
                <a:cs typeface="Microsoft Sans Serif"/>
              </a:rPr>
              <a:t> </a:t>
            </a:r>
            <a:r>
              <a:rPr dirty="0" sz="950" spc="-10">
                <a:solidFill>
                  <a:srgbClr val="616161"/>
                </a:solidFill>
                <a:latin typeface="Microsoft Sans Serif"/>
                <a:cs typeface="Microsoft Sans Serif"/>
              </a:rPr>
              <a:t>design</a:t>
            </a:r>
            <a:endParaRPr sz="950">
              <a:latin typeface="Microsoft Sans Serif"/>
              <a:cs typeface="Microsoft Sans Serif"/>
            </a:endParaRPr>
          </a:p>
          <a:p>
            <a:pPr marL="170815" indent="-158115">
              <a:lnSpc>
                <a:spcPct val="100000"/>
              </a:lnSpc>
              <a:spcBef>
                <a:spcPts val="815"/>
              </a:spcBef>
              <a:buClr>
                <a:srgbClr val="BDBDBD"/>
              </a:buClr>
              <a:buSzPct val="105263"/>
              <a:buFont typeface="Arial"/>
              <a:buChar char="•"/>
              <a:tabLst>
                <a:tab pos="170815" algn="l"/>
              </a:tabLst>
            </a:pPr>
            <a:r>
              <a:rPr dirty="0" sz="950" spc="-20">
                <a:solidFill>
                  <a:srgbClr val="616161"/>
                </a:solidFill>
                <a:latin typeface="Microsoft Sans Serif"/>
                <a:cs typeface="Microsoft Sans Serif"/>
              </a:rPr>
              <a:t>Faster</a:t>
            </a:r>
            <a:r>
              <a:rPr dirty="0" sz="950" spc="-5">
                <a:solidFill>
                  <a:srgbClr val="616161"/>
                </a:solidFill>
                <a:latin typeface="Microsoft Sans Serif"/>
                <a:cs typeface="Microsoft Sans Serif"/>
              </a:rPr>
              <a:t> </a:t>
            </a:r>
            <a:r>
              <a:rPr dirty="0" sz="950" spc="-10">
                <a:solidFill>
                  <a:srgbClr val="616161"/>
                </a:solidFill>
                <a:latin typeface="Microsoft Sans Serif"/>
                <a:cs typeface="Microsoft Sans Serif"/>
              </a:rPr>
              <a:t>requirement</a:t>
            </a:r>
            <a:r>
              <a:rPr dirty="0" sz="950">
                <a:solidFill>
                  <a:srgbClr val="616161"/>
                </a:solidFill>
                <a:latin typeface="Microsoft Sans Serif"/>
                <a:cs typeface="Microsoft Sans Serif"/>
              </a:rPr>
              <a:t> </a:t>
            </a:r>
            <a:r>
              <a:rPr dirty="0" sz="950" spc="-10">
                <a:solidFill>
                  <a:srgbClr val="616161"/>
                </a:solidFill>
                <a:latin typeface="Microsoft Sans Serif"/>
                <a:cs typeface="Microsoft Sans Serif"/>
              </a:rPr>
              <a:t>drafting</a:t>
            </a:r>
            <a:endParaRPr sz="950">
              <a:latin typeface="Microsoft Sans Serif"/>
              <a:cs typeface="Microsoft Sans Serif"/>
            </a:endParaRPr>
          </a:p>
          <a:p>
            <a:pPr marL="170815" indent="-158115">
              <a:lnSpc>
                <a:spcPct val="100000"/>
              </a:lnSpc>
              <a:spcBef>
                <a:spcPts val="755"/>
              </a:spcBef>
              <a:buClr>
                <a:srgbClr val="BDBDBD"/>
              </a:buClr>
              <a:buSzPct val="105263"/>
              <a:buFont typeface="Arial"/>
              <a:buChar char="•"/>
              <a:tabLst>
                <a:tab pos="170815" algn="l"/>
              </a:tabLst>
            </a:pPr>
            <a:r>
              <a:rPr dirty="0" sz="950" spc="-10">
                <a:solidFill>
                  <a:srgbClr val="616161"/>
                </a:solidFill>
                <a:latin typeface="Microsoft Sans Serif"/>
                <a:cs typeface="Microsoft Sans Serif"/>
              </a:rPr>
              <a:t>Integration</a:t>
            </a:r>
            <a:r>
              <a:rPr dirty="0" sz="950" spc="20">
                <a:solidFill>
                  <a:srgbClr val="616161"/>
                </a:solidFill>
                <a:latin typeface="Microsoft Sans Serif"/>
                <a:cs typeface="Microsoft Sans Serif"/>
              </a:rPr>
              <a:t> </a:t>
            </a:r>
            <a:r>
              <a:rPr dirty="0" sz="950">
                <a:solidFill>
                  <a:srgbClr val="616161"/>
                </a:solidFill>
                <a:latin typeface="Microsoft Sans Serif"/>
                <a:cs typeface="Microsoft Sans Serif"/>
              </a:rPr>
              <a:t>with</a:t>
            </a:r>
            <a:r>
              <a:rPr dirty="0" sz="950" spc="25">
                <a:solidFill>
                  <a:srgbClr val="616161"/>
                </a:solidFill>
                <a:latin typeface="Microsoft Sans Serif"/>
                <a:cs typeface="Microsoft Sans Serif"/>
              </a:rPr>
              <a:t> </a:t>
            </a:r>
            <a:r>
              <a:rPr dirty="0" sz="950">
                <a:solidFill>
                  <a:srgbClr val="616161"/>
                </a:solidFill>
                <a:latin typeface="Microsoft Sans Serif"/>
                <a:cs typeface="Microsoft Sans Serif"/>
              </a:rPr>
              <a:t>spec</a:t>
            </a:r>
            <a:r>
              <a:rPr dirty="0" sz="950" spc="25">
                <a:solidFill>
                  <a:srgbClr val="616161"/>
                </a:solidFill>
                <a:latin typeface="Microsoft Sans Serif"/>
                <a:cs typeface="Microsoft Sans Serif"/>
              </a:rPr>
              <a:t> </a:t>
            </a:r>
            <a:r>
              <a:rPr dirty="0" sz="950" spc="-10">
                <a:solidFill>
                  <a:srgbClr val="616161"/>
                </a:solidFill>
                <a:latin typeface="Microsoft Sans Serif"/>
                <a:cs typeface="Microsoft Sans Serif"/>
              </a:rPr>
              <a:t>editor</a:t>
            </a:r>
            <a:endParaRPr sz="950">
              <a:latin typeface="Microsoft Sans Serif"/>
              <a:cs typeface="Microsoft Sans Serif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480856" y="4742784"/>
            <a:ext cx="1832610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70815" indent="-158115">
              <a:lnSpc>
                <a:spcPct val="100000"/>
              </a:lnSpc>
              <a:spcBef>
                <a:spcPts val="135"/>
              </a:spcBef>
              <a:buClr>
                <a:srgbClr val="BDBDBD"/>
              </a:buClr>
              <a:buSzPct val="105263"/>
              <a:buFont typeface="Arial"/>
              <a:buChar char="•"/>
              <a:tabLst>
                <a:tab pos="170815" algn="l"/>
              </a:tabLst>
            </a:pPr>
            <a:r>
              <a:rPr dirty="0" sz="950">
                <a:solidFill>
                  <a:srgbClr val="616161"/>
                </a:solidFill>
                <a:latin typeface="Microsoft Sans Serif"/>
                <a:cs typeface="Microsoft Sans Serif"/>
              </a:rPr>
              <a:t>Unit</a:t>
            </a:r>
            <a:r>
              <a:rPr dirty="0" sz="950" spc="-15">
                <a:solidFill>
                  <a:srgbClr val="616161"/>
                </a:solidFill>
                <a:latin typeface="Microsoft Sans Serif"/>
                <a:cs typeface="Microsoft Sans Serif"/>
              </a:rPr>
              <a:t> </a:t>
            </a:r>
            <a:r>
              <a:rPr dirty="0" sz="950">
                <a:solidFill>
                  <a:srgbClr val="616161"/>
                </a:solidFill>
                <a:latin typeface="Microsoft Sans Serif"/>
                <a:cs typeface="Microsoft Sans Serif"/>
              </a:rPr>
              <a:t>tests</a:t>
            </a:r>
            <a:r>
              <a:rPr dirty="0" sz="950" spc="-15">
                <a:solidFill>
                  <a:srgbClr val="616161"/>
                </a:solidFill>
                <a:latin typeface="Microsoft Sans Serif"/>
                <a:cs typeface="Microsoft Sans Serif"/>
              </a:rPr>
              <a:t> </a:t>
            </a:r>
            <a:r>
              <a:rPr dirty="0" sz="950">
                <a:solidFill>
                  <a:srgbClr val="616161"/>
                </a:solidFill>
                <a:latin typeface="Microsoft Sans Serif"/>
                <a:cs typeface="Microsoft Sans Serif"/>
              </a:rPr>
              <a:t>for</a:t>
            </a:r>
            <a:r>
              <a:rPr dirty="0" sz="950" spc="-15">
                <a:solidFill>
                  <a:srgbClr val="616161"/>
                </a:solidFill>
                <a:latin typeface="Microsoft Sans Serif"/>
                <a:cs typeface="Microsoft Sans Serif"/>
              </a:rPr>
              <a:t> </a:t>
            </a:r>
            <a:r>
              <a:rPr dirty="0" sz="950">
                <a:solidFill>
                  <a:srgbClr val="616161"/>
                </a:solidFill>
                <a:latin typeface="Microsoft Sans Serif"/>
                <a:cs typeface="Microsoft Sans Serif"/>
              </a:rPr>
              <a:t>backend</a:t>
            </a:r>
            <a:r>
              <a:rPr dirty="0" sz="950" spc="-15">
                <a:solidFill>
                  <a:srgbClr val="616161"/>
                </a:solidFill>
                <a:latin typeface="Microsoft Sans Serif"/>
                <a:cs typeface="Microsoft Sans Serif"/>
              </a:rPr>
              <a:t> </a:t>
            </a:r>
            <a:r>
              <a:rPr dirty="0" sz="950" spc="-10">
                <a:solidFill>
                  <a:srgbClr val="616161"/>
                </a:solidFill>
                <a:latin typeface="Microsoft Sans Serif"/>
                <a:cs typeface="Microsoft Sans Serif"/>
              </a:rPr>
              <a:t>services</a:t>
            </a:r>
            <a:endParaRPr sz="950">
              <a:latin typeface="Microsoft Sans Serif"/>
              <a:cs typeface="Microsoft Sans Serif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480856" y="4991216"/>
            <a:ext cx="902969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70815" indent="-158115">
              <a:lnSpc>
                <a:spcPct val="100000"/>
              </a:lnSpc>
              <a:spcBef>
                <a:spcPts val="135"/>
              </a:spcBef>
              <a:buClr>
                <a:srgbClr val="BDBDBD"/>
              </a:buClr>
              <a:buSzPct val="105263"/>
              <a:buFont typeface="Arial"/>
              <a:buChar char="•"/>
              <a:tabLst>
                <a:tab pos="170815" algn="l"/>
              </a:tabLst>
            </a:pPr>
            <a:r>
              <a:rPr dirty="0" sz="950" spc="-70">
                <a:solidFill>
                  <a:srgbClr val="616161"/>
                </a:solidFill>
                <a:latin typeface="Microsoft Sans Serif"/>
                <a:cs typeface="Microsoft Sans Serif"/>
              </a:rPr>
              <a:t>E2E</a:t>
            </a:r>
            <a:r>
              <a:rPr dirty="0" sz="950">
                <a:solidFill>
                  <a:srgbClr val="616161"/>
                </a:solidFill>
                <a:latin typeface="Microsoft Sans Serif"/>
                <a:cs typeface="Microsoft Sans Serif"/>
              </a:rPr>
              <a:t> test</a:t>
            </a:r>
            <a:r>
              <a:rPr dirty="0" sz="950" spc="5">
                <a:solidFill>
                  <a:srgbClr val="616161"/>
                </a:solidFill>
                <a:latin typeface="Microsoft Sans Serif"/>
                <a:cs typeface="Microsoft Sans Serif"/>
              </a:rPr>
              <a:t> </a:t>
            </a:r>
            <a:r>
              <a:rPr dirty="0" sz="950" spc="-10">
                <a:solidFill>
                  <a:srgbClr val="616161"/>
                </a:solidFill>
                <a:latin typeface="Microsoft Sans Serif"/>
                <a:cs typeface="Microsoft Sans Serif"/>
              </a:rPr>
              <a:t>suite</a:t>
            </a:r>
            <a:endParaRPr sz="950">
              <a:latin typeface="Microsoft Sans Serif"/>
              <a:cs typeface="Microsoft Sans Serif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480856" y="5231634"/>
            <a:ext cx="1361440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70815" indent="-158115">
              <a:lnSpc>
                <a:spcPct val="100000"/>
              </a:lnSpc>
              <a:spcBef>
                <a:spcPts val="135"/>
              </a:spcBef>
              <a:buClr>
                <a:srgbClr val="BDBDBD"/>
              </a:buClr>
              <a:buSzPct val="105263"/>
              <a:buFont typeface="Arial"/>
              <a:buChar char="•"/>
              <a:tabLst>
                <a:tab pos="170815" algn="l"/>
              </a:tabLst>
            </a:pPr>
            <a:r>
              <a:rPr dirty="0" sz="950" spc="-20">
                <a:solidFill>
                  <a:srgbClr val="616161"/>
                </a:solidFill>
                <a:latin typeface="Microsoft Sans Serif"/>
                <a:cs typeface="Microsoft Sans Serif"/>
              </a:rPr>
              <a:t>Test</a:t>
            </a:r>
            <a:r>
              <a:rPr dirty="0" sz="950" spc="-15">
                <a:solidFill>
                  <a:srgbClr val="616161"/>
                </a:solidFill>
                <a:latin typeface="Microsoft Sans Serif"/>
                <a:cs typeface="Microsoft Sans Serif"/>
              </a:rPr>
              <a:t> </a:t>
            </a:r>
            <a:r>
              <a:rPr dirty="0" sz="950" spc="-10">
                <a:solidFill>
                  <a:srgbClr val="616161"/>
                </a:solidFill>
                <a:latin typeface="Microsoft Sans Serif"/>
                <a:cs typeface="Microsoft Sans Serif"/>
              </a:rPr>
              <a:t>automation</a:t>
            </a:r>
            <a:r>
              <a:rPr dirty="0" sz="950" spc="-15">
                <a:solidFill>
                  <a:srgbClr val="616161"/>
                </a:solidFill>
                <a:latin typeface="Microsoft Sans Serif"/>
                <a:cs typeface="Microsoft Sans Serif"/>
              </a:rPr>
              <a:t> </a:t>
            </a:r>
            <a:r>
              <a:rPr dirty="0" sz="950" spc="-20">
                <a:solidFill>
                  <a:srgbClr val="616161"/>
                </a:solidFill>
                <a:latin typeface="Microsoft Sans Serif"/>
                <a:cs typeface="Microsoft Sans Serif"/>
              </a:rPr>
              <a:t>setup</a:t>
            </a:r>
            <a:endParaRPr sz="950">
              <a:latin typeface="Microsoft Sans Serif"/>
              <a:cs typeface="Microsoft Sans Serif"/>
            </a:endParaRPr>
          </a:p>
        </p:txBody>
      </p:sp>
      <p:pic>
        <p:nvPicPr>
          <p:cNvPr id="32" name="object 3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007670" y="5409410"/>
            <a:ext cx="96167" cy="96167"/>
          </a:xfrm>
          <a:prstGeom prst="rect">
            <a:avLst/>
          </a:prstGeom>
        </p:spPr>
      </p:pic>
      <p:sp>
        <p:nvSpPr>
          <p:cNvPr id="33" name="object 33"/>
          <p:cNvSpPr txBox="1"/>
          <p:nvPr/>
        </p:nvSpPr>
        <p:spPr>
          <a:xfrm>
            <a:off x="9169648" y="5380682"/>
            <a:ext cx="772795" cy="1409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750" spc="100" b="1">
                <a:solidFill>
                  <a:srgbClr val="747474"/>
                </a:solidFill>
                <a:latin typeface="Trebuchet MS"/>
                <a:cs typeface="Trebuchet MS"/>
              </a:rPr>
              <a:t>AUTOMASPEC</a:t>
            </a:r>
            <a:endParaRPr sz="7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626099" y="854075"/>
            <a:ext cx="2163445" cy="5054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150" spc="200" b="1">
                <a:solidFill>
                  <a:srgbClr val="202020"/>
                </a:solidFill>
                <a:latin typeface="Trebuchet MS"/>
                <a:cs typeface="Trebuchet MS"/>
              </a:rPr>
              <a:t>Resources</a:t>
            </a:r>
            <a:endParaRPr sz="3150">
              <a:latin typeface="Trebuchet MS"/>
              <a:cs typeface="Trebuchet M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638799" y="1809749"/>
            <a:ext cx="5791200" cy="895350"/>
            <a:chOff x="5638799" y="1809749"/>
            <a:chExt cx="5791200" cy="895350"/>
          </a:xfrm>
        </p:grpSpPr>
        <p:sp>
          <p:nvSpPr>
            <p:cNvPr id="4" name="object 4"/>
            <p:cNvSpPr/>
            <p:nvPr/>
          </p:nvSpPr>
          <p:spPr>
            <a:xfrm>
              <a:off x="5657849" y="1809749"/>
              <a:ext cx="5772150" cy="895350"/>
            </a:xfrm>
            <a:custGeom>
              <a:avLst/>
              <a:gdLst/>
              <a:ahLst/>
              <a:cxnLst/>
              <a:rect l="l" t="t" r="r" b="b"/>
              <a:pathLst>
                <a:path w="5772150" h="895350">
                  <a:moveTo>
                    <a:pt x="5683153" y="895349"/>
                  </a:moveTo>
                  <a:lnTo>
                    <a:pt x="71196" y="895349"/>
                  </a:lnTo>
                  <a:lnTo>
                    <a:pt x="66240" y="894739"/>
                  </a:lnTo>
                  <a:lnTo>
                    <a:pt x="29704" y="875822"/>
                  </a:lnTo>
                  <a:lnTo>
                    <a:pt x="7714" y="842328"/>
                  </a:lnTo>
                  <a:lnTo>
                    <a:pt x="0" y="806353"/>
                  </a:lnTo>
                  <a:lnTo>
                    <a:pt x="0" y="800099"/>
                  </a:lnTo>
                  <a:lnTo>
                    <a:pt x="0" y="88995"/>
                  </a:lnTo>
                  <a:lnTo>
                    <a:pt x="10060" y="47531"/>
                  </a:lnTo>
                  <a:lnTo>
                    <a:pt x="38024" y="12577"/>
                  </a:lnTo>
                  <a:lnTo>
                    <a:pt x="71196" y="0"/>
                  </a:lnTo>
                  <a:lnTo>
                    <a:pt x="5683153" y="0"/>
                  </a:lnTo>
                  <a:lnTo>
                    <a:pt x="5724615" y="12577"/>
                  </a:lnTo>
                  <a:lnTo>
                    <a:pt x="5759570" y="47531"/>
                  </a:lnTo>
                  <a:lnTo>
                    <a:pt x="5772148" y="88995"/>
                  </a:lnTo>
                  <a:lnTo>
                    <a:pt x="5772148" y="806353"/>
                  </a:lnTo>
                  <a:lnTo>
                    <a:pt x="5759570" y="847817"/>
                  </a:lnTo>
                  <a:lnTo>
                    <a:pt x="5724615" y="882771"/>
                  </a:lnTo>
                  <a:lnTo>
                    <a:pt x="5689346" y="894739"/>
                  </a:lnTo>
                  <a:lnTo>
                    <a:pt x="5683153" y="895349"/>
                  </a:lnTo>
                  <a:close/>
                </a:path>
              </a:pathLst>
            </a:custGeom>
            <a:solidFill>
              <a:srgbClr val="F7F9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5638799" y="1810178"/>
              <a:ext cx="86995" cy="894715"/>
            </a:xfrm>
            <a:custGeom>
              <a:avLst/>
              <a:gdLst/>
              <a:ahLst/>
              <a:cxnLst/>
              <a:rect l="l" t="t" r="r" b="b"/>
              <a:pathLst>
                <a:path w="86995" h="894714">
                  <a:moveTo>
                    <a:pt x="86379" y="894493"/>
                  </a:moveTo>
                  <a:lnTo>
                    <a:pt x="42321" y="878883"/>
                  </a:lnTo>
                  <a:lnTo>
                    <a:pt x="11259" y="844617"/>
                  </a:lnTo>
                  <a:lnTo>
                    <a:pt x="0" y="799671"/>
                  </a:lnTo>
                  <a:lnTo>
                    <a:pt x="0" y="94821"/>
                  </a:lnTo>
                  <a:lnTo>
                    <a:pt x="11259" y="49875"/>
                  </a:lnTo>
                  <a:lnTo>
                    <a:pt x="42321" y="15608"/>
                  </a:lnTo>
                  <a:lnTo>
                    <a:pt x="86379" y="0"/>
                  </a:lnTo>
                  <a:lnTo>
                    <a:pt x="80381" y="1988"/>
                  </a:lnTo>
                  <a:lnTo>
                    <a:pt x="73379" y="6821"/>
                  </a:lnTo>
                  <a:lnTo>
                    <a:pt x="47722" y="41893"/>
                  </a:lnTo>
                  <a:lnTo>
                    <a:pt x="38371" y="85438"/>
                  </a:lnTo>
                  <a:lnTo>
                    <a:pt x="38100" y="94821"/>
                  </a:lnTo>
                  <a:lnTo>
                    <a:pt x="38100" y="799671"/>
                  </a:lnTo>
                  <a:lnTo>
                    <a:pt x="44855" y="844617"/>
                  </a:lnTo>
                  <a:lnTo>
                    <a:pt x="63492" y="878883"/>
                  </a:lnTo>
                  <a:lnTo>
                    <a:pt x="80381" y="892504"/>
                  </a:lnTo>
                  <a:lnTo>
                    <a:pt x="86379" y="894493"/>
                  </a:lnTo>
                  <a:close/>
                </a:path>
              </a:pathLst>
            </a:custGeom>
            <a:solidFill>
              <a:srgbClr val="41A5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5943598" y="2019299"/>
              <a:ext cx="476250" cy="476250"/>
            </a:xfrm>
            <a:custGeom>
              <a:avLst/>
              <a:gdLst/>
              <a:ahLst/>
              <a:cxnLst/>
              <a:rect l="l" t="t" r="r" b="b"/>
              <a:pathLst>
                <a:path w="476250" h="476250">
                  <a:moveTo>
                    <a:pt x="387254" y="476249"/>
                  </a:moveTo>
                  <a:lnTo>
                    <a:pt x="88996" y="476249"/>
                  </a:lnTo>
                  <a:lnTo>
                    <a:pt x="82801" y="475639"/>
                  </a:lnTo>
                  <a:lnTo>
                    <a:pt x="37131" y="456722"/>
                  </a:lnTo>
                  <a:lnTo>
                    <a:pt x="9643" y="423228"/>
                  </a:lnTo>
                  <a:lnTo>
                    <a:pt x="0" y="387254"/>
                  </a:lnTo>
                  <a:lnTo>
                    <a:pt x="0" y="380999"/>
                  </a:lnTo>
                  <a:lnTo>
                    <a:pt x="0" y="88995"/>
                  </a:lnTo>
                  <a:lnTo>
                    <a:pt x="12577" y="47531"/>
                  </a:lnTo>
                  <a:lnTo>
                    <a:pt x="47531" y="12577"/>
                  </a:lnTo>
                  <a:lnTo>
                    <a:pt x="88996" y="0"/>
                  </a:lnTo>
                  <a:lnTo>
                    <a:pt x="387254" y="0"/>
                  </a:lnTo>
                  <a:lnTo>
                    <a:pt x="428718" y="12577"/>
                  </a:lnTo>
                  <a:lnTo>
                    <a:pt x="463671" y="47531"/>
                  </a:lnTo>
                  <a:lnTo>
                    <a:pt x="476250" y="88995"/>
                  </a:lnTo>
                  <a:lnTo>
                    <a:pt x="476250" y="387254"/>
                  </a:lnTo>
                  <a:lnTo>
                    <a:pt x="463671" y="428717"/>
                  </a:lnTo>
                  <a:lnTo>
                    <a:pt x="428718" y="463671"/>
                  </a:lnTo>
                  <a:lnTo>
                    <a:pt x="393448" y="475639"/>
                  </a:lnTo>
                  <a:lnTo>
                    <a:pt x="387254" y="476249"/>
                  </a:lnTo>
                  <a:close/>
                </a:path>
              </a:pathLst>
            </a:custGeom>
            <a:solidFill>
              <a:srgbClr val="E3F1F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76949" y="2152649"/>
              <a:ext cx="209550" cy="209550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6597650" y="2011903"/>
            <a:ext cx="2755265" cy="465455"/>
          </a:xfrm>
          <a:prstGeom prst="rect">
            <a:avLst/>
          </a:prstGeom>
        </p:spPr>
        <p:txBody>
          <a:bodyPr wrap="square" lIns="0" tIns="482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dirty="0" sz="950" spc="75" b="1">
                <a:solidFill>
                  <a:srgbClr val="747474"/>
                </a:solidFill>
                <a:latin typeface="Trebuchet MS"/>
                <a:cs typeface="Trebuchet MS"/>
              </a:rPr>
              <a:t>REPOSITORY</a:t>
            </a: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dirty="0" sz="1350" spc="-35">
                <a:solidFill>
                  <a:srgbClr val="202020"/>
                </a:solidFill>
                <a:latin typeface="Microsoft Sans Serif"/>
                <a:cs typeface="Microsoft Sans Serif"/>
              </a:rPr>
              <a:t>github</a:t>
            </a:r>
            <a:r>
              <a:rPr dirty="0" sz="1350" spc="-35">
                <a:solidFill>
                  <a:srgbClr val="202020"/>
                </a:solidFill>
                <a:latin typeface="Tahoma"/>
                <a:cs typeface="Tahoma"/>
              </a:rPr>
              <a:t>.</a:t>
            </a:r>
            <a:r>
              <a:rPr dirty="0" sz="1350" spc="-35">
                <a:solidFill>
                  <a:srgbClr val="202020"/>
                </a:solidFill>
                <a:latin typeface="Microsoft Sans Serif"/>
                <a:cs typeface="Microsoft Sans Serif"/>
              </a:rPr>
              <a:t>com</a:t>
            </a:r>
            <a:r>
              <a:rPr dirty="0" sz="1350" spc="-35">
                <a:solidFill>
                  <a:srgbClr val="202020"/>
                </a:solidFill>
                <a:latin typeface="Tahoma"/>
                <a:cs typeface="Tahoma"/>
              </a:rPr>
              <a:t>/</a:t>
            </a:r>
            <a:r>
              <a:rPr dirty="0" sz="1350" spc="-35">
                <a:solidFill>
                  <a:srgbClr val="202020"/>
                </a:solidFill>
                <a:latin typeface="Microsoft Sans Serif"/>
                <a:cs typeface="Microsoft Sans Serif"/>
              </a:rPr>
              <a:t>automaspec</a:t>
            </a:r>
            <a:r>
              <a:rPr dirty="0" sz="1350" spc="-35">
                <a:solidFill>
                  <a:srgbClr val="202020"/>
                </a:solidFill>
                <a:latin typeface="Tahoma"/>
                <a:cs typeface="Tahoma"/>
              </a:rPr>
              <a:t>/</a:t>
            </a:r>
            <a:r>
              <a:rPr dirty="0" sz="1350" spc="-35">
                <a:solidFill>
                  <a:srgbClr val="202020"/>
                </a:solidFill>
                <a:latin typeface="Microsoft Sans Serif"/>
                <a:cs typeface="Microsoft Sans Serif"/>
              </a:rPr>
              <a:t>automaspec</a:t>
            </a:r>
            <a:endParaRPr sz="1350">
              <a:latin typeface="Microsoft Sans Serif"/>
              <a:cs typeface="Microsoft Sans Serif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638799" y="2876549"/>
            <a:ext cx="5791200" cy="895350"/>
            <a:chOff x="5638799" y="2876549"/>
            <a:chExt cx="5791200" cy="895350"/>
          </a:xfrm>
        </p:grpSpPr>
        <p:sp>
          <p:nvSpPr>
            <p:cNvPr id="10" name="object 10"/>
            <p:cNvSpPr/>
            <p:nvPr/>
          </p:nvSpPr>
          <p:spPr>
            <a:xfrm>
              <a:off x="5657849" y="2876549"/>
              <a:ext cx="5772150" cy="895350"/>
            </a:xfrm>
            <a:custGeom>
              <a:avLst/>
              <a:gdLst/>
              <a:ahLst/>
              <a:cxnLst/>
              <a:rect l="l" t="t" r="r" b="b"/>
              <a:pathLst>
                <a:path w="5772150" h="895350">
                  <a:moveTo>
                    <a:pt x="5683153" y="895349"/>
                  </a:moveTo>
                  <a:lnTo>
                    <a:pt x="71196" y="895349"/>
                  </a:lnTo>
                  <a:lnTo>
                    <a:pt x="66240" y="894739"/>
                  </a:lnTo>
                  <a:lnTo>
                    <a:pt x="29704" y="875822"/>
                  </a:lnTo>
                  <a:lnTo>
                    <a:pt x="7714" y="842328"/>
                  </a:lnTo>
                  <a:lnTo>
                    <a:pt x="0" y="806354"/>
                  </a:lnTo>
                  <a:lnTo>
                    <a:pt x="0" y="800099"/>
                  </a:lnTo>
                  <a:lnTo>
                    <a:pt x="0" y="88995"/>
                  </a:lnTo>
                  <a:lnTo>
                    <a:pt x="10060" y="47531"/>
                  </a:lnTo>
                  <a:lnTo>
                    <a:pt x="38024" y="12577"/>
                  </a:lnTo>
                  <a:lnTo>
                    <a:pt x="71196" y="0"/>
                  </a:lnTo>
                  <a:lnTo>
                    <a:pt x="5683153" y="0"/>
                  </a:lnTo>
                  <a:lnTo>
                    <a:pt x="5724615" y="12577"/>
                  </a:lnTo>
                  <a:lnTo>
                    <a:pt x="5759570" y="47531"/>
                  </a:lnTo>
                  <a:lnTo>
                    <a:pt x="5772148" y="88995"/>
                  </a:lnTo>
                  <a:lnTo>
                    <a:pt x="5772148" y="806354"/>
                  </a:lnTo>
                  <a:lnTo>
                    <a:pt x="5759570" y="847817"/>
                  </a:lnTo>
                  <a:lnTo>
                    <a:pt x="5724615" y="882771"/>
                  </a:lnTo>
                  <a:lnTo>
                    <a:pt x="5689346" y="894739"/>
                  </a:lnTo>
                  <a:lnTo>
                    <a:pt x="5683153" y="895349"/>
                  </a:lnTo>
                  <a:close/>
                </a:path>
              </a:pathLst>
            </a:custGeom>
            <a:solidFill>
              <a:srgbClr val="F7F9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5638799" y="2876978"/>
              <a:ext cx="86995" cy="894715"/>
            </a:xfrm>
            <a:custGeom>
              <a:avLst/>
              <a:gdLst/>
              <a:ahLst/>
              <a:cxnLst/>
              <a:rect l="l" t="t" r="r" b="b"/>
              <a:pathLst>
                <a:path w="86995" h="894714">
                  <a:moveTo>
                    <a:pt x="86379" y="894492"/>
                  </a:moveTo>
                  <a:lnTo>
                    <a:pt x="42321" y="878883"/>
                  </a:lnTo>
                  <a:lnTo>
                    <a:pt x="11259" y="844617"/>
                  </a:lnTo>
                  <a:lnTo>
                    <a:pt x="0" y="799671"/>
                  </a:lnTo>
                  <a:lnTo>
                    <a:pt x="0" y="94821"/>
                  </a:lnTo>
                  <a:lnTo>
                    <a:pt x="11259" y="49875"/>
                  </a:lnTo>
                  <a:lnTo>
                    <a:pt x="42321" y="15609"/>
                  </a:lnTo>
                  <a:lnTo>
                    <a:pt x="86379" y="0"/>
                  </a:lnTo>
                  <a:lnTo>
                    <a:pt x="80381" y="1988"/>
                  </a:lnTo>
                  <a:lnTo>
                    <a:pt x="73379" y="6821"/>
                  </a:lnTo>
                  <a:lnTo>
                    <a:pt x="47722" y="41893"/>
                  </a:lnTo>
                  <a:lnTo>
                    <a:pt x="38371" y="85438"/>
                  </a:lnTo>
                  <a:lnTo>
                    <a:pt x="38100" y="94821"/>
                  </a:lnTo>
                  <a:lnTo>
                    <a:pt x="38100" y="799671"/>
                  </a:lnTo>
                  <a:lnTo>
                    <a:pt x="44855" y="844617"/>
                  </a:lnTo>
                  <a:lnTo>
                    <a:pt x="63492" y="878883"/>
                  </a:lnTo>
                  <a:lnTo>
                    <a:pt x="80381" y="892504"/>
                  </a:lnTo>
                  <a:lnTo>
                    <a:pt x="86379" y="894492"/>
                  </a:lnTo>
                  <a:close/>
                </a:path>
              </a:pathLst>
            </a:custGeom>
            <a:solidFill>
              <a:srgbClr val="41A5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5943598" y="3086099"/>
              <a:ext cx="476250" cy="476250"/>
            </a:xfrm>
            <a:custGeom>
              <a:avLst/>
              <a:gdLst/>
              <a:ahLst/>
              <a:cxnLst/>
              <a:rect l="l" t="t" r="r" b="b"/>
              <a:pathLst>
                <a:path w="476250" h="476250">
                  <a:moveTo>
                    <a:pt x="387254" y="476249"/>
                  </a:moveTo>
                  <a:lnTo>
                    <a:pt x="88996" y="476249"/>
                  </a:lnTo>
                  <a:lnTo>
                    <a:pt x="82801" y="475639"/>
                  </a:lnTo>
                  <a:lnTo>
                    <a:pt x="37131" y="456722"/>
                  </a:lnTo>
                  <a:lnTo>
                    <a:pt x="9643" y="423228"/>
                  </a:lnTo>
                  <a:lnTo>
                    <a:pt x="0" y="387253"/>
                  </a:lnTo>
                  <a:lnTo>
                    <a:pt x="0" y="380999"/>
                  </a:lnTo>
                  <a:lnTo>
                    <a:pt x="0" y="88995"/>
                  </a:lnTo>
                  <a:lnTo>
                    <a:pt x="12577" y="47531"/>
                  </a:lnTo>
                  <a:lnTo>
                    <a:pt x="47531" y="12577"/>
                  </a:lnTo>
                  <a:lnTo>
                    <a:pt x="88996" y="0"/>
                  </a:lnTo>
                  <a:lnTo>
                    <a:pt x="387254" y="0"/>
                  </a:lnTo>
                  <a:lnTo>
                    <a:pt x="428718" y="12577"/>
                  </a:lnTo>
                  <a:lnTo>
                    <a:pt x="463671" y="47531"/>
                  </a:lnTo>
                  <a:lnTo>
                    <a:pt x="476250" y="88995"/>
                  </a:lnTo>
                  <a:lnTo>
                    <a:pt x="476250" y="387253"/>
                  </a:lnTo>
                  <a:lnTo>
                    <a:pt x="463671" y="428717"/>
                  </a:lnTo>
                  <a:lnTo>
                    <a:pt x="428718" y="463671"/>
                  </a:lnTo>
                  <a:lnTo>
                    <a:pt x="393448" y="475639"/>
                  </a:lnTo>
                  <a:lnTo>
                    <a:pt x="387254" y="476249"/>
                  </a:lnTo>
                  <a:close/>
                </a:path>
              </a:pathLst>
            </a:custGeom>
            <a:solidFill>
              <a:srgbClr val="E3F1F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85680" y="3236912"/>
              <a:ext cx="192087" cy="174625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6597650" y="3111500"/>
            <a:ext cx="584200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b="1">
                <a:solidFill>
                  <a:srgbClr val="747474"/>
                </a:solidFill>
                <a:latin typeface="Trebuchet MS"/>
                <a:cs typeface="Trebuchet MS"/>
              </a:rPr>
              <a:t>LIVE</a:t>
            </a:r>
            <a:r>
              <a:rPr dirty="0" sz="950" spc="170" b="1">
                <a:solidFill>
                  <a:srgbClr val="747474"/>
                </a:solidFill>
                <a:latin typeface="Trebuchet MS"/>
                <a:cs typeface="Trebuchet MS"/>
              </a:rPr>
              <a:t> </a:t>
            </a:r>
            <a:r>
              <a:rPr dirty="0" sz="950" spc="65" b="1">
                <a:solidFill>
                  <a:srgbClr val="747474"/>
                </a:solidFill>
                <a:latin typeface="Trebuchet MS"/>
                <a:cs typeface="Trebuchet MS"/>
              </a:rPr>
              <a:t>APP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597650" y="3306762"/>
            <a:ext cx="1735455" cy="23685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50" spc="-30">
                <a:solidFill>
                  <a:srgbClr val="202020"/>
                </a:solidFill>
                <a:latin typeface="Microsoft Sans Serif"/>
                <a:cs typeface="Microsoft Sans Serif"/>
              </a:rPr>
              <a:t>automaspec</a:t>
            </a:r>
            <a:r>
              <a:rPr dirty="0" sz="1350" spc="-30">
                <a:solidFill>
                  <a:srgbClr val="202020"/>
                </a:solidFill>
                <a:latin typeface="Tahoma"/>
                <a:cs typeface="Tahoma"/>
              </a:rPr>
              <a:t>.</a:t>
            </a:r>
            <a:r>
              <a:rPr dirty="0" sz="1350" spc="-30">
                <a:solidFill>
                  <a:srgbClr val="202020"/>
                </a:solidFill>
                <a:latin typeface="Microsoft Sans Serif"/>
                <a:cs typeface="Microsoft Sans Serif"/>
              </a:rPr>
              <a:t>vercel</a:t>
            </a:r>
            <a:r>
              <a:rPr dirty="0" sz="1350" spc="-30">
                <a:solidFill>
                  <a:srgbClr val="202020"/>
                </a:solidFill>
                <a:latin typeface="Tahoma"/>
                <a:cs typeface="Tahoma"/>
              </a:rPr>
              <a:t>.</a:t>
            </a:r>
            <a:r>
              <a:rPr dirty="0" sz="1350" spc="-30">
                <a:solidFill>
                  <a:srgbClr val="202020"/>
                </a:solidFill>
                <a:latin typeface="Microsoft Sans Serif"/>
                <a:cs typeface="Microsoft Sans Serif"/>
              </a:rPr>
              <a:t>app</a:t>
            </a:r>
            <a:endParaRPr sz="1350">
              <a:latin typeface="Microsoft Sans Serif"/>
              <a:cs typeface="Microsoft Sans Serif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638799" y="3943349"/>
            <a:ext cx="5791200" cy="895350"/>
            <a:chOff x="5638799" y="3943349"/>
            <a:chExt cx="5791200" cy="895350"/>
          </a:xfrm>
        </p:grpSpPr>
        <p:sp>
          <p:nvSpPr>
            <p:cNvPr id="17" name="object 17"/>
            <p:cNvSpPr/>
            <p:nvPr/>
          </p:nvSpPr>
          <p:spPr>
            <a:xfrm>
              <a:off x="5657849" y="3943349"/>
              <a:ext cx="5772150" cy="895350"/>
            </a:xfrm>
            <a:custGeom>
              <a:avLst/>
              <a:gdLst/>
              <a:ahLst/>
              <a:cxnLst/>
              <a:rect l="l" t="t" r="r" b="b"/>
              <a:pathLst>
                <a:path w="5772150" h="895350">
                  <a:moveTo>
                    <a:pt x="5683153" y="895349"/>
                  </a:moveTo>
                  <a:lnTo>
                    <a:pt x="71196" y="895349"/>
                  </a:lnTo>
                  <a:lnTo>
                    <a:pt x="66240" y="894739"/>
                  </a:lnTo>
                  <a:lnTo>
                    <a:pt x="29704" y="875821"/>
                  </a:lnTo>
                  <a:lnTo>
                    <a:pt x="7714" y="842327"/>
                  </a:lnTo>
                  <a:lnTo>
                    <a:pt x="0" y="806353"/>
                  </a:lnTo>
                  <a:lnTo>
                    <a:pt x="0" y="800099"/>
                  </a:lnTo>
                  <a:lnTo>
                    <a:pt x="0" y="88995"/>
                  </a:lnTo>
                  <a:lnTo>
                    <a:pt x="10060" y="47531"/>
                  </a:lnTo>
                  <a:lnTo>
                    <a:pt x="38024" y="12577"/>
                  </a:lnTo>
                  <a:lnTo>
                    <a:pt x="71196" y="0"/>
                  </a:lnTo>
                  <a:lnTo>
                    <a:pt x="5683153" y="0"/>
                  </a:lnTo>
                  <a:lnTo>
                    <a:pt x="5724615" y="12577"/>
                  </a:lnTo>
                  <a:lnTo>
                    <a:pt x="5759570" y="47531"/>
                  </a:lnTo>
                  <a:lnTo>
                    <a:pt x="5772148" y="88995"/>
                  </a:lnTo>
                  <a:lnTo>
                    <a:pt x="5772148" y="806353"/>
                  </a:lnTo>
                  <a:lnTo>
                    <a:pt x="5759570" y="847817"/>
                  </a:lnTo>
                  <a:lnTo>
                    <a:pt x="5724615" y="882771"/>
                  </a:lnTo>
                  <a:lnTo>
                    <a:pt x="5689346" y="894739"/>
                  </a:lnTo>
                  <a:lnTo>
                    <a:pt x="5683153" y="895349"/>
                  </a:lnTo>
                  <a:close/>
                </a:path>
              </a:pathLst>
            </a:custGeom>
            <a:solidFill>
              <a:srgbClr val="F7F9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5638799" y="3943778"/>
              <a:ext cx="86995" cy="894715"/>
            </a:xfrm>
            <a:custGeom>
              <a:avLst/>
              <a:gdLst/>
              <a:ahLst/>
              <a:cxnLst/>
              <a:rect l="l" t="t" r="r" b="b"/>
              <a:pathLst>
                <a:path w="86995" h="894714">
                  <a:moveTo>
                    <a:pt x="86379" y="894492"/>
                  </a:moveTo>
                  <a:lnTo>
                    <a:pt x="42321" y="878883"/>
                  </a:lnTo>
                  <a:lnTo>
                    <a:pt x="11259" y="844617"/>
                  </a:lnTo>
                  <a:lnTo>
                    <a:pt x="0" y="799671"/>
                  </a:lnTo>
                  <a:lnTo>
                    <a:pt x="0" y="94821"/>
                  </a:lnTo>
                  <a:lnTo>
                    <a:pt x="11259" y="49874"/>
                  </a:lnTo>
                  <a:lnTo>
                    <a:pt x="42321" y="15608"/>
                  </a:lnTo>
                  <a:lnTo>
                    <a:pt x="86379" y="0"/>
                  </a:lnTo>
                  <a:lnTo>
                    <a:pt x="80381" y="1988"/>
                  </a:lnTo>
                  <a:lnTo>
                    <a:pt x="73379" y="6821"/>
                  </a:lnTo>
                  <a:lnTo>
                    <a:pt x="47722" y="41893"/>
                  </a:lnTo>
                  <a:lnTo>
                    <a:pt x="38371" y="85438"/>
                  </a:lnTo>
                  <a:lnTo>
                    <a:pt x="38100" y="94821"/>
                  </a:lnTo>
                  <a:lnTo>
                    <a:pt x="38100" y="799671"/>
                  </a:lnTo>
                  <a:lnTo>
                    <a:pt x="44855" y="844617"/>
                  </a:lnTo>
                  <a:lnTo>
                    <a:pt x="63492" y="878883"/>
                  </a:lnTo>
                  <a:lnTo>
                    <a:pt x="80381" y="892504"/>
                  </a:lnTo>
                  <a:lnTo>
                    <a:pt x="86379" y="894492"/>
                  </a:lnTo>
                  <a:close/>
                </a:path>
              </a:pathLst>
            </a:custGeom>
            <a:solidFill>
              <a:srgbClr val="41A5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5943598" y="4152899"/>
              <a:ext cx="476250" cy="476250"/>
            </a:xfrm>
            <a:custGeom>
              <a:avLst/>
              <a:gdLst/>
              <a:ahLst/>
              <a:cxnLst/>
              <a:rect l="l" t="t" r="r" b="b"/>
              <a:pathLst>
                <a:path w="476250" h="476250">
                  <a:moveTo>
                    <a:pt x="387254" y="476249"/>
                  </a:moveTo>
                  <a:lnTo>
                    <a:pt x="88996" y="476249"/>
                  </a:lnTo>
                  <a:lnTo>
                    <a:pt x="82801" y="475639"/>
                  </a:lnTo>
                  <a:lnTo>
                    <a:pt x="37131" y="456722"/>
                  </a:lnTo>
                  <a:lnTo>
                    <a:pt x="9643" y="423227"/>
                  </a:lnTo>
                  <a:lnTo>
                    <a:pt x="0" y="387253"/>
                  </a:lnTo>
                  <a:lnTo>
                    <a:pt x="0" y="380999"/>
                  </a:lnTo>
                  <a:lnTo>
                    <a:pt x="0" y="88995"/>
                  </a:lnTo>
                  <a:lnTo>
                    <a:pt x="12577" y="47531"/>
                  </a:lnTo>
                  <a:lnTo>
                    <a:pt x="47531" y="12577"/>
                  </a:lnTo>
                  <a:lnTo>
                    <a:pt x="88996" y="0"/>
                  </a:lnTo>
                  <a:lnTo>
                    <a:pt x="387254" y="0"/>
                  </a:lnTo>
                  <a:lnTo>
                    <a:pt x="428718" y="12577"/>
                  </a:lnTo>
                  <a:lnTo>
                    <a:pt x="463671" y="47531"/>
                  </a:lnTo>
                  <a:lnTo>
                    <a:pt x="476250" y="88995"/>
                  </a:lnTo>
                  <a:lnTo>
                    <a:pt x="476250" y="387253"/>
                  </a:lnTo>
                  <a:lnTo>
                    <a:pt x="463671" y="428716"/>
                  </a:lnTo>
                  <a:lnTo>
                    <a:pt x="428718" y="463671"/>
                  </a:lnTo>
                  <a:lnTo>
                    <a:pt x="393448" y="475639"/>
                  </a:lnTo>
                  <a:lnTo>
                    <a:pt x="387254" y="476249"/>
                  </a:lnTo>
                  <a:close/>
                </a:path>
              </a:pathLst>
            </a:custGeom>
            <a:solidFill>
              <a:srgbClr val="E3F1F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11874" y="4303712"/>
              <a:ext cx="139700" cy="174625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6597650" y="4178300"/>
            <a:ext cx="1189990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95" b="1">
                <a:solidFill>
                  <a:srgbClr val="747474"/>
                </a:solidFill>
                <a:latin typeface="Trebuchet MS"/>
                <a:cs typeface="Trebuchet MS"/>
              </a:rPr>
              <a:t>DOCUMENTATION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597650" y="4373562"/>
            <a:ext cx="2447290" cy="23685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50" spc="-30">
                <a:solidFill>
                  <a:srgbClr val="202020"/>
                </a:solidFill>
                <a:latin typeface="Microsoft Sans Serif"/>
                <a:cs typeface="Microsoft Sans Serif"/>
              </a:rPr>
              <a:t>automaspec</a:t>
            </a:r>
            <a:r>
              <a:rPr dirty="0" sz="1350" spc="-30">
                <a:solidFill>
                  <a:srgbClr val="202020"/>
                </a:solidFill>
                <a:latin typeface="Tahoma"/>
                <a:cs typeface="Tahoma"/>
              </a:rPr>
              <a:t>.</a:t>
            </a:r>
            <a:r>
              <a:rPr dirty="0" sz="1350" spc="-30">
                <a:solidFill>
                  <a:srgbClr val="202020"/>
                </a:solidFill>
                <a:latin typeface="Microsoft Sans Serif"/>
                <a:cs typeface="Microsoft Sans Serif"/>
              </a:rPr>
              <a:t>vercel</a:t>
            </a:r>
            <a:r>
              <a:rPr dirty="0" sz="1350" spc="-30">
                <a:solidFill>
                  <a:srgbClr val="202020"/>
                </a:solidFill>
                <a:latin typeface="Tahoma"/>
                <a:cs typeface="Tahoma"/>
              </a:rPr>
              <a:t>.</a:t>
            </a:r>
            <a:r>
              <a:rPr dirty="0" sz="1350" spc="-30">
                <a:solidFill>
                  <a:srgbClr val="202020"/>
                </a:solidFill>
                <a:latin typeface="Microsoft Sans Serif"/>
                <a:cs typeface="Microsoft Sans Serif"/>
              </a:rPr>
              <a:t>app</a:t>
            </a:r>
            <a:r>
              <a:rPr dirty="0" sz="1350" spc="-30">
                <a:solidFill>
                  <a:srgbClr val="202020"/>
                </a:solidFill>
                <a:latin typeface="Tahoma"/>
                <a:cs typeface="Tahoma"/>
              </a:rPr>
              <a:t>/</a:t>
            </a:r>
            <a:r>
              <a:rPr dirty="0" sz="1350" spc="-30">
                <a:solidFill>
                  <a:srgbClr val="202020"/>
                </a:solidFill>
                <a:latin typeface="Microsoft Sans Serif"/>
                <a:cs typeface="Microsoft Sans Serif"/>
              </a:rPr>
              <a:t>rpc</a:t>
            </a:r>
            <a:r>
              <a:rPr dirty="0" sz="1350" spc="-30">
                <a:solidFill>
                  <a:srgbClr val="202020"/>
                </a:solidFill>
                <a:latin typeface="Tahoma"/>
                <a:cs typeface="Tahoma"/>
              </a:rPr>
              <a:t>/</a:t>
            </a:r>
            <a:r>
              <a:rPr dirty="0" sz="1350" spc="-30">
                <a:solidFill>
                  <a:srgbClr val="202020"/>
                </a:solidFill>
                <a:latin typeface="Microsoft Sans Serif"/>
                <a:cs typeface="Microsoft Sans Serif"/>
              </a:rPr>
              <a:t>docs</a:t>
            </a:r>
            <a:endParaRPr sz="1350">
              <a:latin typeface="Microsoft Sans Serif"/>
              <a:cs typeface="Microsoft Sans Serif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5638799" y="5219699"/>
            <a:ext cx="5791200" cy="1143000"/>
            <a:chOff x="5638799" y="5219699"/>
            <a:chExt cx="5791200" cy="1143000"/>
          </a:xfrm>
        </p:grpSpPr>
        <p:sp>
          <p:nvSpPr>
            <p:cNvPr id="24" name="object 24"/>
            <p:cNvSpPr/>
            <p:nvPr/>
          </p:nvSpPr>
          <p:spPr>
            <a:xfrm>
              <a:off x="5657849" y="5219699"/>
              <a:ext cx="5772150" cy="1143000"/>
            </a:xfrm>
            <a:custGeom>
              <a:avLst/>
              <a:gdLst/>
              <a:ahLst/>
              <a:cxnLst/>
              <a:rect l="l" t="t" r="r" b="b"/>
              <a:pathLst>
                <a:path w="5772150" h="1143000">
                  <a:moveTo>
                    <a:pt x="5683153" y="1142999"/>
                  </a:moveTo>
                  <a:lnTo>
                    <a:pt x="71196" y="1142999"/>
                  </a:lnTo>
                  <a:lnTo>
                    <a:pt x="66240" y="1142389"/>
                  </a:lnTo>
                  <a:lnTo>
                    <a:pt x="29704" y="1123471"/>
                  </a:lnTo>
                  <a:lnTo>
                    <a:pt x="7714" y="1089977"/>
                  </a:lnTo>
                  <a:lnTo>
                    <a:pt x="0" y="1054004"/>
                  </a:lnTo>
                  <a:lnTo>
                    <a:pt x="0" y="1047749"/>
                  </a:lnTo>
                  <a:lnTo>
                    <a:pt x="0" y="88995"/>
                  </a:lnTo>
                  <a:lnTo>
                    <a:pt x="10060" y="47531"/>
                  </a:lnTo>
                  <a:lnTo>
                    <a:pt x="38024" y="12577"/>
                  </a:lnTo>
                  <a:lnTo>
                    <a:pt x="71196" y="0"/>
                  </a:lnTo>
                  <a:lnTo>
                    <a:pt x="5683153" y="0"/>
                  </a:lnTo>
                  <a:lnTo>
                    <a:pt x="5724615" y="12577"/>
                  </a:lnTo>
                  <a:lnTo>
                    <a:pt x="5759570" y="47531"/>
                  </a:lnTo>
                  <a:lnTo>
                    <a:pt x="5772148" y="88995"/>
                  </a:lnTo>
                  <a:lnTo>
                    <a:pt x="5772148" y="1054004"/>
                  </a:lnTo>
                  <a:lnTo>
                    <a:pt x="5759570" y="1095466"/>
                  </a:lnTo>
                  <a:lnTo>
                    <a:pt x="5724615" y="1130420"/>
                  </a:lnTo>
                  <a:lnTo>
                    <a:pt x="5689346" y="1142389"/>
                  </a:lnTo>
                  <a:lnTo>
                    <a:pt x="5683153" y="1142999"/>
                  </a:lnTo>
                  <a:close/>
                </a:path>
              </a:pathLst>
            </a:custGeom>
            <a:solidFill>
              <a:srgbClr val="E3F1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5638799" y="5220128"/>
              <a:ext cx="86995" cy="1142365"/>
            </a:xfrm>
            <a:custGeom>
              <a:avLst/>
              <a:gdLst/>
              <a:ahLst/>
              <a:cxnLst/>
              <a:rect l="l" t="t" r="r" b="b"/>
              <a:pathLst>
                <a:path w="86995" h="1142364">
                  <a:moveTo>
                    <a:pt x="86380" y="1142142"/>
                  </a:moveTo>
                  <a:lnTo>
                    <a:pt x="42321" y="1126533"/>
                  </a:lnTo>
                  <a:lnTo>
                    <a:pt x="11259" y="1092266"/>
                  </a:lnTo>
                  <a:lnTo>
                    <a:pt x="0" y="1047321"/>
                  </a:lnTo>
                  <a:lnTo>
                    <a:pt x="0" y="94821"/>
                  </a:lnTo>
                  <a:lnTo>
                    <a:pt x="11259" y="49875"/>
                  </a:lnTo>
                  <a:lnTo>
                    <a:pt x="42321" y="15608"/>
                  </a:lnTo>
                  <a:lnTo>
                    <a:pt x="86379" y="0"/>
                  </a:lnTo>
                  <a:lnTo>
                    <a:pt x="80381" y="1988"/>
                  </a:lnTo>
                  <a:lnTo>
                    <a:pt x="73379" y="6821"/>
                  </a:lnTo>
                  <a:lnTo>
                    <a:pt x="47722" y="41893"/>
                  </a:lnTo>
                  <a:lnTo>
                    <a:pt x="38371" y="85438"/>
                  </a:lnTo>
                  <a:lnTo>
                    <a:pt x="38100" y="94821"/>
                  </a:lnTo>
                  <a:lnTo>
                    <a:pt x="38100" y="1047321"/>
                  </a:lnTo>
                  <a:lnTo>
                    <a:pt x="44855" y="1092266"/>
                  </a:lnTo>
                  <a:lnTo>
                    <a:pt x="63492" y="1126533"/>
                  </a:lnTo>
                  <a:lnTo>
                    <a:pt x="80381" y="1140153"/>
                  </a:lnTo>
                  <a:lnTo>
                    <a:pt x="86380" y="1142142"/>
                  </a:lnTo>
                  <a:close/>
                </a:path>
              </a:pathLst>
            </a:custGeom>
            <a:solidFill>
              <a:srgbClr val="4DB5A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57887" y="5457824"/>
              <a:ext cx="142875" cy="11430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954712" y="5803899"/>
              <a:ext cx="111124" cy="88899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954712" y="6042024"/>
              <a:ext cx="111124" cy="88899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6159499" y="5416550"/>
            <a:ext cx="2037080" cy="76962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50165">
              <a:lnSpc>
                <a:spcPct val="100000"/>
              </a:lnSpc>
              <a:spcBef>
                <a:spcPts val="125"/>
              </a:spcBef>
            </a:pPr>
            <a:r>
              <a:rPr dirty="0" sz="1100" spc="90" b="1">
                <a:solidFill>
                  <a:srgbClr val="1875D1"/>
                </a:solidFill>
                <a:latin typeface="Trebuchet MS"/>
                <a:cs typeface="Trebuchet MS"/>
              </a:rPr>
              <a:t>Questions?</a:t>
            </a:r>
            <a:r>
              <a:rPr dirty="0" sz="1100" spc="-90" b="1">
                <a:solidFill>
                  <a:srgbClr val="1875D1"/>
                </a:solidFill>
                <a:latin typeface="Trebuchet MS"/>
                <a:cs typeface="Trebuchet MS"/>
              </a:rPr>
              <a:t> </a:t>
            </a:r>
            <a:r>
              <a:rPr dirty="0" sz="1100" spc="100" b="1">
                <a:solidFill>
                  <a:srgbClr val="1875D1"/>
                </a:solidFill>
                <a:latin typeface="Trebuchet MS"/>
                <a:cs typeface="Trebuchet MS"/>
              </a:rPr>
              <a:t>Reach</a:t>
            </a:r>
            <a:r>
              <a:rPr dirty="0" sz="1100" spc="-90" b="1">
                <a:solidFill>
                  <a:srgbClr val="1875D1"/>
                </a:solidFill>
                <a:latin typeface="Trebuchet MS"/>
                <a:cs typeface="Trebuchet MS"/>
              </a:rPr>
              <a:t> </a:t>
            </a:r>
            <a:r>
              <a:rPr dirty="0" sz="1100" spc="65" b="1">
                <a:solidFill>
                  <a:srgbClr val="1875D1"/>
                </a:solidFill>
                <a:latin typeface="Trebuchet MS"/>
                <a:cs typeface="Trebuchet MS"/>
              </a:rPr>
              <a:t>out</a:t>
            </a:r>
            <a:r>
              <a:rPr dirty="0" sz="1100" spc="-90" b="1">
                <a:solidFill>
                  <a:srgbClr val="1875D1"/>
                </a:solidFill>
                <a:latin typeface="Trebuchet MS"/>
                <a:cs typeface="Trebuchet MS"/>
              </a:rPr>
              <a:t> </a:t>
            </a:r>
            <a:r>
              <a:rPr dirty="0" sz="1100" spc="50" b="1">
                <a:solidFill>
                  <a:srgbClr val="1875D1"/>
                </a:solidFill>
                <a:latin typeface="Trebuchet MS"/>
                <a:cs typeface="Trebuchet MS"/>
              </a:rPr>
              <a:t>to</a:t>
            </a:r>
            <a:r>
              <a:rPr dirty="0" sz="1100" spc="-90" b="1">
                <a:solidFill>
                  <a:srgbClr val="1875D1"/>
                </a:solidFill>
                <a:latin typeface="Trebuchet MS"/>
                <a:cs typeface="Trebuchet MS"/>
              </a:rPr>
              <a:t> </a:t>
            </a:r>
            <a:r>
              <a:rPr dirty="0" sz="1100" spc="100" b="1">
                <a:solidFill>
                  <a:srgbClr val="1875D1"/>
                </a:solidFill>
                <a:latin typeface="Trebuchet MS"/>
                <a:cs typeface="Trebuchet MS"/>
              </a:rPr>
              <a:t>us</a:t>
            </a:r>
            <a:endParaRPr sz="1100">
              <a:latin typeface="Trebuchet MS"/>
              <a:cs typeface="Trebuchet MS"/>
            </a:endParaRPr>
          </a:p>
          <a:p>
            <a:pPr marL="12700" marR="200025">
              <a:lnSpc>
                <a:spcPct val="135900"/>
              </a:lnSpc>
              <a:spcBef>
                <a:spcPts val="760"/>
              </a:spcBef>
            </a:pPr>
            <a:r>
              <a:rPr dirty="0" sz="1150" spc="-10">
                <a:solidFill>
                  <a:srgbClr val="414141"/>
                </a:solidFill>
                <a:latin typeface="Microsoft Sans Serif"/>
                <a:cs typeface="Microsoft Sans Serif"/>
                <a:hlinkClick r:id="rId7"/>
              </a:rPr>
              <a:t>roman</a:t>
            </a:r>
            <a:r>
              <a:rPr dirty="0" sz="1100" spc="-10">
                <a:solidFill>
                  <a:srgbClr val="414141"/>
                </a:solidFill>
                <a:latin typeface="Microsoft Sans Serif"/>
                <a:cs typeface="Microsoft Sans Serif"/>
                <a:hlinkClick r:id="rId7"/>
              </a:rPr>
              <a:t>@</a:t>
            </a:r>
            <a:r>
              <a:rPr dirty="0" sz="1150" spc="-10">
                <a:solidFill>
                  <a:srgbClr val="414141"/>
                </a:solidFill>
                <a:latin typeface="Microsoft Sans Serif"/>
                <a:cs typeface="Microsoft Sans Serif"/>
                <a:hlinkClick r:id="rId7"/>
              </a:rPr>
              <a:t>automaspec</a:t>
            </a:r>
            <a:r>
              <a:rPr dirty="0" sz="1100" spc="-10">
                <a:solidFill>
                  <a:srgbClr val="414141"/>
                </a:solidFill>
                <a:latin typeface="Microsoft Sans Serif"/>
                <a:cs typeface="Microsoft Sans Serif"/>
                <a:hlinkClick r:id="rId7"/>
              </a:rPr>
              <a:t>.</a:t>
            </a:r>
            <a:r>
              <a:rPr dirty="0" sz="1150" spc="-10">
                <a:solidFill>
                  <a:srgbClr val="414141"/>
                </a:solidFill>
                <a:latin typeface="Microsoft Sans Serif"/>
                <a:cs typeface="Microsoft Sans Serif"/>
                <a:hlinkClick r:id="rId7"/>
              </a:rPr>
              <a:t>dev</a:t>
            </a:r>
            <a:r>
              <a:rPr dirty="0" sz="1150" spc="-10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30">
                <a:solidFill>
                  <a:srgbClr val="414141"/>
                </a:solidFill>
                <a:latin typeface="Microsoft Sans Serif"/>
                <a:cs typeface="Microsoft Sans Serif"/>
                <a:hlinkClick r:id="rId8"/>
              </a:rPr>
              <a:t>aliaksandr</a:t>
            </a:r>
            <a:r>
              <a:rPr dirty="0" sz="1100" spc="-30">
                <a:solidFill>
                  <a:srgbClr val="414141"/>
                </a:solidFill>
                <a:latin typeface="Microsoft Sans Serif"/>
                <a:cs typeface="Microsoft Sans Serif"/>
                <a:hlinkClick r:id="rId8"/>
              </a:rPr>
              <a:t>@</a:t>
            </a:r>
            <a:r>
              <a:rPr dirty="0" sz="1150" spc="-30">
                <a:solidFill>
                  <a:srgbClr val="414141"/>
                </a:solidFill>
                <a:latin typeface="Microsoft Sans Serif"/>
                <a:cs typeface="Microsoft Sans Serif"/>
                <a:hlinkClick r:id="rId8"/>
              </a:rPr>
              <a:t>automaspec</a:t>
            </a:r>
            <a:r>
              <a:rPr dirty="0" sz="1100" spc="-30">
                <a:solidFill>
                  <a:srgbClr val="414141"/>
                </a:solidFill>
                <a:latin typeface="Microsoft Sans Serif"/>
                <a:cs typeface="Microsoft Sans Serif"/>
                <a:hlinkClick r:id="rId8"/>
              </a:rPr>
              <a:t>.</a:t>
            </a:r>
            <a:r>
              <a:rPr dirty="0" sz="1150" spc="-30">
                <a:solidFill>
                  <a:srgbClr val="414141"/>
                </a:solidFill>
                <a:latin typeface="Microsoft Sans Serif"/>
                <a:cs typeface="Microsoft Sans Serif"/>
                <a:hlinkClick r:id="rId8"/>
              </a:rPr>
              <a:t>dev</a:t>
            </a:r>
            <a:endParaRPr sz="1150">
              <a:latin typeface="Microsoft Sans Serif"/>
              <a:cs typeface="Microsoft Sans Serif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313138" y="2425699"/>
            <a:ext cx="3553460" cy="1854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0" spc="645" b="1">
                <a:solidFill>
                  <a:srgbClr val="FFFFFF"/>
                </a:solidFill>
                <a:latin typeface="Trebuchet MS"/>
                <a:cs typeface="Trebuchet MS"/>
              </a:rPr>
              <a:t>Q&amp;</a:t>
            </a:r>
            <a:r>
              <a:rPr dirty="0" sz="12000" spc="-6525" b="1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endParaRPr sz="12000">
              <a:latin typeface="Trebuchet MS"/>
              <a:cs typeface="Trebuchet MS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65047" y="2785872"/>
            <a:ext cx="3343910" cy="807720"/>
          </a:xfrm>
          <a:prstGeom prst="rect">
            <a:avLst/>
          </a:prstGeom>
          <a:solidFill>
            <a:srgbClr val="000000">
              <a:alpha val="19999"/>
            </a:srgbClr>
          </a:solidFill>
        </p:spPr>
        <p:txBody>
          <a:bodyPr wrap="square" lIns="0" tIns="14605" rIns="0" bIns="0" rtlCol="0" vert="horz">
            <a:spAutoFit/>
          </a:bodyPr>
          <a:lstStyle/>
          <a:p>
            <a:pPr marL="140970">
              <a:lnSpc>
                <a:spcPct val="100000"/>
              </a:lnSpc>
              <a:spcBef>
                <a:spcPts val="115"/>
              </a:spcBef>
            </a:pPr>
            <a:r>
              <a:rPr dirty="0" sz="4200" spc="280" b="1">
                <a:solidFill>
                  <a:srgbClr val="FFFFFF"/>
                </a:solidFill>
                <a:latin typeface="Trebuchet MS"/>
                <a:cs typeface="Trebuchet MS"/>
              </a:rPr>
              <a:t>Questions?</a:t>
            </a:r>
            <a:endParaRPr sz="4200">
              <a:latin typeface="Trebuchet MS"/>
              <a:cs typeface="Trebuchet MS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309340" y="3683105"/>
            <a:ext cx="2258060" cy="5778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1275" marR="5080" indent="-29209">
              <a:lnSpc>
                <a:spcPct val="120800"/>
              </a:lnSpc>
              <a:spcBef>
                <a:spcPts val="100"/>
              </a:spcBef>
            </a:pPr>
            <a:r>
              <a:rPr dirty="0" sz="1500" spc="-25">
                <a:solidFill>
                  <a:srgbClr val="FFFFFF"/>
                </a:solidFill>
                <a:latin typeface="Microsoft Sans Serif"/>
                <a:cs typeface="Microsoft Sans Serif"/>
              </a:rPr>
              <a:t>We</a:t>
            </a:r>
            <a:r>
              <a:rPr dirty="0" sz="1450" spc="-25">
                <a:solidFill>
                  <a:srgbClr val="FFFFFF"/>
                </a:solidFill>
                <a:latin typeface="Microsoft Sans Serif"/>
                <a:cs typeface="Microsoft Sans Serif"/>
              </a:rPr>
              <a:t>'</a:t>
            </a:r>
            <a:r>
              <a:rPr dirty="0" sz="1500" spc="-25">
                <a:solidFill>
                  <a:srgbClr val="FFFFFF"/>
                </a:solidFill>
                <a:latin typeface="Microsoft Sans Serif"/>
                <a:cs typeface="Microsoft Sans Serif"/>
              </a:rPr>
              <a:t>d</a:t>
            </a:r>
            <a:r>
              <a:rPr dirty="0" sz="1500" spc="-6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25">
                <a:solidFill>
                  <a:srgbClr val="FFFFFF"/>
                </a:solidFill>
                <a:latin typeface="Microsoft Sans Serif"/>
                <a:cs typeface="Microsoft Sans Serif"/>
              </a:rPr>
              <a:t>love</a:t>
            </a:r>
            <a:r>
              <a:rPr dirty="0" sz="1500" spc="-6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FFFFFF"/>
                </a:solidFill>
                <a:latin typeface="Microsoft Sans Serif"/>
                <a:cs typeface="Microsoft Sans Serif"/>
              </a:rPr>
              <a:t>to</a:t>
            </a:r>
            <a:r>
              <a:rPr dirty="0" sz="1500" spc="-6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30">
                <a:solidFill>
                  <a:srgbClr val="FFFFFF"/>
                </a:solidFill>
                <a:latin typeface="Microsoft Sans Serif"/>
                <a:cs typeface="Microsoft Sans Serif"/>
              </a:rPr>
              <a:t>hear</a:t>
            </a:r>
            <a:r>
              <a:rPr dirty="0" sz="1500" spc="-6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FFFFFF"/>
                </a:solidFill>
                <a:latin typeface="Microsoft Sans Serif"/>
                <a:cs typeface="Microsoft Sans Serif"/>
              </a:rPr>
              <a:t>from</a:t>
            </a:r>
            <a:r>
              <a:rPr dirty="0" sz="1500" spc="-6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20">
                <a:solidFill>
                  <a:srgbClr val="FFFFFF"/>
                </a:solidFill>
                <a:latin typeface="Microsoft Sans Serif"/>
                <a:cs typeface="Microsoft Sans Serif"/>
              </a:rPr>
              <a:t>you</a:t>
            </a:r>
            <a:r>
              <a:rPr dirty="0" sz="1450" spc="-20">
                <a:solidFill>
                  <a:srgbClr val="FFFFFF"/>
                </a:solidFill>
                <a:latin typeface="Microsoft Sans Serif"/>
                <a:cs typeface="Microsoft Sans Serif"/>
              </a:rPr>
              <a:t>! </a:t>
            </a:r>
            <a:r>
              <a:rPr dirty="0" sz="1500">
                <a:solidFill>
                  <a:srgbClr val="FFFFFF"/>
                </a:solidFill>
                <a:latin typeface="Microsoft Sans Serif"/>
                <a:cs typeface="Microsoft Sans Serif"/>
              </a:rPr>
              <a:t>Let</a:t>
            </a:r>
            <a:r>
              <a:rPr dirty="0" sz="1450">
                <a:solidFill>
                  <a:srgbClr val="FFFFFF"/>
                </a:solidFill>
                <a:latin typeface="Microsoft Sans Serif"/>
                <a:cs typeface="Microsoft Sans Serif"/>
              </a:rPr>
              <a:t>'</a:t>
            </a:r>
            <a:r>
              <a:rPr dirty="0" sz="1500">
                <a:solidFill>
                  <a:srgbClr val="FFFFFF"/>
                </a:solidFill>
                <a:latin typeface="Microsoft Sans Serif"/>
                <a:cs typeface="Microsoft Sans Serif"/>
              </a:rPr>
              <a:t>s</a:t>
            </a:r>
            <a:r>
              <a:rPr dirty="0" sz="1500" spc="-5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20">
                <a:solidFill>
                  <a:srgbClr val="FFFFFF"/>
                </a:solidFill>
                <a:latin typeface="Microsoft Sans Serif"/>
                <a:cs typeface="Microsoft Sans Serif"/>
              </a:rPr>
              <a:t>discuss</a:t>
            </a:r>
            <a:r>
              <a:rPr dirty="0" sz="1500" spc="-4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20">
                <a:solidFill>
                  <a:srgbClr val="FFFFFF"/>
                </a:solidFill>
                <a:latin typeface="Microsoft Sans Serif"/>
                <a:cs typeface="Microsoft Sans Serif"/>
              </a:rPr>
              <a:t>Automaspec</a:t>
            </a:r>
            <a:r>
              <a:rPr dirty="0" sz="1450" spc="-20">
                <a:solidFill>
                  <a:srgbClr val="FFFFFF"/>
                </a:solidFill>
                <a:latin typeface="Microsoft Sans Serif"/>
                <a:cs typeface="Microsoft Sans Serif"/>
              </a:rPr>
              <a:t>.</a:t>
            </a:r>
            <a:endParaRPr sz="1450">
              <a:latin typeface="Microsoft Sans Serif"/>
              <a:cs typeface="Microsoft Sans Serif"/>
            </a:endParaRPr>
          </a:p>
        </p:txBody>
      </p:sp>
      <p:pic>
        <p:nvPicPr>
          <p:cNvPr id="33" name="object 3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0706099" y="6429374"/>
            <a:ext cx="114300" cy="114300"/>
          </a:xfrm>
          <a:prstGeom prst="rect">
            <a:avLst/>
          </a:prstGeom>
        </p:spPr>
      </p:pic>
      <p:sp>
        <p:nvSpPr>
          <p:cNvPr id="34" name="object 34"/>
          <p:cNvSpPr txBox="1"/>
          <p:nvPr/>
        </p:nvSpPr>
        <p:spPr>
          <a:xfrm>
            <a:off x="10901014" y="6397624"/>
            <a:ext cx="91313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114" b="1">
                <a:solidFill>
                  <a:srgbClr val="747474"/>
                </a:solidFill>
                <a:latin typeface="Trebuchet MS"/>
                <a:cs typeface="Trebuchet MS"/>
              </a:rPr>
              <a:t>AUTOMASPEC</a:t>
            </a:r>
            <a:endParaRPr sz="9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1414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2026-01-31T20:28:35Z</dcterms:created>
  <dcterms:modified xsi:type="dcterms:W3CDTF">2026-01-31T20:28:35Z</dcterms:modified>
</cp:coreProperties>
</file>